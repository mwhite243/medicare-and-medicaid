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handoutMasterIdLst>
    <p:handoutMasterId r:id="rId60"/>
  </p:handoutMasterIdLst>
  <p:sldIdLst>
    <p:sldId id="256" r:id="rId5"/>
    <p:sldId id="320" r:id="rId6"/>
    <p:sldId id="336" r:id="rId7"/>
    <p:sldId id="380" r:id="rId8"/>
    <p:sldId id="360" r:id="rId9"/>
    <p:sldId id="381" r:id="rId10"/>
    <p:sldId id="383" r:id="rId11"/>
    <p:sldId id="382" r:id="rId12"/>
    <p:sldId id="384" r:id="rId13"/>
    <p:sldId id="361" r:id="rId14"/>
    <p:sldId id="385" r:id="rId15"/>
    <p:sldId id="379" r:id="rId16"/>
    <p:sldId id="364" r:id="rId17"/>
    <p:sldId id="386" r:id="rId18"/>
    <p:sldId id="366" r:id="rId19"/>
    <p:sldId id="388" r:id="rId20"/>
    <p:sldId id="390" r:id="rId21"/>
    <p:sldId id="391" r:id="rId22"/>
    <p:sldId id="393" r:id="rId23"/>
    <p:sldId id="394" r:id="rId24"/>
    <p:sldId id="387" r:id="rId25"/>
    <p:sldId id="395" r:id="rId26"/>
    <p:sldId id="396" r:id="rId27"/>
    <p:sldId id="397" r:id="rId28"/>
    <p:sldId id="401" r:id="rId29"/>
    <p:sldId id="452" r:id="rId30"/>
    <p:sldId id="402" r:id="rId31"/>
    <p:sldId id="403" r:id="rId32"/>
    <p:sldId id="404" r:id="rId33"/>
    <p:sldId id="405" r:id="rId34"/>
    <p:sldId id="406" r:id="rId35"/>
    <p:sldId id="408" r:id="rId36"/>
    <p:sldId id="417" r:id="rId37"/>
    <p:sldId id="412" r:id="rId38"/>
    <p:sldId id="413" r:id="rId39"/>
    <p:sldId id="416" r:id="rId40"/>
    <p:sldId id="414" r:id="rId41"/>
    <p:sldId id="418" r:id="rId42"/>
    <p:sldId id="424" r:id="rId43"/>
    <p:sldId id="425" r:id="rId44"/>
    <p:sldId id="419" r:id="rId45"/>
    <p:sldId id="420" r:id="rId46"/>
    <p:sldId id="422" r:id="rId47"/>
    <p:sldId id="421" r:id="rId48"/>
    <p:sldId id="431" r:id="rId49"/>
    <p:sldId id="455" r:id="rId50"/>
    <p:sldId id="432" r:id="rId51"/>
    <p:sldId id="430" r:id="rId52"/>
    <p:sldId id="436" r:id="rId53"/>
    <p:sldId id="439" r:id="rId54"/>
    <p:sldId id="453" r:id="rId55"/>
    <p:sldId id="444" r:id="rId56"/>
    <p:sldId id="435" r:id="rId57"/>
    <p:sldId id="288" r:id="rId58"/>
  </p:sldIdLst>
  <p:sldSz cx="12192000" cy="6858000"/>
  <p:notesSz cx="68580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1C38"/>
    <a:srgbClr val="001D58"/>
    <a:srgbClr val="FED658"/>
    <a:srgbClr val="B0D67E"/>
    <a:srgbClr val="F47F2E"/>
    <a:srgbClr val="00BAF1"/>
    <a:srgbClr val="FECD1F"/>
    <a:srgbClr val="00A7E8"/>
    <a:srgbClr val="0012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3ED214-AC4C-46B4-A4AD-00C7E7643970}" v="8" dt="2024-12-17T19:18:31.4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170" autoAdjust="0"/>
  </p:normalViewPr>
  <p:slideViewPr>
    <p:cSldViewPr snapToGrid="0">
      <p:cViewPr varScale="1">
        <p:scale>
          <a:sx n="94" d="100"/>
          <a:sy n="94" d="100"/>
        </p:scale>
        <p:origin x="111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ura, John" userId="688ea523-5481-46a7-872c-679bc0bfd978" providerId="ADAL" clId="{D1C45AA2-501B-4841-A144-27F7CC65DA64}"/>
    <pc:docChg chg="undo custSel modSld modMainMaster">
      <pc:chgData name="Madura, John" userId="688ea523-5481-46a7-872c-679bc0bfd978" providerId="ADAL" clId="{D1C45AA2-501B-4841-A144-27F7CC65DA64}" dt="2024-06-12T21:25:39.122" v="161" actId="20577"/>
      <pc:docMkLst>
        <pc:docMk/>
      </pc:docMkLst>
      <pc:sldChg chg="modSp mod">
        <pc:chgData name="Madura, John" userId="688ea523-5481-46a7-872c-679bc0bfd978" providerId="ADAL" clId="{D1C45AA2-501B-4841-A144-27F7CC65DA64}" dt="2024-06-12T21:22:18.173" v="160" actId="207"/>
        <pc:sldMkLst>
          <pc:docMk/>
          <pc:sldMk cId="1298145104" sldId="256"/>
        </pc:sldMkLst>
      </pc:sldChg>
      <pc:sldChg chg="delSp modNotesTx">
        <pc:chgData name="Madura, John" userId="688ea523-5481-46a7-872c-679bc0bfd978" providerId="ADAL" clId="{D1C45AA2-501B-4841-A144-27F7CC65DA64}" dt="2024-06-12T21:25:39.122" v="161" actId="20577"/>
        <pc:sldMkLst>
          <pc:docMk/>
          <pc:sldMk cId="4244861222" sldId="288"/>
        </pc:sldMkLst>
      </pc:sldChg>
      <pc:sldChg chg="delSp">
        <pc:chgData name="Madura, John" userId="688ea523-5481-46a7-872c-679bc0bfd978" providerId="ADAL" clId="{D1C45AA2-501B-4841-A144-27F7CC65DA64}" dt="2024-06-12T21:21:41.460" v="157" actId="478"/>
        <pc:sldMkLst>
          <pc:docMk/>
          <pc:sldMk cId="2898040167" sldId="320"/>
        </pc:sldMkLst>
      </pc:sldChg>
      <pc:sldChg chg="delSp">
        <pc:chgData name="Madura, John" userId="688ea523-5481-46a7-872c-679bc0bfd978" providerId="ADAL" clId="{D1C45AA2-501B-4841-A144-27F7CC65DA64}" dt="2024-06-12T21:21:39.324" v="156" actId="478"/>
        <pc:sldMkLst>
          <pc:docMk/>
          <pc:sldMk cId="1548743379" sldId="336"/>
        </pc:sldMkLst>
      </pc:sldChg>
      <pc:sldChg chg="delSp modSp mod">
        <pc:chgData name="Madura, John" userId="688ea523-5481-46a7-872c-679bc0bfd978" providerId="ADAL" clId="{D1C45AA2-501B-4841-A144-27F7CC65DA64}" dt="2024-06-12T21:21:32.228" v="154" actId="478"/>
        <pc:sldMkLst>
          <pc:docMk/>
          <pc:sldMk cId="3758529743" sldId="360"/>
        </pc:sldMkLst>
      </pc:sldChg>
      <pc:sldChg chg="delSp">
        <pc:chgData name="Madura, John" userId="688ea523-5481-46a7-872c-679bc0bfd978" providerId="ADAL" clId="{D1C45AA2-501B-4841-A144-27F7CC65DA64}" dt="2024-06-12T21:21:16.833" v="149" actId="478"/>
        <pc:sldMkLst>
          <pc:docMk/>
          <pc:sldMk cId="3338544485" sldId="361"/>
        </pc:sldMkLst>
      </pc:sldChg>
      <pc:sldChg chg="delSp">
        <pc:chgData name="Madura, John" userId="688ea523-5481-46a7-872c-679bc0bfd978" providerId="ADAL" clId="{D1C45AA2-501B-4841-A144-27F7CC65DA64}" dt="2024-06-12T21:21:06.396" v="146" actId="478"/>
        <pc:sldMkLst>
          <pc:docMk/>
          <pc:sldMk cId="3886645233" sldId="364"/>
        </pc:sldMkLst>
      </pc:sldChg>
      <pc:sldChg chg="delSp">
        <pc:chgData name="Madura, John" userId="688ea523-5481-46a7-872c-679bc0bfd978" providerId="ADAL" clId="{D1C45AA2-501B-4841-A144-27F7CC65DA64}" dt="2024-06-12T21:20:47.944" v="144" actId="478"/>
        <pc:sldMkLst>
          <pc:docMk/>
          <pc:sldMk cId="2004126355" sldId="366"/>
        </pc:sldMkLst>
      </pc:sldChg>
      <pc:sldChg chg="delSp">
        <pc:chgData name="Madura, John" userId="688ea523-5481-46a7-872c-679bc0bfd978" providerId="ADAL" clId="{D1C45AA2-501B-4841-A144-27F7CC65DA64}" dt="2024-06-12T21:21:09.050" v="147" actId="478"/>
        <pc:sldMkLst>
          <pc:docMk/>
          <pc:sldMk cId="1228754750" sldId="379"/>
        </pc:sldMkLst>
      </pc:sldChg>
      <pc:sldChg chg="delSp">
        <pc:chgData name="Madura, John" userId="688ea523-5481-46a7-872c-679bc0bfd978" providerId="ADAL" clId="{D1C45AA2-501B-4841-A144-27F7CC65DA64}" dt="2024-06-12T21:21:34.925" v="155" actId="478"/>
        <pc:sldMkLst>
          <pc:docMk/>
          <pc:sldMk cId="879967605" sldId="380"/>
        </pc:sldMkLst>
      </pc:sldChg>
      <pc:sldChg chg="delSp">
        <pc:chgData name="Madura, John" userId="688ea523-5481-46a7-872c-679bc0bfd978" providerId="ADAL" clId="{D1C45AA2-501B-4841-A144-27F7CC65DA64}" dt="2024-06-12T21:21:29.850" v="153" actId="478"/>
        <pc:sldMkLst>
          <pc:docMk/>
          <pc:sldMk cId="2434350489" sldId="381"/>
        </pc:sldMkLst>
      </pc:sldChg>
      <pc:sldChg chg="delSp">
        <pc:chgData name="Madura, John" userId="688ea523-5481-46a7-872c-679bc0bfd978" providerId="ADAL" clId="{D1C45AA2-501B-4841-A144-27F7CC65DA64}" dt="2024-06-12T21:21:21.564" v="151" actId="478"/>
        <pc:sldMkLst>
          <pc:docMk/>
          <pc:sldMk cId="2333958666" sldId="382"/>
        </pc:sldMkLst>
      </pc:sldChg>
      <pc:sldChg chg="delSp">
        <pc:chgData name="Madura, John" userId="688ea523-5481-46a7-872c-679bc0bfd978" providerId="ADAL" clId="{D1C45AA2-501B-4841-A144-27F7CC65DA64}" dt="2024-06-12T21:21:26.993" v="152" actId="478"/>
        <pc:sldMkLst>
          <pc:docMk/>
          <pc:sldMk cId="3889088420" sldId="383"/>
        </pc:sldMkLst>
      </pc:sldChg>
      <pc:sldChg chg="delSp">
        <pc:chgData name="Madura, John" userId="688ea523-5481-46a7-872c-679bc0bfd978" providerId="ADAL" clId="{D1C45AA2-501B-4841-A144-27F7CC65DA64}" dt="2024-06-12T21:21:19.113" v="150" actId="478"/>
        <pc:sldMkLst>
          <pc:docMk/>
          <pc:sldMk cId="976919181" sldId="384"/>
        </pc:sldMkLst>
      </pc:sldChg>
      <pc:sldChg chg="delSp">
        <pc:chgData name="Madura, John" userId="688ea523-5481-46a7-872c-679bc0bfd978" providerId="ADAL" clId="{D1C45AA2-501B-4841-A144-27F7CC65DA64}" dt="2024-06-12T21:21:12.053" v="148" actId="478"/>
        <pc:sldMkLst>
          <pc:docMk/>
          <pc:sldMk cId="3173177398" sldId="385"/>
        </pc:sldMkLst>
      </pc:sldChg>
      <pc:sldChg chg="delSp">
        <pc:chgData name="Madura, John" userId="688ea523-5481-46a7-872c-679bc0bfd978" providerId="ADAL" clId="{D1C45AA2-501B-4841-A144-27F7CC65DA64}" dt="2024-06-12T21:20:51.132" v="145" actId="478"/>
        <pc:sldMkLst>
          <pc:docMk/>
          <pc:sldMk cId="3444111811" sldId="386"/>
        </pc:sldMkLst>
      </pc:sldChg>
      <pc:sldChg chg="delSp">
        <pc:chgData name="Madura, John" userId="688ea523-5481-46a7-872c-679bc0bfd978" providerId="ADAL" clId="{D1C45AA2-501B-4841-A144-27F7CC65DA64}" dt="2024-06-12T21:20:28.018" v="138" actId="478"/>
        <pc:sldMkLst>
          <pc:docMk/>
          <pc:sldMk cId="1948811618" sldId="387"/>
        </pc:sldMkLst>
      </pc:sldChg>
      <pc:sldChg chg="delSp">
        <pc:chgData name="Madura, John" userId="688ea523-5481-46a7-872c-679bc0bfd978" providerId="ADAL" clId="{D1C45AA2-501B-4841-A144-27F7CC65DA64}" dt="2024-06-12T21:20:44.839" v="143" actId="478"/>
        <pc:sldMkLst>
          <pc:docMk/>
          <pc:sldMk cId="3076272149" sldId="388"/>
        </pc:sldMkLst>
      </pc:sldChg>
      <pc:sldChg chg="delSp">
        <pc:chgData name="Madura, John" userId="688ea523-5481-46a7-872c-679bc0bfd978" providerId="ADAL" clId="{D1C45AA2-501B-4841-A144-27F7CC65DA64}" dt="2024-06-12T21:20:42.220" v="142" actId="478"/>
        <pc:sldMkLst>
          <pc:docMk/>
          <pc:sldMk cId="2897501377" sldId="390"/>
        </pc:sldMkLst>
      </pc:sldChg>
      <pc:sldChg chg="delSp">
        <pc:chgData name="Madura, John" userId="688ea523-5481-46a7-872c-679bc0bfd978" providerId="ADAL" clId="{D1C45AA2-501B-4841-A144-27F7CC65DA64}" dt="2024-06-12T21:20:36.827" v="141" actId="478"/>
        <pc:sldMkLst>
          <pc:docMk/>
          <pc:sldMk cId="3143357015" sldId="391"/>
        </pc:sldMkLst>
      </pc:sldChg>
      <pc:sldChg chg="delSp">
        <pc:chgData name="Madura, John" userId="688ea523-5481-46a7-872c-679bc0bfd978" providerId="ADAL" clId="{D1C45AA2-501B-4841-A144-27F7CC65DA64}" dt="2024-06-12T21:20:33.353" v="140" actId="478"/>
        <pc:sldMkLst>
          <pc:docMk/>
          <pc:sldMk cId="193406009" sldId="393"/>
        </pc:sldMkLst>
      </pc:sldChg>
      <pc:sldChg chg="delSp">
        <pc:chgData name="Madura, John" userId="688ea523-5481-46a7-872c-679bc0bfd978" providerId="ADAL" clId="{D1C45AA2-501B-4841-A144-27F7CC65DA64}" dt="2024-06-12T21:20:30.726" v="139" actId="478"/>
        <pc:sldMkLst>
          <pc:docMk/>
          <pc:sldMk cId="3833620099" sldId="394"/>
        </pc:sldMkLst>
      </pc:sldChg>
      <pc:sldChg chg="delSp">
        <pc:chgData name="Madura, John" userId="688ea523-5481-46a7-872c-679bc0bfd978" providerId="ADAL" clId="{D1C45AA2-501B-4841-A144-27F7CC65DA64}" dt="2024-06-12T21:20:23.336" v="137" actId="478"/>
        <pc:sldMkLst>
          <pc:docMk/>
          <pc:sldMk cId="3280928836" sldId="395"/>
        </pc:sldMkLst>
      </pc:sldChg>
      <pc:sldChg chg="delSp">
        <pc:chgData name="Madura, John" userId="688ea523-5481-46a7-872c-679bc0bfd978" providerId="ADAL" clId="{D1C45AA2-501B-4841-A144-27F7CC65DA64}" dt="2024-06-12T21:20:21.268" v="136" actId="478"/>
        <pc:sldMkLst>
          <pc:docMk/>
          <pc:sldMk cId="4125641310" sldId="396"/>
        </pc:sldMkLst>
      </pc:sldChg>
      <pc:sldChg chg="delSp">
        <pc:chgData name="Madura, John" userId="688ea523-5481-46a7-872c-679bc0bfd978" providerId="ADAL" clId="{D1C45AA2-501B-4841-A144-27F7CC65DA64}" dt="2024-06-12T21:20:18.897" v="135" actId="478"/>
        <pc:sldMkLst>
          <pc:docMk/>
          <pc:sldMk cId="3855019703" sldId="397"/>
        </pc:sldMkLst>
      </pc:sldChg>
      <pc:sldChg chg="delSp">
        <pc:chgData name="Madura, John" userId="688ea523-5481-46a7-872c-679bc0bfd978" providerId="ADAL" clId="{D1C45AA2-501B-4841-A144-27F7CC65DA64}" dt="2024-06-12T21:20:15.724" v="134" actId="478"/>
        <pc:sldMkLst>
          <pc:docMk/>
          <pc:sldMk cId="1633386390" sldId="401"/>
        </pc:sldMkLst>
      </pc:sldChg>
      <pc:sldChg chg="delSp">
        <pc:chgData name="Madura, John" userId="688ea523-5481-46a7-872c-679bc0bfd978" providerId="ADAL" clId="{D1C45AA2-501B-4841-A144-27F7CC65DA64}" dt="2024-06-12T21:20:06.506" v="132" actId="478"/>
        <pc:sldMkLst>
          <pc:docMk/>
          <pc:sldMk cId="62073610" sldId="402"/>
        </pc:sldMkLst>
      </pc:sldChg>
      <pc:sldChg chg="delSp">
        <pc:chgData name="Madura, John" userId="688ea523-5481-46a7-872c-679bc0bfd978" providerId="ADAL" clId="{D1C45AA2-501B-4841-A144-27F7CC65DA64}" dt="2024-06-12T21:20:03.955" v="131" actId="478"/>
        <pc:sldMkLst>
          <pc:docMk/>
          <pc:sldMk cId="2757566893" sldId="403"/>
        </pc:sldMkLst>
      </pc:sldChg>
      <pc:sldChg chg="delSp">
        <pc:chgData name="Madura, John" userId="688ea523-5481-46a7-872c-679bc0bfd978" providerId="ADAL" clId="{D1C45AA2-501B-4841-A144-27F7CC65DA64}" dt="2024-06-12T21:20:00.098" v="130" actId="478"/>
        <pc:sldMkLst>
          <pc:docMk/>
          <pc:sldMk cId="4254437174" sldId="404"/>
        </pc:sldMkLst>
      </pc:sldChg>
      <pc:sldChg chg="delSp">
        <pc:chgData name="Madura, John" userId="688ea523-5481-46a7-872c-679bc0bfd978" providerId="ADAL" clId="{D1C45AA2-501B-4841-A144-27F7CC65DA64}" dt="2024-06-12T21:19:55.325" v="129" actId="478"/>
        <pc:sldMkLst>
          <pc:docMk/>
          <pc:sldMk cId="358795289" sldId="405"/>
        </pc:sldMkLst>
      </pc:sldChg>
      <pc:sldChg chg="delSp">
        <pc:chgData name="Madura, John" userId="688ea523-5481-46a7-872c-679bc0bfd978" providerId="ADAL" clId="{D1C45AA2-501B-4841-A144-27F7CC65DA64}" dt="2024-06-12T21:19:52.500" v="128" actId="478"/>
        <pc:sldMkLst>
          <pc:docMk/>
          <pc:sldMk cId="3742073859" sldId="406"/>
        </pc:sldMkLst>
      </pc:sldChg>
      <pc:sldChg chg="delSp">
        <pc:chgData name="Madura, John" userId="688ea523-5481-46a7-872c-679bc0bfd978" providerId="ADAL" clId="{D1C45AA2-501B-4841-A144-27F7CC65DA64}" dt="2024-06-12T21:19:49.587" v="127" actId="478"/>
        <pc:sldMkLst>
          <pc:docMk/>
          <pc:sldMk cId="2595843729" sldId="408"/>
        </pc:sldMkLst>
      </pc:sldChg>
      <pc:sldChg chg="delSp">
        <pc:chgData name="Madura, John" userId="688ea523-5481-46a7-872c-679bc0bfd978" providerId="ADAL" clId="{D1C45AA2-501B-4841-A144-27F7CC65DA64}" dt="2024-06-12T21:19:44.267" v="125" actId="478"/>
        <pc:sldMkLst>
          <pc:docMk/>
          <pc:sldMk cId="1505161076" sldId="412"/>
        </pc:sldMkLst>
      </pc:sldChg>
      <pc:sldChg chg="delSp">
        <pc:chgData name="Madura, John" userId="688ea523-5481-46a7-872c-679bc0bfd978" providerId="ADAL" clId="{D1C45AA2-501B-4841-A144-27F7CC65DA64}" dt="2024-06-12T21:19:41.614" v="124" actId="478"/>
        <pc:sldMkLst>
          <pc:docMk/>
          <pc:sldMk cId="2533237783" sldId="413"/>
        </pc:sldMkLst>
      </pc:sldChg>
      <pc:sldChg chg="delSp">
        <pc:chgData name="Madura, John" userId="688ea523-5481-46a7-872c-679bc0bfd978" providerId="ADAL" clId="{D1C45AA2-501B-4841-A144-27F7CC65DA64}" dt="2024-06-12T21:19:33.710" v="122" actId="478"/>
        <pc:sldMkLst>
          <pc:docMk/>
          <pc:sldMk cId="310040622" sldId="414"/>
        </pc:sldMkLst>
      </pc:sldChg>
      <pc:sldChg chg="delSp">
        <pc:chgData name="Madura, John" userId="688ea523-5481-46a7-872c-679bc0bfd978" providerId="ADAL" clId="{D1C45AA2-501B-4841-A144-27F7CC65DA64}" dt="2024-06-12T21:19:36.062" v="123" actId="478"/>
        <pc:sldMkLst>
          <pc:docMk/>
          <pc:sldMk cId="1856636686" sldId="416"/>
        </pc:sldMkLst>
      </pc:sldChg>
      <pc:sldChg chg="delSp">
        <pc:chgData name="Madura, John" userId="688ea523-5481-46a7-872c-679bc0bfd978" providerId="ADAL" clId="{D1C45AA2-501B-4841-A144-27F7CC65DA64}" dt="2024-06-12T21:19:47.014" v="126" actId="478"/>
        <pc:sldMkLst>
          <pc:docMk/>
          <pc:sldMk cId="2289368265" sldId="417"/>
        </pc:sldMkLst>
      </pc:sldChg>
      <pc:sldChg chg="delSp">
        <pc:chgData name="Madura, John" userId="688ea523-5481-46a7-872c-679bc0bfd978" providerId="ADAL" clId="{D1C45AA2-501B-4841-A144-27F7CC65DA64}" dt="2024-06-12T21:19:31.293" v="121" actId="478"/>
        <pc:sldMkLst>
          <pc:docMk/>
          <pc:sldMk cId="1582405644" sldId="418"/>
        </pc:sldMkLst>
      </pc:sldChg>
      <pc:sldChg chg="delSp">
        <pc:chgData name="Madura, John" userId="688ea523-5481-46a7-872c-679bc0bfd978" providerId="ADAL" clId="{D1C45AA2-501B-4841-A144-27F7CC65DA64}" dt="2024-06-12T21:19:19.471" v="118" actId="478"/>
        <pc:sldMkLst>
          <pc:docMk/>
          <pc:sldMk cId="481277420" sldId="419"/>
        </pc:sldMkLst>
      </pc:sldChg>
      <pc:sldChg chg="delSp">
        <pc:chgData name="Madura, John" userId="688ea523-5481-46a7-872c-679bc0bfd978" providerId="ADAL" clId="{D1C45AA2-501B-4841-A144-27F7CC65DA64}" dt="2024-06-12T21:19:16.949" v="117" actId="478"/>
        <pc:sldMkLst>
          <pc:docMk/>
          <pc:sldMk cId="476027314" sldId="420"/>
        </pc:sldMkLst>
      </pc:sldChg>
      <pc:sldChg chg="delSp modSp mod">
        <pc:chgData name="Madura, John" userId="688ea523-5481-46a7-872c-679bc0bfd978" providerId="ADAL" clId="{D1C45AA2-501B-4841-A144-27F7CC65DA64}" dt="2024-06-12T21:19:11.262" v="115" actId="478"/>
        <pc:sldMkLst>
          <pc:docMk/>
          <pc:sldMk cId="1911628867" sldId="421"/>
        </pc:sldMkLst>
      </pc:sldChg>
      <pc:sldChg chg="delSp">
        <pc:chgData name="Madura, John" userId="688ea523-5481-46a7-872c-679bc0bfd978" providerId="ADAL" clId="{D1C45AA2-501B-4841-A144-27F7CC65DA64}" dt="2024-06-12T21:19:13.749" v="116" actId="478"/>
        <pc:sldMkLst>
          <pc:docMk/>
          <pc:sldMk cId="687712587" sldId="422"/>
        </pc:sldMkLst>
      </pc:sldChg>
      <pc:sldChg chg="delSp">
        <pc:chgData name="Madura, John" userId="688ea523-5481-46a7-872c-679bc0bfd978" providerId="ADAL" clId="{D1C45AA2-501B-4841-A144-27F7CC65DA64}" dt="2024-06-12T21:19:28.503" v="120" actId="478"/>
        <pc:sldMkLst>
          <pc:docMk/>
          <pc:sldMk cId="3334901044" sldId="424"/>
        </pc:sldMkLst>
      </pc:sldChg>
      <pc:sldChg chg="delSp">
        <pc:chgData name="Madura, John" userId="688ea523-5481-46a7-872c-679bc0bfd978" providerId="ADAL" clId="{D1C45AA2-501B-4841-A144-27F7CC65DA64}" dt="2024-06-12T21:19:22.738" v="119" actId="478"/>
        <pc:sldMkLst>
          <pc:docMk/>
          <pc:sldMk cId="2251840375" sldId="425"/>
        </pc:sldMkLst>
      </pc:sldChg>
      <pc:sldChg chg="delSp">
        <pc:chgData name="Madura, John" userId="688ea523-5481-46a7-872c-679bc0bfd978" providerId="ADAL" clId="{D1C45AA2-501B-4841-A144-27F7CC65DA64}" dt="2024-06-12T21:18:57.818" v="111" actId="478"/>
        <pc:sldMkLst>
          <pc:docMk/>
          <pc:sldMk cId="554445460" sldId="430"/>
        </pc:sldMkLst>
      </pc:sldChg>
      <pc:sldChg chg="delSp">
        <pc:chgData name="Madura, John" userId="688ea523-5481-46a7-872c-679bc0bfd978" providerId="ADAL" clId="{D1C45AA2-501B-4841-A144-27F7CC65DA64}" dt="2024-06-12T21:19:06.195" v="114" actId="478"/>
        <pc:sldMkLst>
          <pc:docMk/>
          <pc:sldMk cId="3366183772" sldId="431"/>
        </pc:sldMkLst>
      </pc:sldChg>
      <pc:sldChg chg="delSp">
        <pc:chgData name="Madura, John" userId="688ea523-5481-46a7-872c-679bc0bfd978" providerId="ADAL" clId="{D1C45AA2-501B-4841-A144-27F7CC65DA64}" dt="2024-06-12T21:19:00.202" v="112" actId="478"/>
        <pc:sldMkLst>
          <pc:docMk/>
          <pc:sldMk cId="1750271380" sldId="432"/>
        </pc:sldMkLst>
      </pc:sldChg>
      <pc:sldChg chg="delSp">
        <pc:chgData name="Madura, John" userId="688ea523-5481-46a7-872c-679bc0bfd978" providerId="ADAL" clId="{D1C45AA2-501B-4841-A144-27F7CC65DA64}" dt="2024-06-12T21:18:36.514" v="106" actId="478"/>
        <pc:sldMkLst>
          <pc:docMk/>
          <pc:sldMk cId="1913312783" sldId="435"/>
        </pc:sldMkLst>
      </pc:sldChg>
      <pc:sldChg chg="delSp">
        <pc:chgData name="Madura, John" userId="688ea523-5481-46a7-872c-679bc0bfd978" providerId="ADAL" clId="{D1C45AA2-501B-4841-A144-27F7CC65DA64}" dt="2024-06-12T21:18:50.340" v="110" actId="478"/>
        <pc:sldMkLst>
          <pc:docMk/>
          <pc:sldMk cId="186972832" sldId="436"/>
        </pc:sldMkLst>
      </pc:sldChg>
      <pc:sldChg chg="delSp">
        <pc:chgData name="Madura, John" userId="688ea523-5481-46a7-872c-679bc0bfd978" providerId="ADAL" clId="{D1C45AA2-501B-4841-A144-27F7CC65DA64}" dt="2024-06-12T21:18:47.252" v="109" actId="478"/>
        <pc:sldMkLst>
          <pc:docMk/>
          <pc:sldMk cId="387315728" sldId="439"/>
        </pc:sldMkLst>
      </pc:sldChg>
      <pc:sldChg chg="delSp">
        <pc:chgData name="Madura, John" userId="688ea523-5481-46a7-872c-679bc0bfd978" providerId="ADAL" clId="{D1C45AA2-501B-4841-A144-27F7CC65DA64}" dt="2024-06-12T21:18:39.197" v="107" actId="478"/>
        <pc:sldMkLst>
          <pc:docMk/>
          <pc:sldMk cId="240052351" sldId="444"/>
        </pc:sldMkLst>
      </pc:sldChg>
      <pc:sldChg chg="delSp">
        <pc:chgData name="Madura, John" userId="688ea523-5481-46a7-872c-679bc0bfd978" providerId="ADAL" clId="{D1C45AA2-501B-4841-A144-27F7CC65DA64}" dt="2024-06-12T21:20:09.498" v="133" actId="478"/>
        <pc:sldMkLst>
          <pc:docMk/>
          <pc:sldMk cId="1586950133" sldId="452"/>
        </pc:sldMkLst>
      </pc:sldChg>
      <pc:sldChg chg="delSp">
        <pc:chgData name="Madura, John" userId="688ea523-5481-46a7-872c-679bc0bfd978" providerId="ADAL" clId="{D1C45AA2-501B-4841-A144-27F7CC65DA64}" dt="2024-06-12T21:18:43.406" v="108" actId="478"/>
        <pc:sldMkLst>
          <pc:docMk/>
          <pc:sldMk cId="1809597721" sldId="453"/>
        </pc:sldMkLst>
      </pc:sldChg>
      <pc:sldChg chg="delSp">
        <pc:chgData name="Madura, John" userId="688ea523-5481-46a7-872c-679bc0bfd978" providerId="ADAL" clId="{D1C45AA2-501B-4841-A144-27F7CC65DA64}" dt="2024-06-12T21:19:02.906" v="113" actId="478"/>
        <pc:sldMkLst>
          <pc:docMk/>
          <pc:sldMk cId="3809424026" sldId="455"/>
        </pc:sldMkLst>
      </pc:sldChg>
      <pc:sldMasterChg chg="addSp modSp">
        <pc:chgData name="Madura, John" userId="688ea523-5481-46a7-872c-679bc0bfd978" providerId="ADAL" clId="{D1C45AA2-501B-4841-A144-27F7CC65DA64}" dt="2024-06-12T21:21:58.255" v="159" actId="167"/>
        <pc:sldMasterMkLst>
          <pc:docMk/>
          <pc:sldMasterMk cId="4089484488" sldId="2147483648"/>
        </pc:sldMasterMkLst>
      </pc:sldMasterChg>
    </pc:docChg>
  </pc:docChgLst>
  <pc:docChgLst>
    <pc:chgData name="John" userId="688ea523-5481-46a7-872c-679bc0bfd978" providerId="ADAL" clId="{1466ECBB-F4A8-431D-A03E-BE51560F0FF5}"/>
    <pc:docChg chg="modSld">
      <pc:chgData name="John" userId="688ea523-5481-46a7-872c-679bc0bfd978" providerId="ADAL" clId="{1466ECBB-F4A8-431D-A03E-BE51560F0FF5}" dt="2024-02-22T03:59:20.181" v="0" actId="113"/>
      <pc:docMkLst>
        <pc:docMk/>
      </pc:docMkLst>
      <pc:sldChg chg="modSp mod">
        <pc:chgData name="John" userId="688ea523-5481-46a7-872c-679bc0bfd978" providerId="ADAL" clId="{1466ECBB-F4A8-431D-A03E-BE51560F0FF5}" dt="2024-02-22T03:59:20.181" v="0" actId="113"/>
        <pc:sldMkLst>
          <pc:docMk/>
          <pc:sldMk cId="1298145104" sldId="256"/>
        </pc:sldMkLst>
      </pc:sldChg>
    </pc:docChg>
  </pc:docChgLst>
  <pc:docChgLst>
    <pc:chgData name="Clay, Danielle" userId="1c1fd065-096d-4aa2-a3c6-f86dfeea0561" providerId="ADAL" clId="{DFC38D29-CB41-43DE-A368-25559FD58D95}"/>
    <pc:docChg chg="modSld sldOrd">
      <pc:chgData name="Clay, Danielle" userId="1c1fd065-096d-4aa2-a3c6-f86dfeea0561" providerId="ADAL" clId="{DFC38D29-CB41-43DE-A368-25559FD58D95}" dt="2024-03-20T12:52:55.190" v="1"/>
      <pc:docMkLst>
        <pc:docMk/>
      </pc:docMkLst>
      <pc:sldChg chg="ord">
        <pc:chgData name="Clay, Danielle" userId="1c1fd065-096d-4aa2-a3c6-f86dfeea0561" providerId="ADAL" clId="{DFC38D29-CB41-43DE-A368-25559FD58D95}" dt="2024-03-20T12:52:55.190" v="1"/>
        <pc:sldMkLst>
          <pc:docMk/>
          <pc:sldMk cId="1856636686" sldId="416"/>
        </pc:sldMkLst>
      </pc:sldChg>
    </pc:docChg>
  </pc:docChgLst>
  <pc:docChgLst>
    <pc:chgData name="White, Matthew" userId="ca116b23-7605-45c8-9962-6bbec07e4ba9" providerId="ADAL" clId="{AB3ED214-AC4C-46B4-A4AD-00C7E7643970}"/>
    <pc:docChg chg="undo custSel modSld modShowInfo">
      <pc:chgData name="White, Matthew" userId="ca116b23-7605-45c8-9962-6bbec07e4ba9" providerId="ADAL" clId="{AB3ED214-AC4C-46B4-A4AD-00C7E7643970}" dt="2024-12-18T14:47:37.984" v="5126" actId="207"/>
      <pc:docMkLst>
        <pc:docMk/>
      </pc:docMkLst>
      <pc:sldChg chg="modNotesTx">
        <pc:chgData name="White, Matthew" userId="ca116b23-7605-45c8-9962-6bbec07e4ba9" providerId="ADAL" clId="{AB3ED214-AC4C-46B4-A4AD-00C7E7643970}" dt="2024-12-18T02:10:59.218" v="5110" actId="20577"/>
        <pc:sldMkLst>
          <pc:docMk/>
          <pc:sldMk cId="1298145104" sldId="256"/>
        </pc:sldMkLst>
      </pc:sldChg>
      <pc:sldChg chg="modSp mod modNotesTx">
        <pc:chgData name="White, Matthew" userId="ca116b23-7605-45c8-9962-6bbec07e4ba9" providerId="ADAL" clId="{AB3ED214-AC4C-46B4-A4AD-00C7E7643970}" dt="2024-12-16T17:48:19.237" v="3873" actId="20577"/>
        <pc:sldMkLst>
          <pc:docMk/>
          <pc:sldMk cId="2898040167" sldId="320"/>
        </pc:sldMkLst>
        <pc:spChg chg="mod">
          <ac:chgData name="White, Matthew" userId="ca116b23-7605-45c8-9962-6bbec07e4ba9" providerId="ADAL" clId="{AB3ED214-AC4C-46B4-A4AD-00C7E7643970}" dt="2024-12-16T17:48:19.237" v="3873" actId="20577"/>
          <ac:spMkLst>
            <pc:docMk/>
            <pc:sldMk cId="2898040167" sldId="320"/>
            <ac:spMk id="3" creationId="{00000000-0000-0000-0000-000000000000}"/>
          </ac:spMkLst>
        </pc:spChg>
      </pc:sldChg>
      <pc:sldChg chg="modNotesTx">
        <pc:chgData name="White, Matthew" userId="ca116b23-7605-45c8-9962-6bbec07e4ba9" providerId="ADAL" clId="{AB3ED214-AC4C-46B4-A4AD-00C7E7643970}" dt="2024-12-18T14:20:49.037" v="5122" actId="20577"/>
        <pc:sldMkLst>
          <pc:docMk/>
          <pc:sldMk cId="1548743379" sldId="336"/>
        </pc:sldMkLst>
      </pc:sldChg>
      <pc:sldChg chg="modSp mod modNotesTx">
        <pc:chgData name="White, Matthew" userId="ca116b23-7605-45c8-9962-6bbec07e4ba9" providerId="ADAL" clId="{AB3ED214-AC4C-46B4-A4AD-00C7E7643970}" dt="2024-12-17T19:18:47.419" v="4923" actId="400"/>
        <pc:sldMkLst>
          <pc:docMk/>
          <pc:sldMk cId="3758529743" sldId="360"/>
        </pc:sldMkLst>
        <pc:spChg chg="mod">
          <ac:chgData name="White, Matthew" userId="ca116b23-7605-45c8-9962-6bbec07e4ba9" providerId="ADAL" clId="{AB3ED214-AC4C-46B4-A4AD-00C7E7643970}" dt="2024-12-06T16:33:57.626" v="35" actId="20577"/>
          <ac:spMkLst>
            <pc:docMk/>
            <pc:sldMk cId="3758529743" sldId="360"/>
            <ac:spMk id="3" creationId="{00000000-0000-0000-0000-000000000000}"/>
          </ac:spMkLst>
        </pc:spChg>
      </pc:sldChg>
      <pc:sldChg chg="modNotesTx">
        <pc:chgData name="White, Matthew" userId="ca116b23-7605-45c8-9962-6bbec07e4ba9" providerId="ADAL" clId="{AB3ED214-AC4C-46B4-A4AD-00C7E7643970}" dt="2024-12-17T19:22:06.778" v="4941" actId="113"/>
        <pc:sldMkLst>
          <pc:docMk/>
          <pc:sldMk cId="3338544485" sldId="361"/>
        </pc:sldMkLst>
      </pc:sldChg>
      <pc:sldChg chg="modNotesTx">
        <pc:chgData name="White, Matthew" userId="ca116b23-7605-45c8-9962-6bbec07e4ba9" providerId="ADAL" clId="{AB3ED214-AC4C-46B4-A4AD-00C7E7643970}" dt="2024-12-09T14:43:46.981" v="1212" actId="20577"/>
        <pc:sldMkLst>
          <pc:docMk/>
          <pc:sldMk cId="3886645233" sldId="364"/>
        </pc:sldMkLst>
      </pc:sldChg>
      <pc:sldChg chg="modNotesTx">
        <pc:chgData name="White, Matthew" userId="ca116b23-7605-45c8-9962-6bbec07e4ba9" providerId="ADAL" clId="{AB3ED214-AC4C-46B4-A4AD-00C7E7643970}" dt="2024-12-09T14:45:01.094" v="1218" actId="20577"/>
        <pc:sldMkLst>
          <pc:docMk/>
          <pc:sldMk cId="2004126355" sldId="366"/>
        </pc:sldMkLst>
      </pc:sldChg>
      <pc:sldChg chg="modSp mod">
        <pc:chgData name="White, Matthew" userId="ca116b23-7605-45c8-9962-6bbec07e4ba9" providerId="ADAL" clId="{AB3ED214-AC4C-46B4-A4AD-00C7E7643970}" dt="2024-12-18T02:11:41.358" v="5111" actId="20577"/>
        <pc:sldMkLst>
          <pc:docMk/>
          <pc:sldMk cId="1228754750" sldId="379"/>
        </pc:sldMkLst>
        <pc:spChg chg="mod">
          <ac:chgData name="White, Matthew" userId="ca116b23-7605-45c8-9962-6bbec07e4ba9" providerId="ADAL" clId="{AB3ED214-AC4C-46B4-A4AD-00C7E7643970}" dt="2024-12-18T02:11:41.358" v="5111" actId="20577"/>
          <ac:spMkLst>
            <pc:docMk/>
            <pc:sldMk cId="1228754750" sldId="379"/>
            <ac:spMk id="3" creationId="{00000000-0000-0000-0000-000000000000}"/>
          </ac:spMkLst>
        </pc:spChg>
      </pc:sldChg>
      <pc:sldChg chg="modNotesTx">
        <pc:chgData name="White, Matthew" userId="ca116b23-7605-45c8-9962-6bbec07e4ba9" providerId="ADAL" clId="{AB3ED214-AC4C-46B4-A4AD-00C7E7643970}" dt="2024-12-17T19:03:36.863" v="4691" actId="5793"/>
        <pc:sldMkLst>
          <pc:docMk/>
          <pc:sldMk cId="879967605" sldId="380"/>
        </pc:sldMkLst>
      </pc:sldChg>
      <pc:sldChg chg="modSp mod modNotesTx">
        <pc:chgData name="White, Matthew" userId="ca116b23-7605-45c8-9962-6bbec07e4ba9" providerId="ADAL" clId="{AB3ED214-AC4C-46B4-A4AD-00C7E7643970}" dt="2024-12-17T15:42:14.631" v="4324" actId="20577"/>
        <pc:sldMkLst>
          <pc:docMk/>
          <pc:sldMk cId="2434350489" sldId="381"/>
        </pc:sldMkLst>
        <pc:spChg chg="mod">
          <ac:chgData name="White, Matthew" userId="ca116b23-7605-45c8-9962-6bbec07e4ba9" providerId="ADAL" clId="{AB3ED214-AC4C-46B4-A4AD-00C7E7643970}" dt="2024-12-06T16:29:52.122" v="7" actId="20577"/>
          <ac:spMkLst>
            <pc:docMk/>
            <pc:sldMk cId="2434350489" sldId="381"/>
            <ac:spMk id="2" creationId="{00000000-0000-0000-0000-000000000000}"/>
          </ac:spMkLst>
        </pc:spChg>
      </pc:sldChg>
      <pc:sldChg chg="modNotesTx">
        <pc:chgData name="White, Matthew" userId="ca116b23-7605-45c8-9962-6bbec07e4ba9" providerId="ADAL" clId="{AB3ED214-AC4C-46B4-A4AD-00C7E7643970}" dt="2024-12-17T15:43:27.657" v="4333" actId="20577"/>
        <pc:sldMkLst>
          <pc:docMk/>
          <pc:sldMk cId="2333958666" sldId="382"/>
        </pc:sldMkLst>
      </pc:sldChg>
      <pc:sldChg chg="modNotesTx">
        <pc:chgData name="White, Matthew" userId="ca116b23-7605-45c8-9962-6bbec07e4ba9" providerId="ADAL" clId="{AB3ED214-AC4C-46B4-A4AD-00C7E7643970}" dt="2024-12-06T16:47:45.464" v="1167" actId="20577"/>
        <pc:sldMkLst>
          <pc:docMk/>
          <pc:sldMk cId="3889088420" sldId="383"/>
        </pc:sldMkLst>
      </pc:sldChg>
      <pc:sldChg chg="modNotesTx">
        <pc:chgData name="White, Matthew" userId="ca116b23-7605-45c8-9962-6bbec07e4ba9" providerId="ADAL" clId="{AB3ED214-AC4C-46B4-A4AD-00C7E7643970}" dt="2024-12-16T18:47:42.543" v="4279" actId="20577"/>
        <pc:sldMkLst>
          <pc:docMk/>
          <pc:sldMk cId="976919181" sldId="384"/>
        </pc:sldMkLst>
      </pc:sldChg>
      <pc:sldChg chg="modNotesTx">
        <pc:chgData name="White, Matthew" userId="ca116b23-7605-45c8-9962-6bbec07e4ba9" providerId="ADAL" clId="{AB3ED214-AC4C-46B4-A4AD-00C7E7643970}" dt="2024-12-17T15:44:24.971" v="4334" actId="113"/>
        <pc:sldMkLst>
          <pc:docMk/>
          <pc:sldMk cId="3173177398" sldId="385"/>
        </pc:sldMkLst>
      </pc:sldChg>
      <pc:sldChg chg="modNotesTx">
        <pc:chgData name="White, Matthew" userId="ca116b23-7605-45c8-9962-6bbec07e4ba9" providerId="ADAL" clId="{AB3ED214-AC4C-46B4-A4AD-00C7E7643970}" dt="2024-12-17T19:28:39.197" v="5068" actId="20577"/>
        <pc:sldMkLst>
          <pc:docMk/>
          <pc:sldMk cId="1948811618" sldId="387"/>
        </pc:sldMkLst>
      </pc:sldChg>
      <pc:sldChg chg="modNotesTx">
        <pc:chgData name="White, Matthew" userId="ca116b23-7605-45c8-9962-6bbec07e4ba9" providerId="ADAL" clId="{AB3ED214-AC4C-46B4-A4AD-00C7E7643970}" dt="2024-12-09T14:46:02.902" v="1219"/>
        <pc:sldMkLst>
          <pc:docMk/>
          <pc:sldMk cId="3076272149" sldId="388"/>
        </pc:sldMkLst>
      </pc:sldChg>
      <pc:sldChg chg="modSp mod modNotesTx">
        <pc:chgData name="White, Matthew" userId="ca116b23-7605-45c8-9962-6bbec07e4ba9" providerId="ADAL" clId="{AB3ED214-AC4C-46B4-A4AD-00C7E7643970}" dt="2024-12-09T14:47:42.829" v="1224"/>
        <pc:sldMkLst>
          <pc:docMk/>
          <pc:sldMk cId="2897501377" sldId="390"/>
        </pc:sldMkLst>
        <pc:spChg chg="mod">
          <ac:chgData name="White, Matthew" userId="ca116b23-7605-45c8-9962-6bbec07e4ba9" providerId="ADAL" clId="{AB3ED214-AC4C-46B4-A4AD-00C7E7643970}" dt="2024-12-09T14:46:40.158" v="1220" actId="20577"/>
          <ac:spMkLst>
            <pc:docMk/>
            <pc:sldMk cId="2897501377" sldId="390"/>
            <ac:spMk id="2" creationId="{00000000-0000-0000-0000-000000000000}"/>
          </ac:spMkLst>
        </pc:spChg>
      </pc:sldChg>
      <pc:sldChg chg="modSp mod modNotesTx">
        <pc:chgData name="White, Matthew" userId="ca116b23-7605-45c8-9962-6bbec07e4ba9" providerId="ADAL" clId="{AB3ED214-AC4C-46B4-A4AD-00C7E7643970}" dt="2024-12-17T19:26:54.244" v="5060" actId="20577"/>
        <pc:sldMkLst>
          <pc:docMk/>
          <pc:sldMk cId="3143357015" sldId="391"/>
        </pc:sldMkLst>
        <pc:spChg chg="mod">
          <ac:chgData name="White, Matthew" userId="ca116b23-7605-45c8-9962-6bbec07e4ba9" providerId="ADAL" clId="{AB3ED214-AC4C-46B4-A4AD-00C7E7643970}" dt="2024-12-09T14:48:31.040" v="1225" actId="20577"/>
          <ac:spMkLst>
            <pc:docMk/>
            <pc:sldMk cId="3143357015" sldId="391"/>
            <ac:spMk id="2" creationId="{00000000-0000-0000-0000-000000000000}"/>
          </ac:spMkLst>
        </pc:spChg>
      </pc:sldChg>
      <pc:sldChg chg="modNotesTx">
        <pc:chgData name="White, Matthew" userId="ca116b23-7605-45c8-9962-6bbec07e4ba9" providerId="ADAL" clId="{AB3ED214-AC4C-46B4-A4AD-00C7E7643970}" dt="2024-12-09T14:56:57.522" v="1637" actId="5793"/>
        <pc:sldMkLst>
          <pc:docMk/>
          <pc:sldMk cId="193406009" sldId="393"/>
        </pc:sldMkLst>
      </pc:sldChg>
      <pc:sldChg chg="modSp mod modNotesTx">
        <pc:chgData name="White, Matthew" userId="ca116b23-7605-45c8-9962-6bbec07e4ba9" providerId="ADAL" clId="{AB3ED214-AC4C-46B4-A4AD-00C7E7643970}" dt="2024-12-18T02:13:24.471" v="5112" actId="113"/>
        <pc:sldMkLst>
          <pc:docMk/>
          <pc:sldMk cId="3833620099" sldId="394"/>
        </pc:sldMkLst>
        <pc:spChg chg="mod">
          <ac:chgData name="White, Matthew" userId="ca116b23-7605-45c8-9962-6bbec07e4ba9" providerId="ADAL" clId="{AB3ED214-AC4C-46B4-A4AD-00C7E7643970}" dt="2024-12-17T16:05:47.877" v="4342" actId="113"/>
          <ac:spMkLst>
            <pc:docMk/>
            <pc:sldMk cId="3833620099" sldId="394"/>
            <ac:spMk id="3" creationId="{00000000-0000-0000-0000-000000000000}"/>
          </ac:spMkLst>
        </pc:spChg>
      </pc:sldChg>
      <pc:sldChg chg="modNotesTx">
        <pc:chgData name="White, Matthew" userId="ca116b23-7605-45c8-9962-6bbec07e4ba9" providerId="ADAL" clId="{AB3ED214-AC4C-46B4-A4AD-00C7E7643970}" dt="2024-12-17T19:29:26.400" v="5109" actId="20577"/>
        <pc:sldMkLst>
          <pc:docMk/>
          <pc:sldMk cId="3280928836" sldId="395"/>
        </pc:sldMkLst>
      </pc:sldChg>
      <pc:sldChg chg="modSp mod modNotesTx">
        <pc:chgData name="White, Matthew" userId="ca116b23-7605-45c8-9962-6bbec07e4ba9" providerId="ADAL" clId="{AB3ED214-AC4C-46B4-A4AD-00C7E7643970}" dt="2024-12-09T15:08:32.730" v="1702"/>
        <pc:sldMkLst>
          <pc:docMk/>
          <pc:sldMk cId="4125641310" sldId="396"/>
        </pc:sldMkLst>
        <pc:spChg chg="mod">
          <ac:chgData name="White, Matthew" userId="ca116b23-7605-45c8-9962-6bbec07e4ba9" providerId="ADAL" clId="{AB3ED214-AC4C-46B4-A4AD-00C7E7643970}" dt="2024-12-09T15:08:24.671" v="1701" actId="20577"/>
          <ac:spMkLst>
            <pc:docMk/>
            <pc:sldMk cId="4125641310" sldId="396"/>
            <ac:spMk id="2" creationId="{00000000-0000-0000-0000-000000000000}"/>
          </ac:spMkLst>
        </pc:spChg>
      </pc:sldChg>
      <pc:sldChg chg="modSp mod">
        <pc:chgData name="White, Matthew" userId="ca116b23-7605-45c8-9962-6bbec07e4ba9" providerId="ADAL" clId="{AB3ED214-AC4C-46B4-A4AD-00C7E7643970}" dt="2024-12-09T15:09:16.754" v="1703" actId="20577"/>
        <pc:sldMkLst>
          <pc:docMk/>
          <pc:sldMk cId="3855019703" sldId="397"/>
        </pc:sldMkLst>
        <pc:spChg chg="mod">
          <ac:chgData name="White, Matthew" userId="ca116b23-7605-45c8-9962-6bbec07e4ba9" providerId="ADAL" clId="{AB3ED214-AC4C-46B4-A4AD-00C7E7643970}" dt="2024-12-09T15:09:16.754" v="1703" actId="20577"/>
          <ac:spMkLst>
            <pc:docMk/>
            <pc:sldMk cId="3855019703" sldId="397"/>
            <ac:spMk id="2" creationId="{00000000-0000-0000-0000-000000000000}"/>
          </ac:spMkLst>
        </pc:spChg>
      </pc:sldChg>
      <pc:sldChg chg="modNotesTx">
        <pc:chgData name="White, Matthew" userId="ca116b23-7605-45c8-9962-6bbec07e4ba9" providerId="ADAL" clId="{AB3ED214-AC4C-46B4-A4AD-00C7E7643970}" dt="2024-12-17T16:08:09.144" v="4396" actId="113"/>
        <pc:sldMkLst>
          <pc:docMk/>
          <pc:sldMk cId="62073610" sldId="402"/>
        </pc:sldMkLst>
      </pc:sldChg>
      <pc:sldChg chg="modNotesTx">
        <pc:chgData name="White, Matthew" userId="ca116b23-7605-45c8-9962-6bbec07e4ba9" providerId="ADAL" clId="{AB3ED214-AC4C-46B4-A4AD-00C7E7643970}" dt="2024-12-18T02:13:52.747" v="5113" actId="20577"/>
        <pc:sldMkLst>
          <pc:docMk/>
          <pc:sldMk cId="2757566893" sldId="403"/>
        </pc:sldMkLst>
      </pc:sldChg>
      <pc:sldChg chg="modNotesTx">
        <pc:chgData name="White, Matthew" userId="ca116b23-7605-45c8-9962-6bbec07e4ba9" providerId="ADAL" clId="{AB3ED214-AC4C-46B4-A4AD-00C7E7643970}" dt="2024-12-10T16:05:31.022" v="2248" actId="20577"/>
        <pc:sldMkLst>
          <pc:docMk/>
          <pc:sldMk cId="4254437174" sldId="404"/>
        </pc:sldMkLst>
      </pc:sldChg>
      <pc:sldChg chg="modNotesTx">
        <pc:chgData name="White, Matthew" userId="ca116b23-7605-45c8-9962-6bbec07e4ba9" providerId="ADAL" clId="{AB3ED214-AC4C-46B4-A4AD-00C7E7643970}" dt="2024-12-10T16:07:17.692" v="2375" actId="20577"/>
        <pc:sldMkLst>
          <pc:docMk/>
          <pc:sldMk cId="358795289" sldId="405"/>
        </pc:sldMkLst>
      </pc:sldChg>
      <pc:sldChg chg="modNotesTx">
        <pc:chgData name="White, Matthew" userId="ca116b23-7605-45c8-9962-6bbec07e4ba9" providerId="ADAL" clId="{AB3ED214-AC4C-46B4-A4AD-00C7E7643970}" dt="2024-12-17T16:16:36.953" v="4399" actId="12"/>
        <pc:sldMkLst>
          <pc:docMk/>
          <pc:sldMk cId="3742073859" sldId="406"/>
        </pc:sldMkLst>
      </pc:sldChg>
      <pc:sldChg chg="modNotesTx">
        <pc:chgData name="White, Matthew" userId="ca116b23-7605-45c8-9962-6bbec07e4ba9" providerId="ADAL" clId="{AB3ED214-AC4C-46B4-A4AD-00C7E7643970}" dt="2024-12-13T18:09:43" v="2987" actId="12"/>
        <pc:sldMkLst>
          <pc:docMk/>
          <pc:sldMk cId="2595843729" sldId="408"/>
        </pc:sldMkLst>
      </pc:sldChg>
      <pc:sldChg chg="modNotesTx">
        <pc:chgData name="White, Matthew" userId="ca116b23-7605-45c8-9962-6bbec07e4ba9" providerId="ADAL" clId="{AB3ED214-AC4C-46B4-A4AD-00C7E7643970}" dt="2024-12-13T18:04:35.686" v="2867" actId="20577"/>
        <pc:sldMkLst>
          <pc:docMk/>
          <pc:sldMk cId="1505161076" sldId="412"/>
        </pc:sldMkLst>
      </pc:sldChg>
      <pc:sldChg chg="modNotesTx">
        <pc:chgData name="White, Matthew" userId="ca116b23-7605-45c8-9962-6bbec07e4ba9" providerId="ADAL" clId="{AB3ED214-AC4C-46B4-A4AD-00C7E7643970}" dt="2024-12-13T18:03:58.790" v="2859"/>
        <pc:sldMkLst>
          <pc:docMk/>
          <pc:sldMk cId="2533237783" sldId="413"/>
        </pc:sldMkLst>
      </pc:sldChg>
      <pc:sldChg chg="addSp delSp mod modNotesTx">
        <pc:chgData name="White, Matthew" userId="ca116b23-7605-45c8-9962-6bbec07e4ba9" providerId="ADAL" clId="{AB3ED214-AC4C-46B4-A4AD-00C7E7643970}" dt="2024-12-13T18:11:14.592" v="3087" actId="20577"/>
        <pc:sldMkLst>
          <pc:docMk/>
          <pc:sldMk cId="310040622" sldId="414"/>
        </pc:sldMkLst>
      </pc:sldChg>
      <pc:sldChg chg="modNotesTx">
        <pc:chgData name="White, Matthew" userId="ca116b23-7605-45c8-9962-6bbec07e4ba9" providerId="ADAL" clId="{AB3ED214-AC4C-46B4-A4AD-00C7E7643970}" dt="2024-12-18T14:25:36.135" v="5125" actId="20577"/>
        <pc:sldMkLst>
          <pc:docMk/>
          <pc:sldMk cId="1856636686" sldId="416"/>
        </pc:sldMkLst>
      </pc:sldChg>
      <pc:sldChg chg="modNotesTx">
        <pc:chgData name="White, Matthew" userId="ca116b23-7605-45c8-9962-6bbec07e4ba9" providerId="ADAL" clId="{AB3ED214-AC4C-46B4-A4AD-00C7E7643970}" dt="2024-12-13T18:08:53.721" v="2984" actId="12"/>
        <pc:sldMkLst>
          <pc:docMk/>
          <pc:sldMk cId="2289368265" sldId="417"/>
        </pc:sldMkLst>
      </pc:sldChg>
      <pc:sldChg chg="modNotesTx">
        <pc:chgData name="White, Matthew" userId="ca116b23-7605-45c8-9962-6bbec07e4ba9" providerId="ADAL" clId="{AB3ED214-AC4C-46B4-A4AD-00C7E7643970}" dt="2024-12-13T18:12:26.747" v="3088"/>
        <pc:sldMkLst>
          <pc:docMk/>
          <pc:sldMk cId="1582405644" sldId="418"/>
        </pc:sldMkLst>
      </pc:sldChg>
      <pc:sldChg chg="modNotesTx">
        <pc:chgData name="White, Matthew" userId="ca116b23-7605-45c8-9962-6bbec07e4ba9" providerId="ADAL" clId="{AB3ED214-AC4C-46B4-A4AD-00C7E7643970}" dt="2024-12-13T18:59:31.845" v="3092"/>
        <pc:sldMkLst>
          <pc:docMk/>
          <pc:sldMk cId="481277420" sldId="419"/>
        </pc:sldMkLst>
      </pc:sldChg>
      <pc:sldChg chg="modNotesTx">
        <pc:chgData name="White, Matthew" userId="ca116b23-7605-45c8-9962-6bbec07e4ba9" providerId="ADAL" clId="{AB3ED214-AC4C-46B4-A4AD-00C7E7643970}" dt="2024-12-13T18:58:10.305" v="3091" actId="12"/>
        <pc:sldMkLst>
          <pc:docMk/>
          <pc:sldMk cId="476027314" sldId="420"/>
        </pc:sldMkLst>
      </pc:sldChg>
      <pc:sldChg chg="modNotesTx">
        <pc:chgData name="White, Matthew" userId="ca116b23-7605-45c8-9962-6bbec07e4ba9" providerId="ADAL" clId="{AB3ED214-AC4C-46B4-A4AD-00C7E7643970}" dt="2024-12-13T19:11:30.085" v="3628" actId="20577"/>
        <pc:sldMkLst>
          <pc:docMk/>
          <pc:sldMk cId="1911628867" sldId="421"/>
        </pc:sldMkLst>
      </pc:sldChg>
      <pc:sldChg chg="modNotesTx">
        <pc:chgData name="White, Matthew" userId="ca116b23-7605-45c8-9962-6bbec07e4ba9" providerId="ADAL" clId="{AB3ED214-AC4C-46B4-A4AD-00C7E7643970}" dt="2024-12-13T19:04:15.434" v="3217" actId="12"/>
        <pc:sldMkLst>
          <pc:docMk/>
          <pc:sldMk cId="687712587" sldId="422"/>
        </pc:sldMkLst>
      </pc:sldChg>
      <pc:sldChg chg="modNotesTx">
        <pc:chgData name="White, Matthew" userId="ca116b23-7605-45c8-9962-6bbec07e4ba9" providerId="ADAL" clId="{AB3ED214-AC4C-46B4-A4AD-00C7E7643970}" dt="2024-12-13T16:30:18.571" v="2416" actId="20577"/>
        <pc:sldMkLst>
          <pc:docMk/>
          <pc:sldMk cId="2251840375" sldId="425"/>
        </pc:sldMkLst>
      </pc:sldChg>
      <pc:sldChg chg="modSp mod modNotesTx">
        <pc:chgData name="White, Matthew" userId="ca116b23-7605-45c8-9962-6bbec07e4ba9" providerId="ADAL" clId="{AB3ED214-AC4C-46B4-A4AD-00C7E7643970}" dt="2024-12-13T19:20:20.693" v="3725" actId="20577"/>
        <pc:sldMkLst>
          <pc:docMk/>
          <pc:sldMk cId="554445460" sldId="430"/>
        </pc:sldMkLst>
        <pc:spChg chg="mod">
          <ac:chgData name="White, Matthew" userId="ca116b23-7605-45c8-9962-6bbec07e4ba9" providerId="ADAL" clId="{AB3ED214-AC4C-46B4-A4AD-00C7E7643970}" dt="2024-12-13T19:17:36.281" v="3720" actId="20577"/>
          <ac:spMkLst>
            <pc:docMk/>
            <pc:sldMk cId="554445460" sldId="430"/>
            <ac:spMk id="2" creationId="{00000000-0000-0000-0000-000000000000}"/>
          </ac:spMkLst>
        </pc:spChg>
      </pc:sldChg>
      <pc:sldChg chg="modSp mod modNotesTx">
        <pc:chgData name="White, Matthew" userId="ca116b23-7605-45c8-9962-6bbec07e4ba9" providerId="ADAL" clId="{AB3ED214-AC4C-46B4-A4AD-00C7E7643970}" dt="2024-12-18T14:47:37.984" v="5126" actId="207"/>
        <pc:sldMkLst>
          <pc:docMk/>
          <pc:sldMk cId="3366183772" sldId="431"/>
        </pc:sldMkLst>
        <pc:spChg chg="mod">
          <ac:chgData name="White, Matthew" userId="ca116b23-7605-45c8-9962-6bbec07e4ba9" providerId="ADAL" clId="{AB3ED214-AC4C-46B4-A4AD-00C7E7643970}" dt="2024-12-18T14:47:37.984" v="5126" actId="207"/>
          <ac:spMkLst>
            <pc:docMk/>
            <pc:sldMk cId="3366183772" sldId="431"/>
            <ac:spMk id="3" creationId="{00000000-0000-0000-0000-000000000000}"/>
          </ac:spMkLst>
        </pc:spChg>
      </pc:sldChg>
      <pc:sldChg chg="addSp delSp mod modNotesTx">
        <pc:chgData name="White, Matthew" userId="ca116b23-7605-45c8-9962-6bbec07e4ba9" providerId="ADAL" clId="{AB3ED214-AC4C-46B4-A4AD-00C7E7643970}" dt="2024-12-13T19:16:10.801" v="3716"/>
        <pc:sldMkLst>
          <pc:docMk/>
          <pc:sldMk cId="1750271380" sldId="432"/>
        </pc:sldMkLst>
      </pc:sldChg>
      <pc:sldChg chg="mod modShow">
        <pc:chgData name="White, Matthew" userId="ca116b23-7605-45c8-9962-6bbec07e4ba9" providerId="ADAL" clId="{AB3ED214-AC4C-46B4-A4AD-00C7E7643970}" dt="2024-12-13T19:21:43.451" v="3726" actId="729"/>
        <pc:sldMkLst>
          <pc:docMk/>
          <pc:sldMk cId="1913312783" sldId="435"/>
        </pc:sldMkLst>
      </pc:sldChg>
      <pc:sldChg chg="mod modShow">
        <pc:chgData name="White, Matthew" userId="ca116b23-7605-45c8-9962-6bbec07e4ba9" providerId="ADAL" clId="{AB3ED214-AC4C-46B4-A4AD-00C7E7643970}" dt="2024-12-11T19:26:31.724" v="2379" actId="729"/>
        <pc:sldMkLst>
          <pc:docMk/>
          <pc:sldMk cId="186972832" sldId="436"/>
        </pc:sldMkLst>
      </pc:sldChg>
      <pc:sldChg chg="mod modShow">
        <pc:chgData name="White, Matthew" userId="ca116b23-7605-45c8-9962-6bbec07e4ba9" providerId="ADAL" clId="{AB3ED214-AC4C-46B4-A4AD-00C7E7643970}" dt="2024-12-11T19:26:34.659" v="2380" actId="729"/>
        <pc:sldMkLst>
          <pc:docMk/>
          <pc:sldMk cId="387315728" sldId="439"/>
        </pc:sldMkLst>
      </pc:sldChg>
      <pc:sldChg chg="modSp mod modNotesTx">
        <pc:chgData name="White, Matthew" userId="ca116b23-7605-45c8-9962-6bbec07e4ba9" providerId="ADAL" clId="{AB3ED214-AC4C-46B4-A4AD-00C7E7643970}" dt="2024-12-16T20:40:12.677" v="4286" actId="20577"/>
        <pc:sldMkLst>
          <pc:docMk/>
          <pc:sldMk cId="1586950133" sldId="452"/>
        </pc:sldMkLst>
        <pc:spChg chg="mod">
          <ac:chgData name="White, Matthew" userId="ca116b23-7605-45c8-9962-6bbec07e4ba9" providerId="ADAL" clId="{AB3ED214-AC4C-46B4-A4AD-00C7E7643970}" dt="2024-12-10T15:58:25.328" v="1710" actId="20577"/>
          <ac:spMkLst>
            <pc:docMk/>
            <pc:sldMk cId="1586950133" sldId="452"/>
            <ac:spMk id="3" creationId="{00000000-0000-0000-0000-000000000000}"/>
          </ac:spMkLst>
        </pc:spChg>
      </pc:sldChg>
      <pc:sldChg chg="mod modShow">
        <pc:chgData name="White, Matthew" userId="ca116b23-7605-45c8-9962-6bbec07e4ba9" providerId="ADAL" clId="{AB3ED214-AC4C-46B4-A4AD-00C7E7643970}" dt="2024-12-11T19:26:37.378" v="2381" actId="729"/>
        <pc:sldMkLst>
          <pc:docMk/>
          <pc:sldMk cId="1809597721" sldId="453"/>
        </pc:sldMkLst>
      </pc:sldChg>
      <pc:sldChg chg="modNotesTx">
        <pc:chgData name="White, Matthew" userId="ca116b23-7605-45c8-9962-6bbec07e4ba9" providerId="ADAL" clId="{AB3ED214-AC4C-46B4-A4AD-00C7E7643970}" dt="2024-12-18T02:15:19.425" v="5114" actId="20577"/>
        <pc:sldMkLst>
          <pc:docMk/>
          <pc:sldMk cId="3809424026" sldId="455"/>
        </pc:sldMkLst>
      </pc:sldChg>
    </pc:docChg>
  </pc:docChgLst>
  <pc:docChgLst>
    <pc:chgData name="Madura, John" userId="688ea523-5481-46a7-872c-679bc0bfd978" providerId="ADAL" clId="{8FF7FA79-1A9E-43D8-8680-A0E12C7F14EF}"/>
    <pc:docChg chg="custSel modSld">
      <pc:chgData name="Madura, John" userId="688ea523-5481-46a7-872c-679bc0bfd978" providerId="ADAL" clId="{8FF7FA79-1A9E-43D8-8680-A0E12C7F14EF}" dt="2024-05-15T14:26:00.432" v="3893" actId="20577"/>
      <pc:docMkLst>
        <pc:docMk/>
      </pc:docMkLst>
      <pc:sldChg chg="modNotesTx">
        <pc:chgData name="Madura, John" userId="688ea523-5481-46a7-872c-679bc0bfd978" providerId="ADAL" clId="{8FF7FA79-1A9E-43D8-8680-A0E12C7F14EF}" dt="2024-05-15T13:31:20.812" v="244" actId="20577"/>
        <pc:sldMkLst>
          <pc:docMk/>
          <pc:sldMk cId="3758529743" sldId="360"/>
        </pc:sldMkLst>
      </pc:sldChg>
      <pc:sldChg chg="modNotesTx">
        <pc:chgData name="Madura, John" userId="688ea523-5481-46a7-872c-679bc0bfd978" providerId="ADAL" clId="{8FF7FA79-1A9E-43D8-8680-A0E12C7F14EF}" dt="2024-05-15T13:45:08.267" v="813" actId="20577"/>
        <pc:sldMkLst>
          <pc:docMk/>
          <pc:sldMk cId="3886645233" sldId="364"/>
        </pc:sldMkLst>
      </pc:sldChg>
      <pc:sldChg chg="modNotesTx">
        <pc:chgData name="Madura, John" userId="688ea523-5481-46a7-872c-679bc0bfd978" providerId="ADAL" clId="{8FF7FA79-1A9E-43D8-8680-A0E12C7F14EF}" dt="2024-05-15T13:34:29.070" v="281" actId="20577"/>
        <pc:sldMkLst>
          <pc:docMk/>
          <pc:sldMk cId="3889088420" sldId="383"/>
        </pc:sldMkLst>
      </pc:sldChg>
      <pc:sldChg chg="modNotesTx">
        <pc:chgData name="Madura, John" userId="688ea523-5481-46a7-872c-679bc0bfd978" providerId="ADAL" clId="{8FF7FA79-1A9E-43D8-8680-A0E12C7F14EF}" dt="2024-05-15T13:40:09.828" v="484" actId="20577"/>
        <pc:sldMkLst>
          <pc:docMk/>
          <pc:sldMk cId="3173177398" sldId="385"/>
        </pc:sldMkLst>
      </pc:sldChg>
      <pc:sldChg chg="modNotesTx">
        <pc:chgData name="Madura, John" userId="688ea523-5481-46a7-872c-679bc0bfd978" providerId="ADAL" clId="{8FF7FA79-1A9E-43D8-8680-A0E12C7F14EF}" dt="2024-05-15T13:52:07.748" v="1471" actId="20577"/>
        <pc:sldMkLst>
          <pc:docMk/>
          <pc:sldMk cId="1948811618" sldId="387"/>
        </pc:sldMkLst>
      </pc:sldChg>
      <pc:sldChg chg="modNotesTx">
        <pc:chgData name="Madura, John" userId="688ea523-5481-46a7-872c-679bc0bfd978" providerId="ADAL" clId="{8FF7FA79-1A9E-43D8-8680-A0E12C7F14EF}" dt="2024-05-15T13:45:38.404" v="877" actId="20577"/>
        <pc:sldMkLst>
          <pc:docMk/>
          <pc:sldMk cId="3076272149" sldId="388"/>
        </pc:sldMkLst>
      </pc:sldChg>
      <pc:sldChg chg="modNotesTx">
        <pc:chgData name="Madura, John" userId="688ea523-5481-46a7-872c-679bc0bfd978" providerId="ADAL" clId="{8FF7FA79-1A9E-43D8-8680-A0E12C7F14EF}" dt="2024-05-15T13:46:50.318" v="1096" actId="20577"/>
        <pc:sldMkLst>
          <pc:docMk/>
          <pc:sldMk cId="2897501377" sldId="390"/>
        </pc:sldMkLst>
      </pc:sldChg>
      <pc:sldChg chg="modNotesTx">
        <pc:chgData name="Madura, John" userId="688ea523-5481-46a7-872c-679bc0bfd978" providerId="ADAL" clId="{8FF7FA79-1A9E-43D8-8680-A0E12C7F14EF}" dt="2024-05-15T13:48:50.564" v="1370" actId="20577"/>
        <pc:sldMkLst>
          <pc:docMk/>
          <pc:sldMk cId="3143357015" sldId="391"/>
        </pc:sldMkLst>
      </pc:sldChg>
      <pc:sldChg chg="modNotesTx">
        <pc:chgData name="Madura, John" userId="688ea523-5481-46a7-872c-679bc0bfd978" providerId="ADAL" clId="{8FF7FA79-1A9E-43D8-8680-A0E12C7F14EF}" dt="2024-05-15T13:50:07.962" v="1422" actId="20577"/>
        <pc:sldMkLst>
          <pc:docMk/>
          <pc:sldMk cId="193406009" sldId="393"/>
        </pc:sldMkLst>
      </pc:sldChg>
      <pc:sldChg chg="modNotesTx">
        <pc:chgData name="Madura, John" userId="688ea523-5481-46a7-872c-679bc0bfd978" providerId="ADAL" clId="{8FF7FA79-1A9E-43D8-8680-A0E12C7F14EF}" dt="2024-05-15T13:55:24.075" v="1646" actId="20577"/>
        <pc:sldMkLst>
          <pc:docMk/>
          <pc:sldMk cId="3280928836" sldId="395"/>
        </pc:sldMkLst>
      </pc:sldChg>
      <pc:sldChg chg="modNotesTx">
        <pc:chgData name="Madura, John" userId="688ea523-5481-46a7-872c-679bc0bfd978" providerId="ADAL" clId="{8FF7FA79-1A9E-43D8-8680-A0E12C7F14EF}" dt="2024-05-15T13:57:22.871" v="1773" actId="20577"/>
        <pc:sldMkLst>
          <pc:docMk/>
          <pc:sldMk cId="62073610" sldId="402"/>
        </pc:sldMkLst>
      </pc:sldChg>
      <pc:sldChg chg="modNotesTx">
        <pc:chgData name="Madura, John" userId="688ea523-5481-46a7-872c-679bc0bfd978" providerId="ADAL" clId="{8FF7FA79-1A9E-43D8-8680-A0E12C7F14EF}" dt="2024-05-15T14:04:55.657" v="2095" actId="20577"/>
        <pc:sldMkLst>
          <pc:docMk/>
          <pc:sldMk cId="2595843729" sldId="408"/>
        </pc:sldMkLst>
      </pc:sldChg>
      <pc:sldChg chg="modNotesTx">
        <pc:chgData name="Madura, John" userId="688ea523-5481-46a7-872c-679bc0bfd978" providerId="ADAL" clId="{8FF7FA79-1A9E-43D8-8680-A0E12C7F14EF}" dt="2024-05-15T14:08:28.058" v="2542" actId="20577"/>
        <pc:sldMkLst>
          <pc:docMk/>
          <pc:sldMk cId="1505161076" sldId="412"/>
        </pc:sldMkLst>
      </pc:sldChg>
      <pc:sldChg chg="modNotesTx">
        <pc:chgData name="Madura, John" userId="688ea523-5481-46a7-872c-679bc0bfd978" providerId="ADAL" clId="{8FF7FA79-1A9E-43D8-8680-A0E12C7F14EF}" dt="2024-05-15T14:18:45.875" v="2761" actId="20577"/>
        <pc:sldMkLst>
          <pc:docMk/>
          <pc:sldMk cId="1911628867" sldId="421"/>
        </pc:sldMkLst>
      </pc:sldChg>
      <pc:sldChg chg="modNotesTx">
        <pc:chgData name="Madura, John" userId="688ea523-5481-46a7-872c-679bc0bfd978" providerId="ADAL" clId="{8FF7FA79-1A9E-43D8-8680-A0E12C7F14EF}" dt="2024-05-15T14:23:38.855" v="3746" actId="20577"/>
        <pc:sldMkLst>
          <pc:docMk/>
          <pc:sldMk cId="554445460" sldId="430"/>
        </pc:sldMkLst>
      </pc:sldChg>
      <pc:sldChg chg="modNotesTx">
        <pc:chgData name="Madura, John" userId="688ea523-5481-46a7-872c-679bc0bfd978" providerId="ADAL" clId="{8FF7FA79-1A9E-43D8-8680-A0E12C7F14EF}" dt="2024-05-15T14:20:16.323" v="3117" actId="20577"/>
        <pc:sldMkLst>
          <pc:docMk/>
          <pc:sldMk cId="3366183772" sldId="431"/>
        </pc:sldMkLst>
      </pc:sldChg>
      <pc:sldChg chg="modNotesTx">
        <pc:chgData name="Madura, John" userId="688ea523-5481-46a7-872c-679bc0bfd978" providerId="ADAL" clId="{8FF7FA79-1A9E-43D8-8680-A0E12C7F14EF}" dt="2024-05-15T14:26:00.432" v="3893" actId="20577"/>
        <pc:sldMkLst>
          <pc:docMk/>
          <pc:sldMk cId="1809597721" sldId="453"/>
        </pc:sldMkLst>
      </pc:sldChg>
      <pc:sldChg chg="modNotesTx">
        <pc:chgData name="Madura, John" userId="688ea523-5481-46a7-872c-679bc0bfd978" providerId="ADAL" clId="{8FF7FA79-1A9E-43D8-8680-A0E12C7F14EF}" dt="2024-05-15T14:21:30.122" v="3325" actId="20577"/>
        <pc:sldMkLst>
          <pc:docMk/>
          <pc:sldMk cId="3809424026" sldId="455"/>
        </pc:sldMkLst>
      </pc:sldChg>
    </pc:docChg>
  </pc:docChgLst>
  <pc:docChgLst>
    <pc:chgData name="Clay, Danielle" userId="1c1fd065-096d-4aa2-a3c6-f86dfeea0561" providerId="ADAL" clId="{4A4F13BF-07BF-43A8-8FA0-34FE419EB1F1}"/>
    <pc:docChg chg="modSld">
      <pc:chgData name="Clay, Danielle" userId="1c1fd065-096d-4aa2-a3c6-f86dfeea0561" providerId="ADAL" clId="{4A4F13BF-07BF-43A8-8FA0-34FE419EB1F1}" dt="2024-01-24T14:07:22.300" v="4" actId="729"/>
      <pc:docMkLst>
        <pc:docMk/>
      </pc:docMkLst>
      <pc:sldChg chg="mod modShow">
        <pc:chgData name="Clay, Danielle" userId="1c1fd065-096d-4aa2-a3c6-f86dfeea0561" providerId="ADAL" clId="{4A4F13BF-07BF-43A8-8FA0-34FE419EB1F1}" dt="2024-01-24T14:02:38.353" v="0" actId="729"/>
        <pc:sldMkLst>
          <pc:docMk/>
          <pc:sldMk cId="1228754750" sldId="379"/>
        </pc:sldMkLst>
      </pc:sldChg>
      <pc:sldChg chg="mod modShow">
        <pc:chgData name="Clay, Danielle" userId="1c1fd065-096d-4aa2-a3c6-f86dfeea0561" providerId="ADAL" clId="{4A4F13BF-07BF-43A8-8FA0-34FE419EB1F1}" dt="2024-01-24T14:03:06.357" v="1" actId="729"/>
        <pc:sldMkLst>
          <pc:docMk/>
          <pc:sldMk cId="3444111811" sldId="386"/>
        </pc:sldMkLst>
      </pc:sldChg>
      <pc:sldChg chg="mod modShow">
        <pc:chgData name="Clay, Danielle" userId="1c1fd065-096d-4aa2-a3c6-f86dfeea0561" providerId="ADAL" clId="{4A4F13BF-07BF-43A8-8FA0-34FE419EB1F1}" dt="2024-01-24T14:06:25.533" v="2" actId="729"/>
        <pc:sldMkLst>
          <pc:docMk/>
          <pc:sldMk cId="3334901044" sldId="424"/>
        </pc:sldMkLst>
      </pc:sldChg>
      <pc:sldChg chg="mod modShow">
        <pc:chgData name="Clay, Danielle" userId="1c1fd065-096d-4aa2-a3c6-f86dfeea0561" providerId="ADAL" clId="{4A4F13BF-07BF-43A8-8FA0-34FE419EB1F1}" dt="2024-01-24T14:06:40.488" v="3" actId="729"/>
        <pc:sldMkLst>
          <pc:docMk/>
          <pc:sldMk cId="2251840375" sldId="425"/>
        </pc:sldMkLst>
      </pc:sldChg>
      <pc:sldChg chg="mod modShow">
        <pc:chgData name="Clay, Danielle" userId="1c1fd065-096d-4aa2-a3c6-f86dfeea0561" providerId="ADAL" clId="{4A4F13BF-07BF-43A8-8FA0-34FE419EB1F1}" dt="2024-01-24T14:07:22.300" v="4" actId="729"/>
        <pc:sldMkLst>
          <pc:docMk/>
          <pc:sldMk cId="240052351" sldId="44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435"/>
          </a:xfrm>
          <a:prstGeom prst="rect">
            <a:avLst/>
          </a:prstGeom>
        </p:spPr>
        <p:txBody>
          <a:bodyPr vert="horz" lIns="92307" tIns="46153" rIns="92307" bIns="46153" rtlCol="0"/>
          <a:lstStyle>
            <a:lvl1pPr algn="l">
              <a:defRPr sz="1200"/>
            </a:lvl1pPr>
          </a:lstStyle>
          <a:p>
            <a:endParaRPr lang="en-US"/>
          </a:p>
        </p:txBody>
      </p:sp>
      <p:sp>
        <p:nvSpPr>
          <p:cNvPr id="3" name="Date Placeholder 2"/>
          <p:cNvSpPr>
            <a:spLocks noGrp="1"/>
          </p:cNvSpPr>
          <p:nvPr>
            <p:ph type="dt" sz="quarter" idx="1"/>
          </p:nvPr>
        </p:nvSpPr>
        <p:spPr>
          <a:xfrm>
            <a:off x="3884614" y="0"/>
            <a:ext cx="2971800" cy="466435"/>
          </a:xfrm>
          <a:prstGeom prst="rect">
            <a:avLst/>
          </a:prstGeom>
        </p:spPr>
        <p:txBody>
          <a:bodyPr vert="horz" lIns="92307" tIns="46153" rIns="92307" bIns="46153" rtlCol="0"/>
          <a:lstStyle>
            <a:lvl1pPr algn="r">
              <a:defRPr sz="1200"/>
            </a:lvl1pPr>
          </a:lstStyle>
          <a:p>
            <a:fld id="{A3520966-2FE3-42BA-BE7E-30B119119493}" type="datetimeFigureOut">
              <a:rPr lang="en-US" smtClean="0"/>
              <a:t>12/18/2024</a:t>
            </a:fld>
            <a:endParaRPr lang="en-US"/>
          </a:p>
        </p:txBody>
      </p:sp>
      <p:sp>
        <p:nvSpPr>
          <p:cNvPr id="4" name="Footer Placeholder 3"/>
          <p:cNvSpPr>
            <a:spLocks noGrp="1"/>
          </p:cNvSpPr>
          <p:nvPr>
            <p:ph type="ftr" sz="quarter" idx="2"/>
          </p:nvPr>
        </p:nvSpPr>
        <p:spPr>
          <a:xfrm>
            <a:off x="0" y="8829968"/>
            <a:ext cx="2971800" cy="466434"/>
          </a:xfrm>
          <a:prstGeom prst="rect">
            <a:avLst/>
          </a:prstGeom>
        </p:spPr>
        <p:txBody>
          <a:bodyPr vert="horz" lIns="92307" tIns="46153" rIns="92307" bIns="46153" rtlCol="0" anchor="b"/>
          <a:lstStyle>
            <a:lvl1pPr algn="l">
              <a:defRPr sz="1200"/>
            </a:lvl1pPr>
          </a:lstStyle>
          <a:p>
            <a:endParaRPr lang="en-US"/>
          </a:p>
        </p:txBody>
      </p:sp>
      <p:sp>
        <p:nvSpPr>
          <p:cNvPr id="5" name="Slide Number Placeholder 4"/>
          <p:cNvSpPr>
            <a:spLocks noGrp="1"/>
          </p:cNvSpPr>
          <p:nvPr>
            <p:ph type="sldNum" sz="quarter" idx="3"/>
          </p:nvPr>
        </p:nvSpPr>
        <p:spPr>
          <a:xfrm>
            <a:off x="3884614" y="8829968"/>
            <a:ext cx="2971800" cy="466434"/>
          </a:xfrm>
          <a:prstGeom prst="rect">
            <a:avLst/>
          </a:prstGeom>
        </p:spPr>
        <p:txBody>
          <a:bodyPr vert="horz" lIns="92307" tIns="46153" rIns="92307" bIns="46153" rtlCol="0" anchor="b"/>
          <a:lstStyle>
            <a:lvl1pPr algn="r">
              <a:defRPr sz="1200"/>
            </a:lvl1pPr>
          </a:lstStyle>
          <a:p>
            <a:fld id="{BBAC789F-7223-4774-AE78-9B91639D602C}" type="slidenum">
              <a:rPr lang="en-US" smtClean="0"/>
              <a:t>‹#›</a:t>
            </a:fld>
            <a:endParaRPr lang="en-US"/>
          </a:p>
        </p:txBody>
      </p:sp>
    </p:spTree>
    <p:extLst>
      <p:ext uri="{BB962C8B-B14F-4D97-AF65-F5344CB8AC3E}">
        <p14:creationId xmlns:p14="http://schemas.microsoft.com/office/powerpoint/2010/main" val="31579571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6435"/>
          </a:xfrm>
          <a:prstGeom prst="rect">
            <a:avLst/>
          </a:prstGeom>
        </p:spPr>
        <p:txBody>
          <a:bodyPr vert="horz" lIns="92307" tIns="46153" rIns="92307" bIns="46153" rtlCol="0"/>
          <a:lstStyle>
            <a:lvl1pPr algn="l">
              <a:defRPr sz="1200"/>
            </a:lvl1pPr>
          </a:lstStyle>
          <a:p>
            <a:endParaRPr lang="en-US"/>
          </a:p>
        </p:txBody>
      </p:sp>
      <p:sp>
        <p:nvSpPr>
          <p:cNvPr id="3" name="Date Placeholder 2"/>
          <p:cNvSpPr>
            <a:spLocks noGrp="1"/>
          </p:cNvSpPr>
          <p:nvPr>
            <p:ph type="dt" idx="1"/>
          </p:nvPr>
        </p:nvSpPr>
        <p:spPr>
          <a:xfrm>
            <a:off x="3884614" y="0"/>
            <a:ext cx="2971800" cy="466435"/>
          </a:xfrm>
          <a:prstGeom prst="rect">
            <a:avLst/>
          </a:prstGeom>
        </p:spPr>
        <p:txBody>
          <a:bodyPr vert="horz" lIns="92307" tIns="46153" rIns="92307" bIns="46153" rtlCol="0"/>
          <a:lstStyle>
            <a:lvl1pPr algn="r">
              <a:defRPr sz="1200"/>
            </a:lvl1pPr>
          </a:lstStyle>
          <a:p>
            <a:fld id="{590BD5E1-7DBE-4DEA-968C-51C154CA2A22}" type="datetimeFigureOut">
              <a:rPr lang="en-US" smtClean="0"/>
              <a:t>12/18/2024</a:t>
            </a:fld>
            <a:endParaRPr lang="en-US"/>
          </a:p>
        </p:txBody>
      </p:sp>
      <p:sp>
        <p:nvSpPr>
          <p:cNvPr id="4" name="Slide Image Placeholder 3"/>
          <p:cNvSpPr>
            <a:spLocks noGrp="1" noRot="1" noChangeAspect="1"/>
          </p:cNvSpPr>
          <p:nvPr>
            <p:ph type="sldImg" idx="2"/>
          </p:nvPr>
        </p:nvSpPr>
        <p:spPr>
          <a:xfrm>
            <a:off x="641350" y="1162050"/>
            <a:ext cx="5575300" cy="3136900"/>
          </a:xfrm>
          <a:prstGeom prst="rect">
            <a:avLst/>
          </a:prstGeom>
          <a:noFill/>
          <a:ln w="12700">
            <a:solidFill>
              <a:prstClr val="black"/>
            </a:solidFill>
          </a:ln>
        </p:spPr>
        <p:txBody>
          <a:bodyPr vert="horz" lIns="92307" tIns="46153" rIns="92307" bIns="46153" rtlCol="0" anchor="ctr"/>
          <a:lstStyle/>
          <a:p>
            <a:endParaRPr lang="en-US"/>
          </a:p>
        </p:txBody>
      </p:sp>
      <p:sp>
        <p:nvSpPr>
          <p:cNvPr id="5" name="Notes Placeholder 4"/>
          <p:cNvSpPr>
            <a:spLocks noGrp="1"/>
          </p:cNvSpPr>
          <p:nvPr>
            <p:ph type="body" sz="quarter" idx="3"/>
          </p:nvPr>
        </p:nvSpPr>
        <p:spPr>
          <a:xfrm>
            <a:off x="685800" y="4473892"/>
            <a:ext cx="5486400" cy="3660457"/>
          </a:xfrm>
          <a:prstGeom prst="rect">
            <a:avLst/>
          </a:prstGeom>
        </p:spPr>
        <p:txBody>
          <a:bodyPr vert="horz" lIns="92307" tIns="46153" rIns="92307" bIns="4615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2971800" cy="466434"/>
          </a:xfrm>
          <a:prstGeom prst="rect">
            <a:avLst/>
          </a:prstGeom>
        </p:spPr>
        <p:txBody>
          <a:bodyPr vert="horz" lIns="92307" tIns="46153" rIns="92307" bIns="46153" rtlCol="0" anchor="b"/>
          <a:lstStyle>
            <a:lvl1pPr algn="l">
              <a:defRPr sz="1200"/>
            </a:lvl1pPr>
          </a:lstStyle>
          <a:p>
            <a:endParaRPr lang="en-US"/>
          </a:p>
        </p:txBody>
      </p:sp>
      <p:sp>
        <p:nvSpPr>
          <p:cNvPr id="7" name="Slide Number Placeholder 6"/>
          <p:cNvSpPr>
            <a:spLocks noGrp="1"/>
          </p:cNvSpPr>
          <p:nvPr>
            <p:ph type="sldNum" sz="quarter" idx="5"/>
          </p:nvPr>
        </p:nvSpPr>
        <p:spPr>
          <a:xfrm>
            <a:off x="3884614" y="8829968"/>
            <a:ext cx="2971800" cy="466434"/>
          </a:xfrm>
          <a:prstGeom prst="rect">
            <a:avLst/>
          </a:prstGeom>
        </p:spPr>
        <p:txBody>
          <a:bodyPr vert="horz" lIns="92307" tIns="46153" rIns="92307" bIns="46153" rtlCol="0" anchor="b"/>
          <a:lstStyle>
            <a:lvl1pPr algn="r">
              <a:defRPr sz="1200"/>
            </a:lvl1pPr>
          </a:lstStyle>
          <a:p>
            <a:fld id="{F4040674-3134-47DD-9E37-B63AC38E3A1A}" type="slidenum">
              <a:rPr lang="en-US" smtClean="0"/>
              <a:t>‹#›</a:t>
            </a:fld>
            <a:endParaRPr lang="en-US"/>
          </a:p>
        </p:txBody>
      </p:sp>
    </p:spTree>
    <p:extLst>
      <p:ext uri="{BB962C8B-B14F-4D97-AF65-F5344CB8AC3E}">
        <p14:creationId xmlns:p14="http://schemas.microsoft.com/office/powerpoint/2010/main" val="260527548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 am not an expert in Medicare or Medicaid; but, I will do my best to go over the basics. </a:t>
            </a:r>
          </a:p>
          <a:p>
            <a:pPr marL="171450" indent="-171450">
              <a:buFont typeface="Arial" panose="020B0604020202020204" pitchFamily="34" charset="0"/>
              <a:buChar char="•"/>
            </a:pPr>
            <a:r>
              <a:rPr lang="en-US" dirty="0"/>
              <a:t>Also, you do not have to be an expert. If there are questions, refer people to </a:t>
            </a:r>
            <a:r>
              <a:rPr lang="en-US" b="0" i="0" dirty="0">
                <a:solidFill>
                  <a:srgbClr val="040C28"/>
                </a:solidFill>
                <a:effectLst/>
                <a:latin typeface="Google Sans"/>
              </a:rPr>
              <a:t>OSHIPP (Ohio Senior Health Insurance Information Program) for Medicare or </a:t>
            </a:r>
            <a:r>
              <a:rPr lang="en-US" dirty="0"/>
              <a:t>the Ohio Department of Medicaid Hotline at 1-</a:t>
            </a:r>
            <a:r>
              <a:rPr lang="en-US" b="0" i="0" dirty="0">
                <a:solidFill>
                  <a:srgbClr val="040C28"/>
                </a:solidFill>
                <a:effectLst/>
                <a:latin typeface="Google Sans"/>
              </a:rPr>
              <a:t>800-324-8680.</a:t>
            </a:r>
            <a:endParaRPr lang="en-US" dirty="0"/>
          </a:p>
          <a:p>
            <a:pPr marL="171450" indent="-171450">
              <a:buFont typeface="Arial" panose="020B0604020202020204" pitchFamily="34" charset="0"/>
              <a:buChar char="•"/>
            </a:pPr>
            <a:r>
              <a:rPr lang="en-US" dirty="0"/>
              <a:t>In our agency, the Medicaid experts are in The Business Operations Department.</a:t>
            </a:r>
          </a:p>
          <a:p>
            <a:pPr marL="171450" indent="-171450">
              <a:buFont typeface="Arial" panose="020B0604020202020204" pitchFamily="34" charset="0"/>
              <a:buChar char="•"/>
            </a:pPr>
            <a:r>
              <a:rPr lang="en-US" dirty="0"/>
              <a:t>This department checks every consumer’s Medicaid status each month to ensure they are still eligible for our programs.</a:t>
            </a:r>
          </a:p>
        </p:txBody>
      </p:sp>
    </p:spTree>
    <p:extLst>
      <p:ext uri="{BB962C8B-B14F-4D97-AF65-F5344CB8AC3E}">
        <p14:creationId xmlns:p14="http://schemas.microsoft.com/office/powerpoint/2010/main" val="30233318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r>
              <a:rPr lang="en-US" dirty="0"/>
              <a:t>Vested in Social Security means they have paid into the Social Security system. </a:t>
            </a:r>
          </a:p>
          <a:p>
            <a:pPr marL="171450" indent="-171450">
              <a:buFont typeface="Arial" panose="020B0604020202020204" pitchFamily="34" charset="0"/>
              <a:buChar char="•"/>
            </a:pPr>
            <a:r>
              <a:rPr lang="en-US" dirty="0"/>
              <a:t>A person is determined to be disabled if they receive Social Security Disability Income for more than 24 months.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CMS stands for “Centers for Medicare and Medicaid Services.” You will hear more about CMS later this week when you complete a Medicare fraud training.</a:t>
            </a:r>
          </a:p>
          <a:p>
            <a:endParaRPr lang="en-US" dirty="0"/>
          </a:p>
        </p:txBody>
      </p:sp>
    </p:spTree>
    <p:extLst>
      <p:ext uri="{BB962C8B-B14F-4D97-AF65-F5344CB8AC3E}">
        <p14:creationId xmlns:p14="http://schemas.microsoft.com/office/powerpoint/2010/main" val="4046588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Read these bullet points, not the slide.</a:t>
            </a:r>
          </a:p>
          <a:p>
            <a:pPr marL="171450" indent="-171450">
              <a:buFont typeface="Arial" panose="020B0604020202020204" pitchFamily="34" charset="0"/>
              <a:buChar char="•"/>
            </a:pPr>
            <a:r>
              <a:rPr lang="en-US" dirty="0"/>
              <a:t>There are different parts of Medicare. You may have heard of these: Part A, Part B, Part C, etc.</a:t>
            </a:r>
          </a:p>
          <a:p>
            <a:pPr marL="171450" indent="-171450">
              <a:buFont typeface="Arial" panose="020B0604020202020204" pitchFamily="34" charset="0"/>
              <a:buChar char="•"/>
            </a:pPr>
            <a:r>
              <a:rPr lang="en-US" dirty="0"/>
              <a:t>Part “A” is Hospitalization – This covers inpatient services and hospice services</a:t>
            </a:r>
          </a:p>
          <a:p>
            <a:pPr marL="171450" indent="-171450">
              <a:buFont typeface="Arial" panose="020B0604020202020204" pitchFamily="34" charset="0"/>
              <a:buChar char="•"/>
            </a:pPr>
            <a:r>
              <a:rPr lang="en-US" dirty="0"/>
              <a:t>Part “B” is Medical coverage – It includes outpatient services and preventative services</a:t>
            </a:r>
          </a:p>
          <a:p>
            <a:pPr marL="171450" indent="-171450">
              <a:buFont typeface="Arial" panose="020B0604020202020204" pitchFamily="34" charset="0"/>
              <a:buChar char="•"/>
            </a:pPr>
            <a:r>
              <a:rPr lang="en-US" dirty="0"/>
              <a:t>Part “C” is known as an Advantage Plan, these are plans offered by private companies that have been approved by Medicare.</a:t>
            </a:r>
          </a:p>
          <a:p>
            <a:pPr marL="171450" indent="-171450">
              <a:buFont typeface="Arial" panose="020B0604020202020204" pitchFamily="34" charset="0"/>
              <a:buChar char="•"/>
            </a:pPr>
            <a:r>
              <a:rPr lang="en-US" dirty="0"/>
              <a:t>Part “D” is prescription drug coverage.</a:t>
            </a:r>
          </a:p>
          <a:p>
            <a:pPr marL="171450" indent="-171450">
              <a:buFont typeface="Arial" panose="020B0604020202020204" pitchFamily="34" charset="0"/>
              <a:buChar char="•"/>
            </a:pPr>
            <a:r>
              <a:rPr lang="en-US" b="1" dirty="0"/>
              <a:t>There are two ways people commonly receive Medicare: </a:t>
            </a:r>
            <a:r>
              <a:rPr lang="en-US" b="1" dirty="0">
                <a:solidFill>
                  <a:srgbClr val="B0D67E"/>
                </a:solidFill>
              </a:rPr>
              <a:t>Parts A, B, and D</a:t>
            </a:r>
            <a:r>
              <a:rPr lang="en-US" b="1" dirty="0">
                <a:solidFill>
                  <a:srgbClr val="FF0000"/>
                </a:solidFill>
              </a:rPr>
              <a:t> </a:t>
            </a:r>
            <a:r>
              <a:rPr lang="en-US" b="1" u="sng" dirty="0"/>
              <a:t>or</a:t>
            </a:r>
            <a:r>
              <a:rPr lang="en-US" b="1" dirty="0"/>
              <a:t> Part C (an Advantage plan) only.</a:t>
            </a:r>
          </a:p>
          <a:p>
            <a:endParaRPr lang="en-US" dirty="0"/>
          </a:p>
        </p:txBody>
      </p:sp>
    </p:spTree>
    <p:extLst>
      <p:ext uri="{BB962C8B-B14F-4D97-AF65-F5344CB8AC3E}">
        <p14:creationId xmlns:p14="http://schemas.microsoft.com/office/powerpoint/2010/main" val="2206747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Aft>
                <a:spcPts val="800"/>
              </a:spcAft>
              <a:buFont typeface="Arial" panose="020B0604020202020204" pitchFamily="34" charset="0"/>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you can see the two ways that people most commonly receive their Medicare:</a:t>
            </a:r>
          </a:p>
          <a:p>
            <a:pPr marL="0" marR="0" lvl="0" indent="0">
              <a:lnSpc>
                <a:spcPct val="107000"/>
              </a:lnSpc>
              <a:spcAft>
                <a:spcPts val="800"/>
              </a:spcAft>
              <a:buFont typeface="Arial" panose="020B0604020202020204" pitchFamily="34" charset="0"/>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Arial" panose="020B0604020202020204" pitchFamily="34" charset="0"/>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Option 1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is having Parts A (hospitalization) and B (Medical). They may have a secondary insurance to help pay what Medicare doesn’t pay, and then Part D (prescription coverage)</a:t>
            </a:r>
          </a:p>
          <a:p>
            <a:pPr marL="0" marR="0" lvl="0" indent="0">
              <a:lnSpc>
                <a:spcPct val="107000"/>
              </a:lnSpc>
              <a:spcAft>
                <a:spcPts val="800"/>
              </a:spcAft>
              <a:buFont typeface="Arial" panose="020B0604020202020204" pitchFamily="34" charset="0"/>
              <a:buNone/>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Option 2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is having Part C – a Medicare Advantage Plan that covers everything – the hospitalization part, the medical part, and the prescription drug part. </a:t>
            </a:r>
          </a:p>
          <a:p>
            <a:pPr marL="0" marR="0" lvl="0" indent="0">
              <a:lnSpc>
                <a:spcPct val="107000"/>
              </a:lnSpc>
              <a:spcAft>
                <a:spcPts val="800"/>
              </a:spcAft>
              <a:buFont typeface="Arial" panose="020B0604020202020204" pitchFamily="34" charset="0"/>
              <a:buNone/>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With original Medicare (Option 1) you have more freedom and flexibility. There is no network of doctors. You can go to any doctor or hospital in the country.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Medicare Advantage plan (Option 2) is when you choose an insurance carrier in which your Medicare services are bundled together. It is through an insurance company, and you have to stay within their network of doctors, specialties and hospitals.</a:t>
            </a:r>
          </a:p>
          <a:p>
            <a:endParaRPr lang="en-US" dirty="0"/>
          </a:p>
        </p:txBody>
      </p:sp>
    </p:spTree>
    <p:extLst>
      <p:ext uri="{BB962C8B-B14F-4D97-AF65-F5344CB8AC3E}">
        <p14:creationId xmlns:p14="http://schemas.microsoft.com/office/powerpoint/2010/main" val="406755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Questions – Refer people to</a:t>
            </a:r>
            <a:r>
              <a:rPr lang="en-US" dirty="0"/>
              <a:t>: https://www.medicare.gov/coverage/inpatient-hospital-care</a:t>
            </a:r>
          </a:p>
          <a:p>
            <a:pPr marL="0" indent="0">
              <a:buFont typeface="Arial" panose="020B0604020202020204" pitchFamily="34" charset="0"/>
              <a:buNone/>
            </a:pPr>
            <a:endParaRPr lang="en-US" dirty="0"/>
          </a:p>
          <a:p>
            <a:pPr marL="0" indent="0">
              <a:buFont typeface="Arial" panose="020B0604020202020204" pitchFamily="34" charset="0"/>
              <a:buNone/>
            </a:pPr>
            <a:r>
              <a:rPr lang="en-US" b="1" dirty="0"/>
              <a:t>Let’s quickly look at what Part A covers.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 terms of hospital stays:</a:t>
            </a:r>
          </a:p>
          <a:p>
            <a:pPr marL="171450" indent="-171450">
              <a:buFont typeface="Arial" panose="020B0604020202020204" pitchFamily="34" charset="0"/>
              <a:buChar char="•"/>
            </a:pPr>
            <a:r>
              <a:rPr lang="en-US" dirty="0"/>
              <a:t>For Days 1 through 60 in the hospital, your initial deductible will be $1,632. There are no additional costs if you stay between 1 and 60 days. However, </a:t>
            </a:r>
            <a:r>
              <a:rPr lang="en-US" sz="1800" kern="100" dirty="0">
                <a:effectLst/>
                <a:latin typeface="Aptos" panose="020B0004020202020204" pitchFamily="34" charset="0"/>
                <a:cs typeface="Times New Roman" panose="02020603050405020304" pitchFamily="18" charset="0"/>
              </a:rPr>
              <a:t>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here are some additional out-of-pocket costs after that, if your stay extends past 60 days.</a:t>
            </a:r>
          </a:p>
          <a:p>
            <a:pPr marL="171450" indent="-171450">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Days 61 – 90 have an out-of-pocket cost of $408 in 2024 or $419 in 2025</a:t>
            </a:r>
          </a:p>
          <a:p>
            <a:pPr marL="171450" indent="-171450">
              <a:buFont typeface="Arial" panose="020B0604020202020204" pitchFamily="34" charset="0"/>
              <a:buChar char="•"/>
            </a:pPr>
            <a:r>
              <a:rPr lang="en-US" sz="1800" strike="sngStrike" kern="100" dirty="0">
                <a:effectLst/>
                <a:latin typeface="Aptos" panose="020B0004020202020204" pitchFamily="34" charset="0"/>
                <a:ea typeface="Aptos" panose="020B0004020202020204" pitchFamily="34" charset="0"/>
                <a:cs typeface="Times New Roman" panose="02020603050405020304" pitchFamily="18" charset="0"/>
              </a:rPr>
              <a:t>After 90 says, the out-of-pocket cost is $816 or $838 in 2025.</a:t>
            </a:r>
          </a:p>
          <a:p>
            <a:pPr marL="171450" indent="-171450">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Medicare will cover up to up to 90 days for each benefit period in a general hospital, plus 60 lifetime days. This means that once you are admitted, you have 90 days of covered care before any additional costs apply. Once you are out of the hospital for 60 consecutive days, the benefit period will reset.</a:t>
            </a:r>
          </a:p>
          <a:p>
            <a:pPr marL="171450" indent="-171450">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Medicare pays the hospital a set amount for a diagnosis regardless of how long you spend in the facility.</a:t>
            </a:r>
          </a:p>
          <a:p>
            <a:pPr marL="171450" indent="-171450">
              <a:buFont typeface="Arial" panose="020B0604020202020204" pitchFamily="34" charset="0"/>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You are also covered for a post-hospital stay at a skilled nursing facility for up to 100 days after a minimum of a 3-day stay in a general hospital. You do have to show progress to remain in the skilled nursing facility.</a:t>
            </a:r>
          </a:p>
          <a:p>
            <a:pPr marL="171450" indent="-171450">
              <a:buFont typeface="Arial" panose="020B0604020202020204" pitchFamily="34" charset="0"/>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b="1" strike="sngStrike" kern="100" dirty="0">
                <a:effectLst/>
                <a:latin typeface="Aptos" panose="020B0004020202020204" pitchFamily="34" charset="0"/>
                <a:ea typeface="Aptos" panose="020B0004020202020204" pitchFamily="34" charset="0"/>
                <a:cs typeface="Times New Roman" panose="02020603050405020304" pitchFamily="18" charset="0"/>
              </a:rPr>
              <a:t>About Medicare Eligibility:</a:t>
            </a:r>
          </a:p>
          <a:p>
            <a:pPr marL="0" marR="0">
              <a:lnSpc>
                <a:spcPct val="107000"/>
              </a:lnSpc>
              <a:spcAft>
                <a:spcPts val="800"/>
              </a:spcAft>
            </a:pPr>
            <a:endParaRPr lang="en-US" sz="1800" strike="sngStrike"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strike="sngStrike" kern="100" dirty="0">
                <a:effectLst/>
                <a:latin typeface="Aptos" panose="020B0004020202020204" pitchFamily="34" charset="0"/>
                <a:ea typeface="Aptos" panose="020B0004020202020204" pitchFamily="34" charset="0"/>
                <a:cs typeface="Times New Roman" panose="02020603050405020304" pitchFamily="18" charset="0"/>
              </a:rPr>
              <a:t>Eligibility is automatic at age 65, if a person has paid into Social Security. This means 40 quarters of qualifying employment throughout a career.</a:t>
            </a:r>
          </a:p>
          <a:p>
            <a:pPr marL="342900" marR="0" lvl="0" indent="-342900">
              <a:lnSpc>
                <a:spcPct val="107000"/>
              </a:lnSpc>
              <a:spcAft>
                <a:spcPts val="800"/>
              </a:spcAft>
              <a:buFont typeface="Arial" panose="020B0604020202020204" pitchFamily="34" charset="0"/>
              <a:buChar char="•"/>
              <a:tabLst>
                <a:tab pos="457200" algn="l"/>
              </a:tabLst>
            </a:pPr>
            <a:r>
              <a:rPr lang="en-US" sz="1800" strike="sngStrike" kern="100" dirty="0">
                <a:effectLst/>
                <a:latin typeface="Aptos" panose="020B0004020202020204" pitchFamily="34" charset="0"/>
                <a:ea typeface="Aptos" panose="020B0004020202020204" pitchFamily="34" charset="0"/>
                <a:cs typeface="Times New Roman" panose="02020603050405020304" pitchFamily="18" charset="0"/>
              </a:rPr>
              <a:t>You’re also eligible at any age if you’re determined to be disabled by social security.</a:t>
            </a:r>
          </a:p>
          <a:p>
            <a:pPr marL="171450" indent="-171450">
              <a:buFont typeface="Arial" panose="020B0604020202020204" pitchFamily="34" charset="0"/>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14904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Part A also covers:</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Some home health services in the home after a hospital stay, but the person must be considered homebound.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means they cannot leave to go to a facility to receive services (for example, physical therapy or occupational therapy).</a:t>
            </a:r>
          </a:p>
          <a:p>
            <a:pPr marL="342900" marR="0" lvl="0" indent="-342900">
              <a:lnSpc>
                <a:spcPct val="107000"/>
              </a:lnSpc>
              <a:spcAft>
                <a:spcPts val="800"/>
              </a:spcAft>
              <a:buFont typeface="Arial" panose="020B0604020202020204" pitchFamily="34" charset="0"/>
              <a:buChar char="•"/>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Part A also covers hospice care, which is pain relief and symptom management for terminally ill people. However, Part A will not pay for room and board at a hospice or nursing facility.  </a:t>
            </a:r>
          </a:p>
          <a:p>
            <a:endParaRPr lang="en-US" dirty="0"/>
          </a:p>
        </p:txBody>
      </p:sp>
    </p:spTree>
    <p:extLst>
      <p:ext uri="{BB962C8B-B14F-4D97-AF65-F5344CB8AC3E}">
        <p14:creationId xmlns:p14="http://schemas.microsoft.com/office/powerpoint/2010/main" val="2861659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Questions – Refer people to: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https://www.medicare.gov/coverage/inpatient-hospital-care</a:t>
            </a:r>
          </a:p>
          <a:p>
            <a:pPr marL="0" marR="0">
              <a:lnSpc>
                <a:spcPct val="107000"/>
              </a:lnSpc>
              <a:spcAft>
                <a:spcPts val="8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Medicare Part A – the hospitalization portion – does not have a monthly premium or cost.</a:t>
            </a:r>
          </a:p>
          <a:p>
            <a:pPr marL="45720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Hospital Stays:</a:t>
            </a: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First, there is a hospital deductible of $1,632 that needs to be paid for days 1 through 60.</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Once the deductible has been paid, days 1-60 have a $0 co-payment.</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you’re in the hospital more than 60 days, there is a co-payment of $408 per day</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Medicare only covers hospital stays up to 90 days, and after that, you draw upon something called lifetime reserve days</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you’re in the hospital more than 90 days, there is a co-payment of $816 per day for each “lifetime reserve day.” A person has up to 60 days over their lifetime. Beyond these 60 lifetime reserve days, an individual must pay all costs.</a:t>
            </a: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Skilled Nursing Facility Stays:</a:t>
            </a: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an individual goes into a skilled nursing facility after a hospital stay, days 1-20 have a $0 co-payment.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Days 21 through 100 have a $204 co-payment.</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lot of people choose to only stay for 20 days due to these costs; these add up quickly.</a:t>
            </a:r>
          </a:p>
          <a:p>
            <a:endParaRPr lang="en-US" dirty="0"/>
          </a:p>
        </p:txBody>
      </p:sp>
    </p:spTree>
    <p:extLst>
      <p:ext uri="{BB962C8B-B14F-4D97-AF65-F5344CB8AC3E}">
        <p14:creationId xmlns:p14="http://schemas.microsoft.com/office/powerpoint/2010/main" val="3744358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Part B is the medical coverage part of Medicare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Part B is voluntary; it has a monthly premium that individuals must pay of $174.70, which is taken directly from Social Security payments.</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you have Part B, it pays 80 percent of bills after a yearly deductible of $240.</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Part B covers doctor visits, outpatient care, medical services, durable medical equipment, and preventative benefits, such as counseling.</a:t>
            </a:r>
          </a:p>
          <a:p>
            <a:endParaRPr lang="en-US" dirty="0"/>
          </a:p>
        </p:txBody>
      </p:sp>
    </p:spTree>
    <p:extLst>
      <p:ext uri="{BB962C8B-B14F-4D97-AF65-F5344CB8AC3E}">
        <p14:creationId xmlns:p14="http://schemas.microsoft.com/office/powerpoint/2010/main" val="4122269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Out of pocket costs for Part B Include:</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monthly premium of $174.70 with an annual deductible of </a:t>
            </a:r>
            <a:r>
              <a:rPr lang="en-US" sz="1800" kern="100">
                <a:effectLst/>
                <a:latin typeface="Aptos" panose="020B0004020202020204" pitchFamily="34" charset="0"/>
                <a:ea typeface="Aptos" panose="020B0004020202020204" pitchFamily="34" charset="0"/>
                <a:cs typeface="Times New Roman" panose="02020603050405020304" pitchFamily="18" charset="0"/>
              </a:rPr>
              <a:t>$240</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An individual usually has a co-insurance, and costs associated with that.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Also, depending upon when they enroll, an individual might have a late enrollment penalty </a:t>
            </a:r>
            <a:r>
              <a:rPr lang="en-US" sz="1800" u="sng" kern="100" dirty="0">
                <a:effectLst/>
                <a:latin typeface="Aptos" panose="020B0004020202020204" pitchFamily="34" charset="0"/>
                <a:ea typeface="Aptos" panose="020B0004020202020204" pitchFamily="34" charset="0"/>
                <a:cs typeface="Times New Roman" panose="02020603050405020304" pitchFamily="18" charset="0"/>
              </a:rPr>
              <a:t>or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if they have a higher income an individual might pay more.</a:t>
            </a:r>
          </a:p>
          <a:p>
            <a:endParaRPr lang="en-US" dirty="0"/>
          </a:p>
        </p:txBody>
      </p:sp>
    </p:spTree>
    <p:extLst>
      <p:ext uri="{BB962C8B-B14F-4D97-AF65-F5344CB8AC3E}">
        <p14:creationId xmlns:p14="http://schemas.microsoft.com/office/powerpoint/2010/main" val="586900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are open enrollment periods for Medicare Parts A &amp; B. If an individual misses these enrollments, there can be penalties. </a:t>
            </a: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initial open enrollment period is 7 months around an individuals 65</a:t>
            </a:r>
            <a:r>
              <a:rPr lang="en-US" sz="1800" kern="100" baseline="30000" dirty="0">
                <a:effectLst/>
                <a:latin typeface="Aptos" panose="020B0004020202020204" pitchFamily="34" charset="0"/>
                <a:ea typeface="Aptos" panose="020B0004020202020204" pitchFamily="34" charset="0"/>
                <a:cs typeface="Times New Roman" panose="02020603050405020304" pitchFamily="18" charset="0"/>
              </a:rPr>
              <a:t>th</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birthday. This means 3 months before the birthday, the birthday month, and three months after the birthday.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is also a General open enrollment – this is if an individual didn’t apply when they were first eligible. An individual can apply January 1</a:t>
            </a:r>
            <a:r>
              <a:rPr lang="en-US" sz="1800" kern="100" baseline="30000" dirty="0">
                <a:effectLst/>
                <a:latin typeface="Aptos" panose="020B0004020202020204" pitchFamily="34" charset="0"/>
                <a:ea typeface="Aptos" panose="020B0004020202020204" pitchFamily="34" charset="0"/>
                <a:cs typeface="Times New Roman" panose="02020603050405020304" pitchFamily="18" charset="0"/>
              </a:rPr>
              <a:t>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through March 31</a:t>
            </a:r>
            <a:r>
              <a:rPr lang="en-US" sz="1800" kern="100" baseline="30000" dirty="0">
                <a:effectLst/>
                <a:latin typeface="Aptos" panose="020B0004020202020204" pitchFamily="34" charset="0"/>
                <a:ea typeface="Aptos" panose="020B0004020202020204" pitchFamily="34" charset="0"/>
                <a:cs typeface="Times New Roman" panose="02020603050405020304" pitchFamily="18" charset="0"/>
              </a:rPr>
              <a:t>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of each year, with coverage beginning on July 1</a:t>
            </a:r>
            <a:r>
              <a:rPr lang="en-US" sz="1800" kern="100" baseline="30000" dirty="0">
                <a:effectLst/>
                <a:latin typeface="Aptos" panose="020B0004020202020204" pitchFamily="34" charset="0"/>
                <a:ea typeface="Aptos" panose="020B0004020202020204" pitchFamily="34" charset="0"/>
                <a:cs typeface="Times New Roman" panose="02020603050405020304" pitchFamily="18" charset="0"/>
              </a:rPr>
              <a:t>st</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an individual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misses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their enrollment period and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applies after March 31st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they will have to wait until the next January to apply, and they won’t have coverage until the following July. They will also pay a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10 percent penalty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each year that they wait to apply.</a:t>
            </a:r>
          </a:p>
          <a:p>
            <a:endParaRPr lang="en-US" sz="1200" b="0" i="0" u="none" strike="noStrike" kern="1200" baseline="0" dirty="0">
              <a:solidFill>
                <a:schemeClr val="tx1"/>
              </a:solidFill>
              <a:latin typeface="+mn-lt"/>
              <a:ea typeface="+mn-ea"/>
              <a:cs typeface="+mn-cs"/>
            </a:endParaRPr>
          </a:p>
        </p:txBody>
      </p:sp>
    </p:spTree>
    <p:extLst>
      <p:ext uri="{BB962C8B-B14F-4D97-AF65-F5344CB8AC3E}">
        <p14:creationId xmlns:p14="http://schemas.microsoft.com/office/powerpoint/2010/main" val="3933387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is also a special enrollment period. </a:t>
            </a:r>
          </a:p>
          <a:p>
            <a:pPr marL="342900" marR="0" lvl="0" indent="-342900">
              <a:lnSpc>
                <a:spcPct val="107000"/>
              </a:lnSpc>
              <a:spcAft>
                <a:spcPts val="800"/>
              </a:spcAft>
              <a:buFont typeface="Arial" panose="020B0604020202020204" pitchFamily="34" charset="0"/>
              <a:buChar char="•"/>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Read slide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Clarify: This is for individuals that are currently covered by a health insurance plan. This comes into play when a person works past the age of 65 with an employer who provides health insurance or if they are covered under a spouse’s plan.</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93002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Bendex</a:t>
            </a:r>
            <a:r>
              <a:rPr lang="en-US" dirty="0"/>
              <a:t> is a beneficiary data exchange</a:t>
            </a:r>
          </a:p>
        </p:txBody>
      </p:sp>
    </p:spTree>
    <p:extLst>
      <p:ext uri="{BB962C8B-B14F-4D97-AF65-F5344CB8AC3E}">
        <p14:creationId xmlns:p14="http://schemas.microsoft.com/office/powerpoint/2010/main" val="366127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are some Medicare savings plans that are available to assist with out-of-pocket costs. Remember, there are monthly premiums with Part B, so it can be costly.</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are four levels of eligibility for the Medicare Savings Program.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Read slide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These plans are through the Ohio Department of Job and Family Services, so if someone is having difficulty paying their Medicare co-pays, it is best to refer them to ODJFS. Be very careful not to promise any help, but say that there might be a program that could help. </a:t>
            </a:r>
          </a:p>
        </p:txBody>
      </p:sp>
    </p:spTree>
    <p:extLst>
      <p:ext uri="{BB962C8B-B14F-4D97-AF65-F5344CB8AC3E}">
        <p14:creationId xmlns:p14="http://schemas.microsoft.com/office/powerpoint/2010/main" val="4204132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3651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Read Slide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It’s important that people really look carefully at the plans to make sure the drugs they need are covered. Also, some people are very loyal to a particular pharmacy, especially if they deliver. </a:t>
            </a:r>
          </a:p>
        </p:txBody>
      </p:sp>
    </p:spTree>
    <p:extLst>
      <p:ext uri="{BB962C8B-B14F-4D97-AF65-F5344CB8AC3E}">
        <p14:creationId xmlns:p14="http://schemas.microsoft.com/office/powerpoint/2010/main" val="2114549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Read Slide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Some people may think: I don’t need Part D -- I’m not taking any prescriptions –- but what happens if in three months they need to begin taking a medication?</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Now that person doesn’t have that coverage, and to get Part D they will have to pay an enrollment penalty and experience a waiting period before their coverage starts.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It can be better to sign up when you’re first eligible, even if you opt for a low-cost plan.</a:t>
            </a:r>
          </a:p>
        </p:txBody>
      </p:sp>
    </p:spTree>
    <p:extLst>
      <p:ext uri="{BB962C8B-B14F-4D97-AF65-F5344CB8AC3E}">
        <p14:creationId xmlns:p14="http://schemas.microsoft.com/office/powerpoint/2010/main" val="2521893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Read slide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Ask: Any questions?</a:t>
            </a:r>
          </a:p>
          <a:p>
            <a:endParaRPr lang="en-US" dirty="0"/>
          </a:p>
        </p:txBody>
      </p:sp>
    </p:spTree>
    <p:extLst>
      <p:ext uri="{BB962C8B-B14F-4D97-AF65-F5344CB8AC3E}">
        <p14:creationId xmlns:p14="http://schemas.microsoft.com/office/powerpoint/2010/main" val="523236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1" kern="1200" dirty="0">
                <a:solidFill>
                  <a:srgbClr val="000000"/>
                </a:solidFill>
                <a:effectLst/>
                <a:latin typeface="Calibri" panose="020F0502020204030204" pitchFamily="34" charset="0"/>
                <a:ea typeface="+mn-ea"/>
                <a:cs typeface="+mn-cs"/>
              </a:rPr>
              <a:t>Medicare Part D Costs: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800" kern="1200" dirty="0">
              <a:solidFill>
                <a:srgbClr val="000000"/>
              </a:solidFill>
              <a:effectLst/>
              <a:latin typeface="Calibri" panose="020F050202020403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rgbClr val="000000"/>
                </a:solidFill>
                <a:effectLst/>
                <a:latin typeface="Calibri" panose="020F0502020204030204" pitchFamily="34" charset="0"/>
                <a:ea typeface="+mn-ea"/>
                <a:cs typeface="+mn-cs"/>
              </a:rPr>
              <a:t>The average monthly premium is $55.00 with an annual deductible between $0 to $545. Remember, there are many plans, and the premiums and deductibles do fluctuate.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200" dirty="0">
              <a:solidFill>
                <a:srgbClr val="000000"/>
              </a:solidFill>
              <a:effectLst/>
              <a:latin typeface="Calibri" panose="020F0502020204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kern="1200" dirty="0">
                <a:solidFill>
                  <a:srgbClr val="000000"/>
                </a:solidFill>
                <a:effectLst/>
                <a:latin typeface="Calibri" panose="020F0502020204030204" pitchFamily="34" charset="0"/>
                <a:ea typeface="+mn-ea"/>
                <a:cs typeface="+mn-cs"/>
              </a:rPr>
              <a:t>There are some changes coming soon to Medicare Part 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200" dirty="0">
              <a:solidFill>
                <a:srgbClr val="000000"/>
              </a:solidFill>
              <a:effectLst/>
              <a:latin typeface="Calibri" panose="020F050202020403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rgbClr val="000000"/>
                </a:solidFill>
                <a:effectLst/>
                <a:latin typeface="Calibri" panose="020F0502020204030204" pitchFamily="34" charset="0"/>
                <a:ea typeface="+mn-ea"/>
                <a:cs typeface="+mn-cs"/>
              </a:rPr>
              <a:t>Through the end of 2024, there is a “donut” hole, where coverage exists, then stops, and then begin again. This will go away on Dec. 31,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800" kern="1200" dirty="0">
              <a:solidFill>
                <a:srgbClr val="000000"/>
              </a:solidFill>
              <a:effectLst/>
              <a:latin typeface="Calibri" panose="020F050202020403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i="0" dirty="0">
                <a:solidFill>
                  <a:srgbClr val="001D35"/>
                </a:solidFill>
                <a:effectLst/>
                <a:latin typeface="Google Sans"/>
              </a:rPr>
              <a:t>The catastrophic phase of Medicare Part D is </a:t>
            </a:r>
            <a:r>
              <a:rPr lang="en-US" sz="2800" dirty="0"/>
              <a:t>when a person's out-of-pocket spending on covered drugs reaches a certain threshold and they no longer have to pay for those drugs for the rest of the calendar year</a:t>
            </a:r>
            <a:r>
              <a:rPr lang="en-US" sz="2800" b="0" i="0" dirty="0">
                <a:solidFill>
                  <a:srgbClr val="001D35"/>
                </a:solidFill>
                <a:effectLst/>
                <a:latin typeface="Google Sans"/>
              </a:rPr>
              <a:t>. In 2024, this amount is $8,000.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b="0" i="0" kern="100" dirty="0">
              <a:solidFill>
                <a:srgbClr val="001D35"/>
              </a:solidFill>
              <a:effectLst/>
              <a:latin typeface="Google Sans"/>
              <a:ea typeface="Aptos" panose="020B000402020202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i="0" kern="100" dirty="0">
                <a:solidFill>
                  <a:srgbClr val="001D35"/>
                </a:solidFill>
                <a:effectLst/>
                <a:latin typeface="Google Sans"/>
                <a:ea typeface="Aptos" panose="020B0004020202020204" pitchFamily="34" charset="0"/>
                <a:cs typeface="Times New Roman" panose="02020603050405020304" pitchFamily="18" charset="0"/>
              </a:rPr>
              <a:t>In 2025, there is a $2,000 out-of-pocket cap on covered Part 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b="0" i="0" kern="100" dirty="0">
              <a:solidFill>
                <a:srgbClr val="001D35"/>
              </a:solidFill>
              <a:effectLst/>
              <a:latin typeface="Google Sans"/>
              <a:ea typeface="Aptos" panose="020B0004020202020204" pitchFamily="34" charset="0"/>
              <a:cs typeface="Times New Roman" panose="02020603050405020304" pitchFamily="18"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i="0" kern="100" dirty="0">
                <a:solidFill>
                  <a:srgbClr val="001D35"/>
                </a:solidFill>
                <a:effectLst/>
                <a:latin typeface="Google Sans"/>
                <a:ea typeface="Aptos" panose="020B0004020202020204" pitchFamily="34" charset="0"/>
                <a:cs typeface="Times New Roman" panose="02020603050405020304" pitchFamily="18" charset="0"/>
              </a:rPr>
              <a:t>Source: https://www.medicare.gov/drug-coverage-part-d/costs-for-medicare-drug-coverage/catastrophic-coverage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171450" indent="-171450" algn="l">
              <a:buFont typeface="Arial" panose="020B0604020202020204" pitchFamily="34" charset="0"/>
              <a:buChar char="•"/>
            </a:pPr>
            <a:endParaRPr lang="en-US" b="0" i="0" dirty="0">
              <a:solidFill>
                <a:srgbClr val="404040"/>
              </a:solidFill>
              <a:effectLst/>
              <a:latin typeface="Rubik"/>
            </a:endParaRPr>
          </a:p>
        </p:txBody>
      </p:sp>
    </p:spTree>
    <p:extLst>
      <p:ext uri="{BB962C8B-B14F-4D97-AF65-F5344CB8AC3E}">
        <p14:creationId xmlns:p14="http://schemas.microsoft.com/office/powerpoint/2010/main" val="24616270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You must stay enrolled for the calendar year, but you can join, switch, or drop Medicare drug plans if you:</a:t>
            </a:r>
          </a:p>
          <a:p>
            <a:pPr marL="0" indent="0">
              <a:buFont typeface="Arial" panose="020B0604020202020204" pitchFamily="34" charset="0"/>
              <a:buNone/>
            </a:pPr>
            <a:endParaRPr lang="en-US" dirty="0"/>
          </a:p>
          <a:p>
            <a:pPr marL="628650" lvl="1" indent="-171450">
              <a:buFont typeface="Arial" panose="020B0604020202020204" pitchFamily="34" charset="0"/>
              <a:buChar char="•"/>
            </a:pPr>
            <a:r>
              <a:rPr lang="en-US" dirty="0"/>
              <a:t>Move out your plan’s service area</a:t>
            </a:r>
          </a:p>
          <a:p>
            <a:pPr marL="628650" lvl="1" indent="-171450">
              <a:buFont typeface="Arial" panose="020B0604020202020204" pitchFamily="34" charset="0"/>
              <a:buChar char="•"/>
            </a:pPr>
            <a:r>
              <a:rPr lang="en-US" dirty="0"/>
              <a:t>Lose the prescription drug coverage you had under an employer’s plan</a:t>
            </a:r>
          </a:p>
          <a:p>
            <a:pPr marL="628650" lvl="1" indent="-171450">
              <a:buFont typeface="Arial" panose="020B0604020202020204" pitchFamily="34" charset="0"/>
              <a:buChar char="•"/>
            </a:pPr>
            <a:r>
              <a:rPr lang="en-US" dirty="0"/>
              <a:t>Live in a care facility, such as a nursing home.</a:t>
            </a:r>
          </a:p>
        </p:txBody>
      </p:sp>
    </p:spTree>
    <p:extLst>
      <p:ext uri="{BB962C8B-B14F-4D97-AF65-F5344CB8AC3E}">
        <p14:creationId xmlns:p14="http://schemas.microsoft.com/office/powerpoint/2010/main" val="1937304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Read slide</a:t>
            </a:r>
          </a:p>
          <a:p>
            <a:pPr marL="171450" indent="-171450">
              <a:buFont typeface="Arial" panose="020B0604020202020204" pitchFamily="34" charset="0"/>
              <a:buChar char="•"/>
            </a:pPr>
            <a:r>
              <a:rPr lang="en-US" dirty="0"/>
              <a:t>Extra help is a program through the Ohio Department of Job and Family Services, kind of like the Medicare Savings Plans for Part A &amp; B that we talked about earlier.</a:t>
            </a:r>
          </a:p>
          <a:p>
            <a:endParaRPr lang="en-US" dirty="0"/>
          </a:p>
        </p:txBody>
      </p:sp>
    </p:spTree>
    <p:extLst>
      <p:ext uri="{BB962C8B-B14F-4D97-AF65-F5344CB8AC3E}">
        <p14:creationId xmlns:p14="http://schemas.microsoft.com/office/powerpoint/2010/main" val="38609666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100" dirty="0">
                <a:latin typeface="Aptos" panose="020B0004020202020204" pitchFamily="34" charset="0"/>
              </a:rPr>
              <a:t>This is a list of things that traditional Medicare does not pay for:</a:t>
            </a:r>
          </a:p>
          <a:p>
            <a:pPr marL="0" indent="0">
              <a:buFont typeface="Arial" panose="020B0604020202020204" pitchFamily="34" charset="0"/>
              <a:buNone/>
            </a:pPr>
            <a:endParaRPr lang="en-US" sz="1100" dirty="0">
              <a:latin typeface="Aptos" panose="020B0004020202020204" pitchFamily="34" charset="0"/>
            </a:endParaRPr>
          </a:p>
          <a:p>
            <a:pPr marL="171450" indent="-171450">
              <a:buFont typeface="Arial" panose="020B0604020202020204" pitchFamily="34" charset="0"/>
              <a:buChar char="•"/>
            </a:pPr>
            <a:r>
              <a:rPr lang="en-US" sz="1100" b="1" dirty="0">
                <a:latin typeface="Aptos" panose="020B0004020202020204" pitchFamily="34" charset="0"/>
              </a:rPr>
              <a:t>Read slide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Aptos" panose="020B0004020202020204" pitchFamily="34" charset="0"/>
              </a:rPr>
              <a:t>Some</a:t>
            </a:r>
            <a:r>
              <a:rPr lang="en-US" sz="1100" baseline="0" dirty="0">
                <a:latin typeface="Aptos" panose="020B0004020202020204" pitchFamily="34" charset="0"/>
              </a:rPr>
              <a:t> Medicare Advantage plans include dental and vision. Also, a supplement plans will give you a fixed benefit for out-of-country coverage.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aseline="0" dirty="0">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100" baseline="0" dirty="0">
              <a:latin typeface="Aptos" panose="020B00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i="0" u="sng" dirty="0">
                <a:solidFill>
                  <a:srgbClr val="000000"/>
                </a:solidFill>
                <a:effectLst/>
                <a:latin typeface="Aptos" panose="020B0004020202020204" pitchFamily="34" charset="0"/>
              </a:rPr>
              <a:t>Medicare Part B (Medical Insurance)</a:t>
            </a:r>
            <a:r>
              <a:rPr lang="en-US" sz="1100" b="0" i="0" u="sng" dirty="0">
                <a:solidFill>
                  <a:srgbClr val="404040"/>
                </a:solidFill>
                <a:effectLst/>
                <a:latin typeface="Aptos" panose="020B0004020202020204" pitchFamily="34" charset="0"/>
              </a:rPr>
              <a:t>Part B covers certain doctors' services, outpatient care, medical supplies, and preventive services.</a:t>
            </a:r>
          </a:p>
          <a:p>
            <a:pPr algn="l"/>
            <a:r>
              <a:rPr lang="en-US" sz="1100" b="0" i="0" dirty="0">
                <a:solidFill>
                  <a:srgbClr val="404040"/>
                </a:solidFill>
                <a:effectLst/>
                <a:latin typeface="Aptos" panose="020B0004020202020204" pitchFamily="34" charset="0"/>
              </a:rPr>
              <a:t> covers podiatrist (foot doctor) foot exams or treatment if you have diabetes-related nerve damage, or need </a:t>
            </a:r>
            <a:r>
              <a:rPr lang="en-US" sz="1100" b="0" i="0" u="sng" dirty="0">
                <a:solidFill>
                  <a:srgbClr val="404040"/>
                </a:solidFill>
                <a:effectLst/>
                <a:latin typeface="Aptos" panose="020B0004020202020204" pitchFamily="34" charset="0"/>
              </a:rPr>
              <a:t>medically necessary</a:t>
            </a:r>
          </a:p>
          <a:p>
            <a:r>
              <a:rPr lang="en-US" sz="1100" b="0" i="0" dirty="0">
                <a:solidFill>
                  <a:srgbClr val="404040"/>
                </a:solidFill>
                <a:effectLst/>
                <a:latin typeface="Aptos" panose="020B0004020202020204" pitchFamily="34" charset="0"/>
              </a:rPr>
              <a:t> treatment for foot injuries or diseases (like hammer toe, bunion deformities, and heel spurs).</a:t>
            </a:r>
            <a:endParaRPr lang="en-US" sz="1100" dirty="0">
              <a:latin typeface="Aptos" panose="020B0004020202020204" pitchFamily="34" charset="0"/>
            </a:endParaRPr>
          </a:p>
          <a:p>
            <a:pPr marL="171450" indent="-171450">
              <a:buFont typeface="Arial" panose="020B0604020202020204" pitchFamily="34" charset="0"/>
              <a:buChar char="•"/>
            </a:pPr>
            <a:endParaRPr lang="en-US" sz="1100" dirty="0">
              <a:latin typeface="Aptos" panose="020B0004020202020204" pitchFamily="34" charset="0"/>
            </a:endParaRPr>
          </a:p>
          <a:p>
            <a:pPr marL="0" indent="0">
              <a:buFont typeface="Arial" panose="020B0604020202020204" pitchFamily="34" charset="0"/>
              <a:buNone/>
            </a:pPr>
            <a:endParaRPr lang="en-US" sz="1100" dirty="0">
              <a:latin typeface="Aptos" panose="020B0004020202020204" pitchFamily="34" charset="0"/>
            </a:endParaRPr>
          </a:p>
          <a:p>
            <a:pPr marL="171450" indent="-171450">
              <a:buFont typeface="Arial" panose="020B0604020202020204" pitchFamily="34" charset="0"/>
              <a:buChar char="•"/>
            </a:pPr>
            <a:r>
              <a:rPr lang="en-US" sz="1100" b="1" dirty="0">
                <a:latin typeface="Aptos" panose="020B0004020202020204" pitchFamily="34" charset="0"/>
              </a:rPr>
              <a:t>Only read if necessary: </a:t>
            </a:r>
            <a:r>
              <a:rPr lang="en-US" sz="1100" dirty="0">
                <a:latin typeface="Aptos" panose="020B0004020202020204" pitchFamily="34" charset="0"/>
              </a:rPr>
              <a:t>Clarification Medicare Part A will pay for skilled nursing services after a hospital stay (20 days for free), but not if a person wasn’t in the hospital and they’re just in a facility because they can’t remain safely in their home or community.</a:t>
            </a:r>
          </a:p>
          <a:p>
            <a:endParaRPr lang="en-US" sz="1100" dirty="0">
              <a:latin typeface="Aptos" panose="020B0004020202020204" pitchFamily="34" charset="0"/>
            </a:endParaRPr>
          </a:p>
          <a:p>
            <a:endParaRPr lang="en-US" sz="1100" dirty="0">
              <a:latin typeface="Aptos" panose="020B0004020202020204" pitchFamily="34" charset="0"/>
            </a:endParaRPr>
          </a:p>
          <a:p>
            <a:endParaRPr lang="en-US" sz="1100" baseline="0" dirty="0">
              <a:latin typeface="Aptos" panose="020B0004020202020204" pitchFamily="34" charset="0"/>
            </a:endParaRPr>
          </a:p>
        </p:txBody>
      </p:sp>
    </p:spTree>
    <p:extLst>
      <p:ext uri="{BB962C8B-B14F-4D97-AF65-F5344CB8AC3E}">
        <p14:creationId xmlns:p14="http://schemas.microsoft.com/office/powerpoint/2010/main" val="4169224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there are two ways people commonly get their Medicare: </a:t>
            </a:r>
          </a:p>
          <a:p>
            <a:endParaRPr lang="en-US" dirty="0"/>
          </a:p>
          <a:p>
            <a:pPr marL="171450" indent="-171450">
              <a:buFont typeface="Arial" panose="020B0604020202020204" pitchFamily="34" charset="0"/>
              <a:buChar char="•"/>
            </a:pPr>
            <a:r>
              <a:rPr lang="en-US" b="1" dirty="0"/>
              <a:t>Option 1 </a:t>
            </a:r>
            <a:r>
              <a:rPr lang="en-US" b="0" dirty="0"/>
              <a:t>is having Parts A (hospitalization) and B (Medical). They may have a secondary insurance to help pay what Medicare doesn’t pay, and then Part D (prescription coverage)</a:t>
            </a:r>
          </a:p>
          <a:p>
            <a:pPr marL="171450" indent="-171450">
              <a:buFont typeface="Arial" panose="020B0604020202020204" pitchFamily="34" charset="0"/>
              <a:buChar char="•"/>
            </a:pPr>
            <a:r>
              <a:rPr lang="en-US" b="1" dirty="0"/>
              <a:t>Option 2 </a:t>
            </a:r>
            <a:r>
              <a:rPr lang="en-US" b="0" dirty="0"/>
              <a:t>is having Part C – a Medicare Advantage Plan that covers everything – the hospitalization part, the medical part, and the prescription drug part. </a:t>
            </a:r>
          </a:p>
          <a:p>
            <a:pPr marL="171450" indent="-171450">
              <a:buFont typeface="Arial" panose="020B0604020202020204" pitchFamily="34" charset="0"/>
              <a:buChar char="•"/>
            </a:pPr>
            <a:r>
              <a:rPr lang="en-US" b="0" dirty="0"/>
              <a:t>Read slide</a:t>
            </a:r>
          </a:p>
          <a:p>
            <a:pPr marL="171450" indent="-171450">
              <a:buFont typeface="Arial" panose="020B0604020202020204" pitchFamily="34" charset="0"/>
              <a:buChar char="•"/>
            </a:pPr>
            <a:r>
              <a:rPr lang="en-US" b="0" dirty="0"/>
              <a:t>A lot of the time, these Advantage plans will provide more than what original Medicare cover. They can cover eye care or dental care that you don’t get under traditional Medicare.</a:t>
            </a:r>
          </a:p>
          <a:p>
            <a:pPr marL="171450" indent="-171450">
              <a:buFont typeface="Arial" panose="020B0604020202020204" pitchFamily="34" charset="0"/>
              <a:buChar char="•"/>
            </a:pPr>
            <a:r>
              <a:rPr lang="en-US" dirty="0"/>
              <a:t>HMO versus PPO:</a:t>
            </a:r>
          </a:p>
          <a:p>
            <a:pPr marL="628650" lvl="1" indent="-171450">
              <a:buFont typeface="Arial" panose="020B0604020202020204" pitchFamily="34" charset="0"/>
              <a:buChar char="•"/>
            </a:pPr>
            <a:r>
              <a:rPr lang="en-US" dirty="0"/>
              <a:t>HMO = a patient has </a:t>
            </a:r>
            <a:r>
              <a:rPr lang="en-US"/>
              <a:t>to stay </a:t>
            </a:r>
            <a:r>
              <a:rPr lang="en-US" dirty="0"/>
              <a:t>within the plan’s network</a:t>
            </a:r>
          </a:p>
          <a:p>
            <a:pPr marL="628650" lvl="1" indent="-171450">
              <a:buFont typeface="Arial" panose="020B0604020202020204" pitchFamily="34" charset="0"/>
              <a:buChar char="•"/>
            </a:pPr>
            <a:r>
              <a:rPr lang="en-US" dirty="0"/>
              <a:t>PPO = a patient can go outside of network, but services will come at a higher cost</a:t>
            </a:r>
          </a:p>
          <a:p>
            <a:endParaRPr lang="en-US" dirty="0"/>
          </a:p>
          <a:p>
            <a:endParaRPr lang="en-US" dirty="0"/>
          </a:p>
        </p:txBody>
      </p:sp>
    </p:spTree>
    <p:extLst>
      <p:ext uri="{BB962C8B-B14F-4D97-AF65-F5344CB8AC3E}">
        <p14:creationId xmlns:p14="http://schemas.microsoft.com/office/powerpoint/2010/main" val="187353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You have to be enrolled in both Parts A and B in order to enroll in an Advantage plan – you can’t just have Part A and then try to get Part C.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If you join a Medicare Advantage Plan, you'll still have Medicare but you'll get most of your Part A and Part B coverage from your Medicare Advantage Plan, not Original Medicare.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Think of the Advantage Plans as a bundle of items. </a:t>
            </a:r>
          </a:p>
          <a:p>
            <a:endParaRPr lang="en-US" dirty="0"/>
          </a:p>
        </p:txBody>
      </p:sp>
    </p:spTree>
    <p:extLst>
      <p:ext uri="{BB962C8B-B14F-4D97-AF65-F5344CB8AC3E}">
        <p14:creationId xmlns:p14="http://schemas.microsoft.com/office/powerpoint/2010/main" val="46992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105595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55906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Medicaid pays medical bills for low-income people and is meant to ensure access to healthcare for certain low-income groups.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Let’s distinguish between Medicare and Medicaid: </a:t>
            </a:r>
          </a:p>
          <a:p>
            <a:pPr marL="628650" lvl="1" indent="-171450">
              <a:buFont typeface="Arial" panose="020B0604020202020204" pitchFamily="34" charset="0"/>
              <a:buChar char="•"/>
            </a:pPr>
            <a:r>
              <a:rPr lang="en-US" dirty="0"/>
              <a:t>Everyone is eligible for Medicare so long as they have worked enough quarters in their lifetime (40). </a:t>
            </a:r>
          </a:p>
          <a:p>
            <a:pPr marL="628650" lvl="1" indent="-171450">
              <a:buFont typeface="Arial" panose="020B0604020202020204" pitchFamily="34" charset="0"/>
              <a:buChar char="•"/>
            </a:pPr>
            <a:r>
              <a:rPr lang="en-US" dirty="0"/>
              <a:t>Medicare is not based on income, although you may have to pay a little more if you have a higher income. But, you still qualify if you have a high income. (In 2024, that is $103,000 as an individual or $206,000 joint). Part D may also cost more if you have a higher income.</a:t>
            </a:r>
          </a:p>
          <a:p>
            <a:pPr marL="628650" lvl="1" indent="-171450">
              <a:buFont typeface="Arial" panose="020B0604020202020204" pitchFamily="34" charset="0"/>
              <a:buChar char="•"/>
            </a:pPr>
            <a:r>
              <a:rPr lang="en-US" dirty="0"/>
              <a:t>Medicaid </a:t>
            </a:r>
            <a:r>
              <a:rPr lang="en-US" b="1" u="sng" dirty="0"/>
              <a:t>is</a:t>
            </a:r>
            <a:r>
              <a:rPr lang="en-US" dirty="0"/>
              <a:t> income based. </a:t>
            </a:r>
          </a:p>
          <a:p>
            <a:endParaRPr lang="en-US" dirty="0"/>
          </a:p>
        </p:txBody>
      </p:sp>
    </p:spTree>
    <p:extLst>
      <p:ext uri="{BB962C8B-B14F-4D97-AF65-F5344CB8AC3E}">
        <p14:creationId xmlns:p14="http://schemas.microsoft.com/office/powerpoint/2010/main" val="1134490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07000"/>
              </a:lnSpc>
              <a:spcAft>
                <a:spcPts val="800"/>
              </a:spcAft>
              <a:buFont typeface="Arial" panose="020B0604020202020204" pitchFamily="34" charset="0"/>
              <a:buNone/>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Read these bullet points before reading the slide:</a:t>
            </a:r>
          </a:p>
          <a:p>
            <a:pPr marL="0" marR="0" lvl="0" indent="0">
              <a:lnSpc>
                <a:spcPct val="107000"/>
              </a:lnSpc>
              <a:spcAft>
                <a:spcPts val="800"/>
              </a:spcAft>
              <a:buFont typeface="Arial" panose="020B0604020202020204" pitchFamily="34" charset="0"/>
              <a:buNone/>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marR="0" lvl="0" indent="-28575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While Medicare is a federal program, Medicaid is a combination state-federal program.</a:t>
            </a:r>
          </a:p>
          <a:p>
            <a:pPr marL="285750" marR="0" lvl="0" indent="-28575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Every state has Medicaid, although Medicaid looks different in every state.</a:t>
            </a:r>
          </a:p>
          <a:p>
            <a:pPr marL="285750" marR="0" lvl="0" indent="-28575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are certain things that each state’s Medicaid program has to provide, but each state can choose whether or not to provide more. </a:t>
            </a:r>
          </a:p>
          <a:p>
            <a:pPr marL="285750" marR="0" lvl="0" indent="-28575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An example of providing more is a Medicaid waiver – not every state has waiver programs like Ohio</a:t>
            </a:r>
          </a:p>
          <a:p>
            <a:pPr marL="285750" marR="0" lvl="0" indent="-28575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Statewide means whatever is put into place has to be the same across the state and certain areas can’t receive more programs or benefits than others.</a:t>
            </a:r>
          </a:p>
        </p:txBody>
      </p:sp>
    </p:spTree>
    <p:extLst>
      <p:ext uri="{BB962C8B-B14F-4D97-AF65-F5344CB8AC3E}">
        <p14:creationId xmlns:p14="http://schemas.microsoft.com/office/powerpoint/2010/main" val="17151310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of Medicaid coverage typically offered include:</a:t>
            </a:r>
          </a:p>
          <a:p>
            <a:endParaRPr lang="en-US" dirty="0"/>
          </a:p>
          <a:p>
            <a:pPr marL="171450" indent="-171450">
              <a:buFont typeface="Arial" panose="020B0604020202020204" pitchFamily="34" charset="0"/>
              <a:buChar char="•"/>
            </a:pPr>
            <a:r>
              <a:rPr lang="en-US" dirty="0"/>
              <a:t>Medical services for acute conditions</a:t>
            </a:r>
          </a:p>
          <a:p>
            <a:pPr marL="171450" indent="-171450">
              <a:buFont typeface="Arial" panose="020B0604020202020204" pitchFamily="34" charset="0"/>
              <a:buChar char="•"/>
            </a:pPr>
            <a:r>
              <a:rPr lang="en-US" dirty="0"/>
              <a:t>Institutional long-term care for aged &amp; disable people </a:t>
            </a:r>
          </a:p>
          <a:p>
            <a:pPr marL="171450" indent="-171450">
              <a:buFont typeface="Arial" panose="020B0604020202020204" pitchFamily="34" charset="0"/>
              <a:buChar char="•"/>
            </a:pPr>
            <a:r>
              <a:rPr lang="en-US" dirty="0"/>
              <a:t>Some services are federal mandates, while others Ohio has the choices of whether or not to provide it. We’ll take a closer look at this in this presentation.</a:t>
            </a:r>
          </a:p>
          <a:p>
            <a:endParaRPr lang="en-US" dirty="0"/>
          </a:p>
          <a:p>
            <a:r>
              <a:rPr lang="en-US" dirty="0"/>
              <a:t>Background – acute conditions develop quickly without warning and usually have a short duration. For example, the flu or a broken bone. This is the opposite of a chronic condition, which develop over time and do not resolve quickly.</a:t>
            </a:r>
          </a:p>
          <a:p>
            <a:endParaRPr lang="en-US" dirty="0"/>
          </a:p>
        </p:txBody>
      </p:sp>
    </p:spTree>
    <p:extLst>
      <p:ext uri="{BB962C8B-B14F-4D97-AF65-F5344CB8AC3E}">
        <p14:creationId xmlns:p14="http://schemas.microsoft.com/office/powerpoint/2010/main" val="15512713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Here are the federally mandated services. Every state has to provide these services under their Medicaid benefits.</a:t>
            </a:r>
          </a:p>
          <a:p>
            <a:pPr marL="171450" indent="-171450">
              <a:buFont typeface="Arial" panose="020B0604020202020204" pitchFamily="34" charset="0"/>
              <a:buChar char="•"/>
            </a:pPr>
            <a:r>
              <a:rPr lang="en-US" dirty="0"/>
              <a:t>Tx means “treatment” </a:t>
            </a:r>
          </a:p>
          <a:p>
            <a:pPr marL="0" indent="0">
              <a:buFont typeface="Arial" panose="020B0604020202020204" pitchFamily="34" charset="0"/>
              <a:buNone/>
            </a:pPr>
            <a:endParaRPr lang="en-US" dirty="0"/>
          </a:p>
          <a:p>
            <a:pPr algn="l"/>
            <a:r>
              <a:rPr lang="en-US" b="0" i="0" dirty="0">
                <a:effectLst/>
                <a:latin typeface="Source Sans Pro" panose="020B0503030403020204" pitchFamily="34" charset="0"/>
              </a:rPr>
              <a:t>The Early and Periodic Screening, Diagnostic and Treatment (EPSDT) benefit provides comprehensive and preventive health care services for children under age 21 who are enrolled in Medicaid. This is key to ensuring that children and adolescents receive appropriate preventive, dental, mental health, and developmental, and specialty services.</a:t>
            </a:r>
          </a:p>
          <a:p>
            <a:pPr algn="l">
              <a:buFont typeface="Arial" panose="020B0604020202020204" pitchFamily="34" charset="0"/>
              <a:buChar char="•"/>
            </a:pPr>
            <a:r>
              <a:rPr lang="en-US" b="1" i="0" dirty="0">
                <a:effectLst/>
                <a:latin typeface="Source Sans Pro" panose="020B0503030403020204" pitchFamily="34" charset="0"/>
              </a:rPr>
              <a:t>Early:</a:t>
            </a:r>
            <a:r>
              <a:rPr lang="en-US" b="0" i="0" dirty="0">
                <a:effectLst/>
                <a:latin typeface="Source Sans Pro" panose="020B0503030403020204" pitchFamily="34" charset="0"/>
              </a:rPr>
              <a:t> Assessing and identifying problems early</a:t>
            </a:r>
          </a:p>
          <a:p>
            <a:pPr algn="l">
              <a:buFont typeface="Arial" panose="020B0604020202020204" pitchFamily="34" charset="0"/>
              <a:buChar char="•"/>
            </a:pPr>
            <a:r>
              <a:rPr lang="en-US" b="1" i="0" dirty="0">
                <a:effectLst/>
                <a:latin typeface="Source Sans Pro" panose="020B0503030403020204" pitchFamily="34" charset="0"/>
              </a:rPr>
              <a:t>Periodic:</a:t>
            </a:r>
            <a:r>
              <a:rPr lang="en-US" b="0" i="0" dirty="0">
                <a:effectLst/>
                <a:latin typeface="Source Sans Pro" panose="020B0503030403020204" pitchFamily="34" charset="0"/>
              </a:rPr>
              <a:t> Checking children's health at periodic, age-appropriate intervals</a:t>
            </a:r>
          </a:p>
          <a:p>
            <a:pPr algn="l">
              <a:buFont typeface="Arial" panose="020B0604020202020204" pitchFamily="34" charset="0"/>
              <a:buChar char="•"/>
            </a:pPr>
            <a:r>
              <a:rPr lang="en-US" b="1" i="0" dirty="0">
                <a:effectLst/>
                <a:latin typeface="Source Sans Pro" panose="020B0503030403020204" pitchFamily="34" charset="0"/>
              </a:rPr>
              <a:t>Screening:</a:t>
            </a:r>
            <a:r>
              <a:rPr lang="en-US" b="0" i="0" dirty="0">
                <a:effectLst/>
                <a:latin typeface="Source Sans Pro" panose="020B0503030403020204" pitchFamily="34" charset="0"/>
              </a:rPr>
              <a:t> Providing physical, mental, developmental, dental, hearing, vision, and other screening tests to detect potential problems</a:t>
            </a:r>
          </a:p>
          <a:p>
            <a:pPr algn="l">
              <a:buFont typeface="Arial" panose="020B0604020202020204" pitchFamily="34" charset="0"/>
              <a:buChar char="•"/>
            </a:pPr>
            <a:r>
              <a:rPr lang="en-US" b="1" i="0" dirty="0">
                <a:effectLst/>
                <a:latin typeface="Source Sans Pro" panose="020B0503030403020204" pitchFamily="34" charset="0"/>
              </a:rPr>
              <a:t>Diagnostic:</a:t>
            </a:r>
            <a:r>
              <a:rPr lang="en-US" b="0" i="0" dirty="0">
                <a:effectLst/>
                <a:latin typeface="Source Sans Pro" panose="020B0503030403020204" pitchFamily="34" charset="0"/>
              </a:rPr>
              <a:t> Performing diagnostic tests to follow up when a risk is identified, and</a:t>
            </a:r>
          </a:p>
          <a:p>
            <a:pPr algn="l">
              <a:buFont typeface="Arial" panose="020B0604020202020204" pitchFamily="34" charset="0"/>
              <a:buChar char="•"/>
            </a:pPr>
            <a:r>
              <a:rPr lang="en-US" b="1" i="0" dirty="0">
                <a:effectLst/>
                <a:latin typeface="Source Sans Pro" panose="020B0503030403020204" pitchFamily="34" charset="0"/>
              </a:rPr>
              <a:t>Treatment:</a:t>
            </a:r>
            <a:r>
              <a:rPr lang="en-US" b="0" i="0" dirty="0">
                <a:effectLst/>
                <a:latin typeface="Source Sans Pro" panose="020B0503030403020204" pitchFamily="34" charset="0"/>
              </a:rPr>
              <a:t> Control, correct or reduce health problems found.</a:t>
            </a:r>
          </a:p>
          <a:p>
            <a:pPr algn="l">
              <a:buFont typeface="Arial" panose="020B0604020202020204" pitchFamily="34" charset="0"/>
              <a:buNone/>
            </a:pPr>
            <a:endParaRPr lang="en-US" b="0" i="0" dirty="0">
              <a:effectLst/>
              <a:latin typeface="Source Sans Pro" panose="020B0503030403020204" pitchFamily="34" charset="0"/>
            </a:endParaRPr>
          </a:p>
          <a:p>
            <a:pPr algn="l">
              <a:buFont typeface="Arial" panose="020B0604020202020204" pitchFamily="34" charset="0"/>
              <a:buNone/>
            </a:pPr>
            <a:r>
              <a:rPr lang="en-US" b="0" i="0" dirty="0">
                <a:effectLst/>
                <a:latin typeface="Source Sans Pro" panose="020B0503030403020204" pitchFamily="34" charset="0"/>
              </a:rPr>
              <a:t>Source: https://www.medicaid.gov/medicaid/benefits/early-and-periodic-screening-diagnostic-and-treatment/index.html</a:t>
            </a:r>
          </a:p>
          <a:p>
            <a:pPr marL="0" indent="0">
              <a:buFont typeface="Arial" panose="020B0604020202020204" pitchFamily="34" charset="0"/>
              <a:buNone/>
            </a:pPr>
            <a:endParaRPr lang="en-US" dirty="0"/>
          </a:p>
          <a:p>
            <a:endParaRPr lang="en-US" dirty="0"/>
          </a:p>
          <a:p>
            <a:endParaRPr lang="en-US" dirty="0"/>
          </a:p>
        </p:txBody>
      </p:sp>
    </p:spTree>
    <p:extLst>
      <p:ext uri="{BB962C8B-B14F-4D97-AF65-F5344CB8AC3E}">
        <p14:creationId xmlns:p14="http://schemas.microsoft.com/office/powerpoint/2010/main" val="35511804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These are the Medicaid benefits that Ohio has chosen to provide. Anyone in Ohio on Medicaid will be covered for all of these services.</a:t>
            </a:r>
          </a:p>
          <a:p>
            <a:pPr marL="171450" indent="-171450">
              <a:buFont typeface="Arial" panose="020B0604020202020204" pitchFamily="34" charset="0"/>
              <a:buChar char="•"/>
            </a:pPr>
            <a:r>
              <a:rPr lang="en-US" dirty="0"/>
              <a:t>These are optional services, not mandated by the federal government to be provided in all states.</a:t>
            </a:r>
          </a:p>
          <a:p>
            <a:pPr marL="171450" indent="-171450">
              <a:buFont typeface="Arial" panose="020B0604020202020204" pitchFamily="34" charset="0"/>
              <a:buChar char="•"/>
            </a:pPr>
            <a:r>
              <a:rPr lang="en-US" dirty="0"/>
              <a:t>It’s surprising that some of these items are not mandated federally, particularly prescription drugs. </a:t>
            </a:r>
          </a:p>
          <a:p>
            <a:endParaRPr lang="en-US" dirty="0"/>
          </a:p>
        </p:txBody>
      </p:sp>
    </p:spTree>
    <p:extLst>
      <p:ext uri="{BB962C8B-B14F-4D97-AF65-F5344CB8AC3E}">
        <p14:creationId xmlns:p14="http://schemas.microsoft.com/office/powerpoint/2010/main" val="18871713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Structure: Medicaid was under the Ohio Department of Job and Family Services, but it now under the Ohio Department of Medicaid. The ODJFS still determines Medicaid eligibility, but they now have oversight from the ODM.</a:t>
            </a:r>
          </a:p>
          <a:p>
            <a:pPr marL="171450" indent="-171450">
              <a:buFont typeface="Arial" panose="020B0604020202020204" pitchFamily="34" charset="0"/>
              <a:buChar char="•"/>
            </a:pPr>
            <a:r>
              <a:rPr lang="en-US" dirty="0"/>
              <a:t>Medicaid eligibility is based upon income and assets</a:t>
            </a:r>
          </a:p>
          <a:p>
            <a:pPr marL="171450" indent="-171450">
              <a:buFont typeface="Arial" panose="020B0604020202020204" pitchFamily="34" charset="0"/>
              <a:buChar char="•"/>
            </a:pPr>
            <a:r>
              <a:rPr lang="en-US" dirty="0"/>
              <a:t>MAGI (Modified Adjusted Gross Income) is a unform method of determining eligibility.</a:t>
            </a:r>
          </a:p>
          <a:p>
            <a:pPr marL="171450" indent="-171450">
              <a:buFont typeface="Arial" panose="020B0604020202020204" pitchFamily="34" charset="0"/>
              <a:buChar char="•"/>
            </a:pPr>
            <a:r>
              <a:rPr lang="en-US" dirty="0"/>
              <a:t>The application process can be completed online, although paper applications are available.</a:t>
            </a:r>
          </a:p>
          <a:p>
            <a:endParaRPr lang="en-US" dirty="0"/>
          </a:p>
        </p:txBody>
      </p:sp>
    </p:spTree>
    <p:extLst>
      <p:ext uri="{BB962C8B-B14F-4D97-AF65-F5344CB8AC3E}">
        <p14:creationId xmlns:p14="http://schemas.microsoft.com/office/powerpoint/2010/main" val="15118880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In 2014 Ohio expanded Medicaid to groups of adults aged 18 to 64 that weren’t previously eligible. </a:t>
            </a:r>
          </a:p>
          <a:p>
            <a:pPr marL="171450" indent="-171450">
              <a:buFont typeface="Arial" panose="020B0604020202020204" pitchFamily="34" charset="0"/>
              <a:buChar char="•"/>
            </a:pPr>
            <a:r>
              <a:rPr lang="en-US" dirty="0"/>
              <a:t>This expanded the MAGI eligibility rules to 138 percent of the Federal Poverty level. </a:t>
            </a:r>
          </a:p>
          <a:p>
            <a:pPr marL="171450" indent="-171450">
              <a:buFont typeface="Arial" panose="020B0604020202020204" pitchFamily="34" charset="0"/>
              <a:buChar char="•"/>
            </a:pPr>
            <a:r>
              <a:rPr lang="en-US" dirty="0"/>
              <a:t>All Medicaid recipients in this category go into a managed care plan with Buckeye, CareSource, Molina, Paramount or United Health Care.</a:t>
            </a:r>
          </a:p>
          <a:p>
            <a:endParaRPr lang="en-US" dirty="0"/>
          </a:p>
        </p:txBody>
      </p:sp>
    </p:spTree>
    <p:extLst>
      <p:ext uri="{BB962C8B-B14F-4D97-AF65-F5344CB8AC3E}">
        <p14:creationId xmlns:p14="http://schemas.microsoft.com/office/powerpoint/2010/main" val="4306781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person may be eligible for Medicaid based upon their Modified Adjusted Gross Income or MAGI.</a:t>
            </a:r>
          </a:p>
          <a:p>
            <a:pPr marL="171450" indent="-171450">
              <a:buFont typeface="Arial" panose="020B0604020202020204" pitchFamily="34" charset="0"/>
              <a:buChar char="•"/>
            </a:pPr>
            <a:r>
              <a:rPr lang="en-US" dirty="0"/>
              <a:t>Read Slide</a:t>
            </a:r>
          </a:p>
        </p:txBody>
      </p:sp>
    </p:spTree>
    <p:extLst>
      <p:ext uri="{BB962C8B-B14F-4D97-AF65-F5344CB8AC3E}">
        <p14:creationId xmlns:p14="http://schemas.microsoft.com/office/powerpoint/2010/main" val="4829202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slide shows the difference between SSI (Supplemental Security Income) and SSDI (Social Security Disability Insurance).</a:t>
            </a:r>
          </a:p>
          <a:p>
            <a:pPr marL="171450" indent="-171450">
              <a:buFont typeface="Arial" panose="020B0604020202020204" pitchFamily="34" charset="0"/>
              <a:buChar char="•"/>
            </a:pPr>
            <a:r>
              <a:rPr lang="en-US" dirty="0"/>
              <a:t>SSI is a need-based program that does not require a work history. SSDI is an insurance program that based upon work history.</a:t>
            </a:r>
          </a:p>
          <a:p>
            <a:pPr marL="171450" indent="-171450">
              <a:buFont typeface="Arial" panose="020B0604020202020204" pitchFamily="34" charset="0"/>
              <a:buChar char="•"/>
            </a:pPr>
            <a:r>
              <a:rPr lang="en-US" dirty="0"/>
              <a:t>SSI is a combination federal and state program, while SSDI is a federal-only program.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kern="100" dirty="0">
                <a:effectLst/>
                <a:latin typeface="Aptos" panose="020B0004020202020204" pitchFamily="34" charset="0"/>
                <a:ea typeface="Aptos" panose="020B0004020202020204" pitchFamily="34" charset="0"/>
                <a:cs typeface="Times New Roman" panose="02020603050405020304" pitchFamily="18" charset="0"/>
              </a:rPr>
              <a:t>OOD = Opportunities for Ohioans with Disabilities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 </a:t>
            </a:r>
          </a:p>
          <a:p>
            <a:endParaRPr lang="en-US" dirty="0"/>
          </a:p>
          <a:p>
            <a:endParaRPr lang="en-US" dirty="0"/>
          </a:p>
          <a:p>
            <a:endParaRPr lang="en-US" dirty="0"/>
          </a:p>
        </p:txBody>
      </p:sp>
    </p:spTree>
    <p:extLst>
      <p:ext uri="{BB962C8B-B14F-4D97-AF65-F5344CB8AC3E}">
        <p14:creationId xmlns:p14="http://schemas.microsoft.com/office/powerpoint/2010/main" val="26360700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People under 65 can apply for SSI so long as they are determined to be blind or disabled. </a:t>
            </a:r>
          </a:p>
          <a:p>
            <a:pPr marL="171450" indent="-171450">
              <a:buFont typeface="Arial" panose="020B0604020202020204" pitchFamily="34" charset="0"/>
              <a:buChar char="•"/>
            </a:pPr>
            <a:r>
              <a:rPr lang="en-US" dirty="0"/>
              <a:t>They do look at assets when making an eligibility determination.</a:t>
            </a:r>
          </a:p>
          <a:p>
            <a:endParaRPr lang="en-US" dirty="0"/>
          </a:p>
        </p:txBody>
      </p:sp>
    </p:spTree>
    <p:extLst>
      <p:ext uri="{BB962C8B-B14F-4D97-AF65-F5344CB8AC3E}">
        <p14:creationId xmlns:p14="http://schemas.microsoft.com/office/powerpoint/2010/main" val="29732313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pathway to Medicaid coverage for Individuals receiving SSI:</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Their income must be at or below 75 percent of the federal poverty level or $943 per month</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If they receive $1 of SSI assistance, they are automatically eligible for Medicaid.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There is no need to apply separately for Medicaid</a:t>
            </a:r>
          </a:p>
          <a:p>
            <a:endParaRPr lang="en-US" dirty="0"/>
          </a:p>
        </p:txBody>
      </p:sp>
    </p:spTree>
    <p:extLst>
      <p:ext uri="{BB962C8B-B14F-4D97-AF65-F5344CB8AC3E}">
        <p14:creationId xmlns:p14="http://schemas.microsoft.com/office/powerpoint/2010/main" val="19409967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For SSDI, generally, you will need to have worked 5 of the last 10 years to have enough work credits to qualify.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If a person is on SSDI they may qualify for Medicaid based upon their income.</a:t>
            </a:r>
          </a:p>
          <a:p>
            <a:endParaRPr lang="en-US" dirty="0"/>
          </a:p>
        </p:txBody>
      </p:sp>
    </p:spTree>
    <p:extLst>
      <p:ext uri="{BB962C8B-B14F-4D97-AF65-F5344CB8AC3E}">
        <p14:creationId xmlns:p14="http://schemas.microsoft.com/office/powerpoint/2010/main" val="41665572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The pathway to Medicaid coverage for Individuals based upon Aged, Blind, or Disabled status:</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Must be aged, blind, or disabled. Aged means 65 years of age or older.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Must have a countable income at or below 75 percent of the federal poverty limit or $943 </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Must have countable resources of $2,000 or less for an individual and $3,000 for a couple</a:t>
            </a:r>
          </a:p>
          <a:p>
            <a:pPr marL="342900" marR="0" lvl="0" indent="-342900">
              <a:lnSpc>
                <a:spcPct val="107000"/>
              </a:lnSpc>
              <a:spcAft>
                <a:spcPts val="800"/>
              </a:spcAft>
              <a:buFont typeface="Arial" panose="020B0604020202020204" pitchFamily="34" charset="0"/>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Source: https://medicaid.ohio.gov/wps/portal/gov/medicaid/families-and-individuals/citizen-programs-and-initiatives/aged-blind-disabled</a:t>
            </a:r>
          </a:p>
          <a:p>
            <a:endParaRPr lang="en-US" dirty="0"/>
          </a:p>
        </p:txBody>
      </p:sp>
    </p:spTree>
    <p:extLst>
      <p:ext uri="{BB962C8B-B14F-4D97-AF65-F5344CB8AC3E}">
        <p14:creationId xmlns:p14="http://schemas.microsoft.com/office/powerpoint/2010/main" val="14355158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095808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Pathway to coverage. </a:t>
            </a:r>
          </a:p>
        </p:txBody>
      </p:sp>
    </p:spTree>
    <p:extLst>
      <p:ext uri="{BB962C8B-B14F-4D97-AF65-F5344CB8AC3E}">
        <p14:creationId xmlns:p14="http://schemas.microsoft.com/office/powerpoint/2010/main" val="26607378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endParaRPr lang="en-US" dirty="0"/>
          </a:p>
          <a:p>
            <a:r>
              <a:rPr lang="en-US" dirty="0"/>
              <a:t>Money in a QIT can be used for:</a:t>
            </a:r>
          </a:p>
          <a:p>
            <a:pPr marL="171450" indent="-171450">
              <a:buFont typeface="Arial" panose="020B0604020202020204" pitchFamily="34" charset="0"/>
              <a:buChar char="•"/>
            </a:pPr>
            <a:r>
              <a:rPr lang="en-US" dirty="0"/>
              <a:t>Incurred medical expenses of the primary beneficiary</a:t>
            </a:r>
          </a:p>
          <a:p>
            <a:pPr marL="171450" indent="-171450">
              <a:buFont typeface="Arial" panose="020B0604020202020204" pitchFamily="34" charset="0"/>
              <a:buChar char="•"/>
            </a:pPr>
            <a:r>
              <a:rPr lang="en-US" dirty="0"/>
              <a:t>The cost of medical assistance provided to the primary beneficiary, such as a co-pay for waiver services</a:t>
            </a:r>
          </a:p>
          <a:p>
            <a:pPr marL="171450" indent="-171450">
              <a:buFont typeface="Arial" panose="020B0604020202020204" pitchFamily="34" charset="0"/>
              <a:buChar char="•"/>
            </a:pPr>
            <a:r>
              <a:rPr lang="en-US" dirty="0"/>
              <a:t>A monthly personal or maintenance needs allowance</a:t>
            </a:r>
          </a:p>
          <a:p>
            <a:pPr marL="171450" indent="-171450">
              <a:buFont typeface="Arial" panose="020B0604020202020204" pitchFamily="34" charset="0"/>
              <a:buChar char="•"/>
            </a:pPr>
            <a:r>
              <a:rPr lang="en-US" dirty="0"/>
              <a:t>Maintenance allowance for the individual’s spouse or family dependents </a:t>
            </a:r>
          </a:p>
          <a:p>
            <a:endParaRPr lang="en-US" dirty="0"/>
          </a:p>
        </p:txBody>
      </p:sp>
    </p:spTree>
    <p:extLst>
      <p:ext uri="{BB962C8B-B14F-4D97-AF65-F5344CB8AC3E}">
        <p14:creationId xmlns:p14="http://schemas.microsoft.com/office/powerpoint/2010/main" val="3722561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r>
              <a:rPr lang="en-US" dirty="0"/>
              <a:t>Just to be clear, if a person has a QIT, when they pass away, the money goes to the state</a:t>
            </a:r>
          </a:p>
          <a:p>
            <a:endParaRPr lang="en-US" dirty="0"/>
          </a:p>
        </p:txBody>
      </p:sp>
    </p:spTree>
    <p:extLst>
      <p:ext uri="{BB962C8B-B14F-4D97-AF65-F5344CB8AC3E}">
        <p14:creationId xmlns:p14="http://schemas.microsoft.com/office/powerpoint/2010/main" val="5373913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p:txBody>
      </p:sp>
    </p:spTree>
    <p:extLst>
      <p:ext uri="{BB962C8B-B14F-4D97-AF65-F5344CB8AC3E}">
        <p14:creationId xmlns:p14="http://schemas.microsoft.com/office/powerpoint/2010/main" val="2654184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nSpc>
                <a:spcPct val="107000"/>
              </a:lnSpc>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Individuals need permission from the state in order to use the money.</a:t>
            </a:r>
          </a:p>
          <a:p>
            <a:pPr marL="457200" marR="0">
              <a:lnSpc>
                <a:spcPct val="107000"/>
              </a:lnSpc>
              <a:spcAft>
                <a:spcPts val="800"/>
              </a:spcAft>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Aft>
                <a:spcPts val="800"/>
              </a:spcAft>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Money can be used for:</a:t>
            </a:r>
          </a:p>
          <a:p>
            <a:pPr marL="0" marR="0">
              <a:lnSpc>
                <a:spcPct val="107000"/>
              </a:lnSpc>
              <a:spcAft>
                <a:spcPts val="800"/>
              </a:spcAft>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Aft>
                <a:spcPts val="800"/>
              </a:spcAft>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Medical expenses of the primary beneficiary</a:t>
            </a:r>
          </a:p>
          <a:p>
            <a:pPr marL="342900" marR="0" lvl="0" indent="-342900">
              <a:lnSpc>
                <a:spcPct val="107000"/>
              </a:lnSpc>
              <a:spcAft>
                <a:spcPts val="800"/>
              </a:spcAft>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monthly personal or maintenance allowance </a:t>
            </a:r>
          </a:p>
          <a:p>
            <a:pPr marL="342900" marR="0" lvl="0" indent="-342900">
              <a:lnSpc>
                <a:spcPct val="107000"/>
              </a:lnSpc>
              <a:spcAft>
                <a:spcPts val="800"/>
              </a:spcAft>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Funeral arrangements</a:t>
            </a:r>
          </a:p>
          <a:p>
            <a:pPr marL="342900" marR="0" lvl="0" indent="-342900">
              <a:lnSpc>
                <a:spcPct val="107000"/>
              </a:lnSpc>
              <a:spcAft>
                <a:spcPts val="800"/>
              </a:spcAft>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Vehicle modifications</a:t>
            </a:r>
          </a:p>
          <a:p>
            <a:pPr marL="342900" marR="0" lvl="0" indent="-342900">
              <a:lnSpc>
                <a:spcPct val="107000"/>
              </a:lnSpc>
              <a:spcAft>
                <a:spcPts val="800"/>
              </a:spcAft>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Handicap-accessible vehicles, and add-ons to a house that’s handicap accessible</a:t>
            </a:r>
          </a:p>
          <a:p>
            <a:pPr marL="45720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marR="0" lvl="0" indent="-342900">
              <a:lnSpc>
                <a:spcPct val="107000"/>
              </a:lnSpc>
              <a:spcAft>
                <a:spcPts val="800"/>
              </a:spcAft>
              <a:buFont typeface="Symbol" panose="05050102010706020507" pitchFamily="18"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 maintenance allowance, often referred to as a Monthly Maintenance Needs Allowance (MMNA), is a portion of income that can be allocated to a spouse who is not in a nursing home (the "community spouse") to ensure they have enough funds to meet their living expenses.</a:t>
            </a: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0916301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Ohio Estate Recovery applies when Medicaid has made payments on behalf of an individual, when the pass away, the state can receive the home, or part of the profits of its sale to pay back the money spent on the individual’s care.</a:t>
            </a:r>
          </a:p>
          <a:p>
            <a:pPr marL="171450" indent="-171450">
              <a:buFont typeface="Arial" panose="020B0604020202020204" pitchFamily="34" charset="0"/>
              <a:buChar char="•"/>
            </a:pPr>
            <a:r>
              <a:rPr lang="en-US" dirty="0"/>
              <a:t>Applies to long-term care facility residents and all other Medicaid recipients 55 or older, including people on Home &amp; Community Based Waivers and those in Intermediate Care facilities.</a:t>
            </a:r>
          </a:p>
          <a:p>
            <a:pPr marL="171450" indent="-171450">
              <a:buFont typeface="Arial" panose="020B0604020202020204" pitchFamily="34" charset="0"/>
              <a:buChar char="•"/>
            </a:pPr>
            <a:r>
              <a:rPr lang="en-US" dirty="0"/>
              <a:t>This can be a deterrent to people who may need services. They may not want to give up their home to the state. </a:t>
            </a:r>
          </a:p>
          <a:p>
            <a:pPr marL="171450" indent="-171450">
              <a:buFont typeface="Arial" panose="020B0604020202020204" pitchFamily="34" charset="0"/>
              <a:buChar char="•"/>
            </a:pPr>
            <a:r>
              <a:rPr lang="en-US" dirty="0"/>
              <a:t>This is commonly talked about during assessments</a:t>
            </a:r>
          </a:p>
        </p:txBody>
      </p:sp>
    </p:spTree>
    <p:extLst>
      <p:ext uri="{BB962C8B-B14F-4D97-AF65-F5344CB8AC3E}">
        <p14:creationId xmlns:p14="http://schemas.microsoft.com/office/powerpoint/2010/main" val="29304009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r>
              <a:rPr lang="en-US" dirty="0"/>
              <a:t>If there’s a spouse, child, disabled child, </a:t>
            </a:r>
            <a:r>
              <a:rPr lang="en-US"/>
              <a:t>etc., </a:t>
            </a:r>
            <a:r>
              <a:rPr lang="en-US" dirty="0"/>
              <a:t>living in the home, they’re not going to make them move out. They’ll wait until everyone passes away until they go after the estate for recovery.</a:t>
            </a:r>
          </a:p>
        </p:txBody>
      </p:sp>
    </p:spTree>
    <p:extLst>
      <p:ext uri="{BB962C8B-B14F-4D97-AF65-F5344CB8AC3E}">
        <p14:creationId xmlns:p14="http://schemas.microsoft.com/office/powerpoint/2010/main" val="92045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State will not just rip the home away from the individual or their family. Ohio Estate Recovery happens when:</a:t>
            </a:r>
          </a:p>
          <a:p>
            <a:pPr marL="171450" indent="-171450">
              <a:buFont typeface="Arial" panose="020B0604020202020204" pitchFamily="34" charset="0"/>
              <a:buChar char="•"/>
            </a:pPr>
            <a:r>
              <a:rPr lang="en-US" dirty="0"/>
              <a:t>Read slide</a:t>
            </a:r>
          </a:p>
          <a:p>
            <a:pPr marL="171450" indent="-171450">
              <a:buFont typeface="Arial" panose="020B0604020202020204" pitchFamily="34" charset="0"/>
              <a:buChar char="•"/>
            </a:pPr>
            <a:r>
              <a:rPr lang="en-US" dirty="0"/>
              <a:t>They will only take an amount equal to what Medicaid has paid; the state will not take more.</a:t>
            </a:r>
          </a:p>
          <a:p>
            <a:pPr marL="171450" indent="-171450">
              <a:buFont typeface="Arial" panose="020B0604020202020204" pitchFamily="34" charset="0"/>
              <a:buChar char="•"/>
            </a:pPr>
            <a:r>
              <a:rPr lang="en-US" dirty="0"/>
              <a:t>Ask: Any questions on Ohio Estate Recovery?</a:t>
            </a:r>
          </a:p>
          <a:p>
            <a:endParaRPr lang="en-US" dirty="0"/>
          </a:p>
        </p:txBody>
      </p:sp>
    </p:spTree>
    <p:extLst>
      <p:ext uri="{BB962C8B-B14F-4D97-AF65-F5344CB8AC3E}">
        <p14:creationId xmlns:p14="http://schemas.microsoft.com/office/powerpoint/2010/main" val="4287621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an exemption process. If someone owns their home and they need waiver, they can ask for an exemption to estate recovery. That would allow the family to keep the home without the state coming after it. </a:t>
            </a:r>
          </a:p>
          <a:p>
            <a:endParaRPr lang="en-US" dirty="0"/>
          </a:p>
          <a:p>
            <a:r>
              <a:rPr lang="en-US" dirty="0"/>
              <a:t>The spouse can apply for an exemption. Children under 21 or over 21 with a disability or who is blind can ask for an exemption.</a:t>
            </a:r>
          </a:p>
        </p:txBody>
      </p:sp>
    </p:spTree>
    <p:extLst>
      <p:ext uri="{BB962C8B-B14F-4D97-AF65-F5344CB8AC3E}">
        <p14:creationId xmlns:p14="http://schemas.microsoft.com/office/powerpoint/2010/main" val="21494701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219196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6350597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provides recovery management, individual support and placement with finding and keeping a job</a:t>
            </a:r>
          </a:p>
        </p:txBody>
      </p:sp>
    </p:spTree>
    <p:extLst>
      <p:ext uri="{BB962C8B-B14F-4D97-AF65-F5344CB8AC3E}">
        <p14:creationId xmlns:p14="http://schemas.microsoft.com/office/powerpoint/2010/main" val="38924752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40888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460000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7784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0C1228E-DE2E-4FB9-88D4-AF187D2EB61F}" type="datetime1">
              <a:rPr lang="en-US" smtClean="0"/>
              <a:t>12/18/2024</a:t>
            </a:fld>
            <a:endParaRPr lang="en-US"/>
          </a:p>
        </p:txBody>
      </p:sp>
      <p:sp>
        <p:nvSpPr>
          <p:cNvPr id="5" name="Footer Placeholder 4"/>
          <p:cNvSpPr>
            <a:spLocks noGrp="1"/>
          </p:cNvSpPr>
          <p:nvPr>
            <p:ph type="ftr" sz="quarter" idx="11"/>
          </p:nvPr>
        </p:nvSpPr>
        <p:spPr/>
        <p:txBody>
          <a:bodyPr/>
          <a:lstStyle/>
          <a:p>
            <a:r>
              <a:rPr lang="en-US"/>
              <a:t>ADVOCACY. ASSISTANCE. ANSWERS ON AGING AND DISABILITIES</a:t>
            </a:r>
          </a:p>
        </p:txBody>
      </p:sp>
      <p:sp>
        <p:nvSpPr>
          <p:cNvPr id="6" name="Slide Number Placeholder 5"/>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108683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EE1D4E-0C90-49E6-816A-F3C6213F2E75}" type="datetime1">
              <a:rPr lang="en-US" smtClean="0"/>
              <a:t>12/18/2024</a:t>
            </a:fld>
            <a:endParaRPr lang="en-US"/>
          </a:p>
        </p:txBody>
      </p:sp>
      <p:sp>
        <p:nvSpPr>
          <p:cNvPr id="5" name="Footer Placeholder 4"/>
          <p:cNvSpPr>
            <a:spLocks noGrp="1"/>
          </p:cNvSpPr>
          <p:nvPr>
            <p:ph type="ftr" sz="quarter" idx="11"/>
          </p:nvPr>
        </p:nvSpPr>
        <p:spPr/>
        <p:txBody>
          <a:bodyPr/>
          <a:lstStyle/>
          <a:p>
            <a:r>
              <a:rPr lang="en-US"/>
              <a:t>ADVOCACY. ASSISTANCE. ANSWERS ON AGING AND DISABILITIES</a:t>
            </a:r>
          </a:p>
        </p:txBody>
      </p:sp>
      <p:sp>
        <p:nvSpPr>
          <p:cNvPr id="6" name="Slide Number Placeholder 5"/>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727546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20B4C9-D72F-4D77-B668-26361C4D1608}" type="datetime1">
              <a:rPr lang="en-US" smtClean="0"/>
              <a:t>12/18/2024</a:t>
            </a:fld>
            <a:endParaRPr lang="en-US"/>
          </a:p>
        </p:txBody>
      </p:sp>
      <p:sp>
        <p:nvSpPr>
          <p:cNvPr id="5" name="Footer Placeholder 4"/>
          <p:cNvSpPr>
            <a:spLocks noGrp="1"/>
          </p:cNvSpPr>
          <p:nvPr>
            <p:ph type="ftr" sz="quarter" idx="11"/>
          </p:nvPr>
        </p:nvSpPr>
        <p:spPr/>
        <p:txBody>
          <a:bodyPr/>
          <a:lstStyle/>
          <a:p>
            <a:r>
              <a:rPr lang="en-US"/>
              <a:t>ADVOCACY. ASSISTANCE. ANSWERS ON AGING AND DISABILITIES</a:t>
            </a:r>
          </a:p>
        </p:txBody>
      </p:sp>
      <p:sp>
        <p:nvSpPr>
          <p:cNvPr id="6" name="Slide Number Placeholder 5"/>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162498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D8E1431-4BD3-456C-AF44-7ECDDE32A8B3}" type="datetime1">
              <a:rPr lang="en-US" smtClean="0"/>
              <a:t>12/18/2024</a:t>
            </a:fld>
            <a:endParaRPr lang="en-US"/>
          </a:p>
        </p:txBody>
      </p:sp>
      <p:sp>
        <p:nvSpPr>
          <p:cNvPr id="6" name="Footer Placeholder 5"/>
          <p:cNvSpPr>
            <a:spLocks noGrp="1"/>
          </p:cNvSpPr>
          <p:nvPr>
            <p:ph type="ftr" sz="quarter" idx="11"/>
          </p:nvPr>
        </p:nvSpPr>
        <p:spPr/>
        <p:txBody>
          <a:bodyPr/>
          <a:lstStyle/>
          <a:p>
            <a:r>
              <a:rPr lang="en-US"/>
              <a:t>ADVOCACY. ASSISTANCE. ANSWERS ON AGING AND DISABILITIES</a:t>
            </a:r>
          </a:p>
        </p:txBody>
      </p:sp>
      <p:sp>
        <p:nvSpPr>
          <p:cNvPr id="7" name="Slide Number Placeholder 6"/>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409845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F3697D6-1CDF-40DE-A1CB-CA4EC6E8AD7D}" type="datetime1">
              <a:rPr lang="en-US" smtClean="0"/>
              <a:t>12/18/2024</a:t>
            </a:fld>
            <a:endParaRPr lang="en-US"/>
          </a:p>
        </p:txBody>
      </p:sp>
      <p:sp>
        <p:nvSpPr>
          <p:cNvPr id="8" name="Footer Placeholder 7"/>
          <p:cNvSpPr>
            <a:spLocks noGrp="1"/>
          </p:cNvSpPr>
          <p:nvPr>
            <p:ph type="ftr" sz="quarter" idx="11"/>
          </p:nvPr>
        </p:nvSpPr>
        <p:spPr/>
        <p:txBody>
          <a:bodyPr/>
          <a:lstStyle/>
          <a:p>
            <a:r>
              <a:rPr lang="en-US"/>
              <a:t>ADVOCACY. ASSISTANCE. ANSWERS ON AGING AND DISABILITIES</a:t>
            </a:r>
          </a:p>
        </p:txBody>
      </p:sp>
      <p:sp>
        <p:nvSpPr>
          <p:cNvPr id="9" name="Slide Number Placeholder 8"/>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2056571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0E09E6-6872-4D25-B226-E36B5BA0E9D9}" type="datetime1">
              <a:rPr lang="en-US" smtClean="0"/>
              <a:t>12/18/2024</a:t>
            </a:fld>
            <a:endParaRPr lang="en-US"/>
          </a:p>
        </p:txBody>
      </p:sp>
      <p:sp>
        <p:nvSpPr>
          <p:cNvPr id="4" name="Footer Placeholder 3"/>
          <p:cNvSpPr>
            <a:spLocks noGrp="1"/>
          </p:cNvSpPr>
          <p:nvPr>
            <p:ph type="ftr" sz="quarter" idx="11"/>
          </p:nvPr>
        </p:nvSpPr>
        <p:spPr/>
        <p:txBody>
          <a:bodyPr/>
          <a:lstStyle/>
          <a:p>
            <a:r>
              <a:rPr lang="en-US"/>
              <a:t>ADVOCACY. ASSISTANCE. ANSWERS ON AGING AND DISABILITIES</a:t>
            </a:r>
          </a:p>
        </p:txBody>
      </p:sp>
      <p:sp>
        <p:nvSpPr>
          <p:cNvPr id="5" name="Slide Number Placeholder 4"/>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81346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54CE64-FC3F-43FF-B490-C39704C3A111}" type="datetime1">
              <a:rPr lang="en-US" smtClean="0"/>
              <a:t>12/18/2024</a:t>
            </a:fld>
            <a:endParaRPr lang="en-US"/>
          </a:p>
        </p:txBody>
      </p:sp>
      <p:sp>
        <p:nvSpPr>
          <p:cNvPr id="3" name="Footer Placeholder 2"/>
          <p:cNvSpPr>
            <a:spLocks noGrp="1"/>
          </p:cNvSpPr>
          <p:nvPr>
            <p:ph type="ftr" sz="quarter" idx="11"/>
          </p:nvPr>
        </p:nvSpPr>
        <p:spPr/>
        <p:txBody>
          <a:bodyPr/>
          <a:lstStyle/>
          <a:p>
            <a:r>
              <a:rPr lang="en-US"/>
              <a:t>ADVOCACY. ASSISTANCE. ANSWERS ON AGING AND DISABILITIES</a:t>
            </a:r>
          </a:p>
        </p:txBody>
      </p:sp>
      <p:sp>
        <p:nvSpPr>
          <p:cNvPr id="4" name="Slide Number Placeholder 3"/>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2921692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A7C15C-15F8-4D4A-B88C-0F8274DD5B7D}" type="datetime1">
              <a:rPr lang="en-US" smtClean="0"/>
              <a:t>12/18/2024</a:t>
            </a:fld>
            <a:endParaRPr lang="en-US"/>
          </a:p>
        </p:txBody>
      </p:sp>
      <p:sp>
        <p:nvSpPr>
          <p:cNvPr id="6" name="Footer Placeholder 5"/>
          <p:cNvSpPr>
            <a:spLocks noGrp="1"/>
          </p:cNvSpPr>
          <p:nvPr>
            <p:ph type="ftr" sz="quarter" idx="11"/>
          </p:nvPr>
        </p:nvSpPr>
        <p:spPr/>
        <p:txBody>
          <a:bodyPr/>
          <a:lstStyle/>
          <a:p>
            <a:r>
              <a:rPr lang="en-US"/>
              <a:t>ADVOCACY. ASSISTANCE. ANSWERS ON AGING AND DISABILITIES</a:t>
            </a:r>
          </a:p>
        </p:txBody>
      </p:sp>
      <p:sp>
        <p:nvSpPr>
          <p:cNvPr id="7" name="Slide Number Placeholder 6"/>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345100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18AD25-E94C-46D8-AF72-4DF51708381E}" type="datetime1">
              <a:rPr lang="en-US" smtClean="0"/>
              <a:t>12/18/2024</a:t>
            </a:fld>
            <a:endParaRPr lang="en-US"/>
          </a:p>
        </p:txBody>
      </p:sp>
      <p:sp>
        <p:nvSpPr>
          <p:cNvPr id="6" name="Footer Placeholder 5"/>
          <p:cNvSpPr>
            <a:spLocks noGrp="1"/>
          </p:cNvSpPr>
          <p:nvPr>
            <p:ph type="ftr" sz="quarter" idx="11"/>
          </p:nvPr>
        </p:nvSpPr>
        <p:spPr/>
        <p:txBody>
          <a:bodyPr/>
          <a:lstStyle/>
          <a:p>
            <a:r>
              <a:rPr lang="en-US"/>
              <a:t>ADVOCACY. ASSISTANCE. ANSWERS ON AGING AND DISABILITIES</a:t>
            </a:r>
          </a:p>
        </p:txBody>
      </p:sp>
      <p:sp>
        <p:nvSpPr>
          <p:cNvPr id="7" name="Slide Number Placeholder 6"/>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1182367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78E660-E292-462C-96E0-1B216C20BAD2}" type="datetime1">
              <a:rPr lang="en-US" smtClean="0"/>
              <a:t>12/18/2024</a:t>
            </a:fld>
            <a:endParaRPr lang="en-US"/>
          </a:p>
        </p:txBody>
      </p:sp>
      <p:sp>
        <p:nvSpPr>
          <p:cNvPr id="5" name="Footer Placeholder 4"/>
          <p:cNvSpPr>
            <a:spLocks noGrp="1"/>
          </p:cNvSpPr>
          <p:nvPr>
            <p:ph type="ftr" sz="quarter" idx="11"/>
          </p:nvPr>
        </p:nvSpPr>
        <p:spPr/>
        <p:txBody>
          <a:bodyPr/>
          <a:lstStyle/>
          <a:p>
            <a:r>
              <a:rPr lang="en-US"/>
              <a:t>ADVOCACY. ASSISTANCE. ANSWERS ON AGING AND DISABILITIES</a:t>
            </a:r>
          </a:p>
        </p:txBody>
      </p:sp>
      <p:sp>
        <p:nvSpPr>
          <p:cNvPr id="6" name="Slide Number Placeholder 5"/>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2393015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C8D0FC-88C1-4FA3-BB1C-19CDB41A56B0}" type="datetime1">
              <a:rPr lang="en-US" smtClean="0"/>
              <a:t>12/18/2024</a:t>
            </a:fld>
            <a:endParaRPr lang="en-US"/>
          </a:p>
        </p:txBody>
      </p:sp>
      <p:sp>
        <p:nvSpPr>
          <p:cNvPr id="5" name="Footer Placeholder 4"/>
          <p:cNvSpPr>
            <a:spLocks noGrp="1"/>
          </p:cNvSpPr>
          <p:nvPr>
            <p:ph type="ftr" sz="quarter" idx="11"/>
          </p:nvPr>
        </p:nvSpPr>
        <p:spPr/>
        <p:txBody>
          <a:bodyPr/>
          <a:lstStyle/>
          <a:p>
            <a:r>
              <a:rPr lang="en-US"/>
              <a:t>ADVOCACY. ASSISTANCE. ANSWERS ON AGING AND DISABILITIES</a:t>
            </a:r>
          </a:p>
        </p:txBody>
      </p:sp>
      <p:sp>
        <p:nvSpPr>
          <p:cNvPr id="6" name="Slide Number Placeholder 5"/>
          <p:cNvSpPr>
            <a:spLocks noGrp="1"/>
          </p:cNvSpPr>
          <p:nvPr>
            <p:ph type="sldNum" sz="quarter" idx="12"/>
          </p:nvPr>
        </p:nvSpPr>
        <p:spPr/>
        <p:txBody>
          <a:bodyPr/>
          <a:lstStyle/>
          <a:p>
            <a:fld id="{A01D6932-AE6E-48BC-A33D-E7A0C5A0D487}" type="slidenum">
              <a:rPr lang="en-US" smtClean="0"/>
              <a:t>‹#›</a:t>
            </a:fld>
            <a:endParaRPr lang="en-US"/>
          </a:p>
        </p:txBody>
      </p:sp>
    </p:spTree>
    <p:extLst>
      <p:ext uri="{BB962C8B-B14F-4D97-AF65-F5344CB8AC3E}">
        <p14:creationId xmlns:p14="http://schemas.microsoft.com/office/powerpoint/2010/main" val="3905878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DA2FD83B-F4DF-3E15-3A3D-E074DE311EF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206171" y="0"/>
            <a:ext cx="9985829" cy="6858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DB6CB3-D515-4C1A-BC6A-96F9D7ED18D9}" type="datetime1">
              <a:rPr lang="en-US" smtClean="0"/>
              <a:t>12/18/2024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ADVOCACY. ASSISTANCE. ANSWERS ON AGING AND DISABILITIES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D6932-AE6E-48BC-A33D-E7A0C5A0D487}" type="slidenum">
              <a:rPr lang="en-US" smtClean="0"/>
              <a:t>‹#›</a:t>
            </a:fld>
            <a:endParaRPr lang="en-US"/>
          </a:p>
        </p:txBody>
      </p:sp>
    </p:spTree>
    <p:extLst>
      <p:ext uri="{BB962C8B-B14F-4D97-AF65-F5344CB8AC3E}">
        <p14:creationId xmlns:p14="http://schemas.microsoft.com/office/powerpoint/2010/main" val="40894844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ohiobenefits.gov/"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mailto:BHCP@Medicaid.ohio.gov"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7238" y="0"/>
            <a:ext cx="8724480" cy="4956938"/>
          </a:xfrm>
          <a:prstGeom prst="rect">
            <a:avLst/>
          </a:prstGeom>
          <a:noFill/>
          <a:ln>
            <a:noFill/>
          </a:ln>
        </p:spPr>
      </p:pic>
      <p:cxnSp>
        <p:nvCxnSpPr>
          <p:cNvPr id="5" name="Straight Connector 4"/>
          <p:cNvCxnSpPr/>
          <p:nvPr/>
        </p:nvCxnSpPr>
        <p:spPr>
          <a:xfrm>
            <a:off x="1483923" y="4582945"/>
            <a:ext cx="9219054"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1477238" y="4762595"/>
            <a:ext cx="9225739" cy="704952"/>
          </a:xfrm>
        </p:spPr>
        <p:txBody>
          <a:bodyPr>
            <a:normAutofit/>
          </a:bodyPr>
          <a:lstStyle/>
          <a:p>
            <a:pPr algn="l"/>
            <a:r>
              <a:rPr lang="en-US" sz="3200" b="1" dirty="0">
                <a:solidFill>
                  <a:srgbClr val="031C38"/>
                </a:solidFill>
                <a:latin typeface="Century Gothic" panose="020B0502020202020204" pitchFamily="34" charset="0"/>
              </a:rPr>
              <a:t>Medicare &amp; Medicaid</a:t>
            </a:r>
          </a:p>
        </p:txBody>
      </p:sp>
      <p:sp>
        <p:nvSpPr>
          <p:cNvPr id="15" name="Freeform 14"/>
          <p:cNvSpPr/>
          <p:nvPr/>
        </p:nvSpPr>
        <p:spPr>
          <a:xfrm>
            <a:off x="0" y="0"/>
            <a:ext cx="488365" cy="6858000"/>
          </a:xfrm>
          <a:custGeom>
            <a:avLst/>
            <a:gdLst>
              <a:gd name="connsiteX0" fmla="*/ 0 w 488365"/>
              <a:gd name="connsiteY0" fmla="*/ 0 h 6700604"/>
              <a:gd name="connsiteX1" fmla="*/ 479685 w 488365"/>
              <a:gd name="connsiteY1" fmla="*/ 1873771 h 6700604"/>
              <a:gd name="connsiteX2" fmla="*/ 299803 w 488365"/>
              <a:gd name="connsiteY2" fmla="*/ 3252866 h 6700604"/>
              <a:gd name="connsiteX3" fmla="*/ 179882 w 488365"/>
              <a:gd name="connsiteY3" fmla="*/ 4317168 h 6700604"/>
              <a:gd name="connsiteX4" fmla="*/ 314793 w 488365"/>
              <a:gd name="connsiteY4" fmla="*/ 5921115 h 6700604"/>
              <a:gd name="connsiteX5" fmla="*/ 0 w 488365"/>
              <a:gd name="connsiteY5" fmla="*/ 6700604 h 67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365" h="6700604">
                <a:moveTo>
                  <a:pt x="0" y="0"/>
                </a:moveTo>
                <a:cubicBezTo>
                  <a:pt x="214859" y="665813"/>
                  <a:pt x="429718" y="1331627"/>
                  <a:pt x="479685" y="1873771"/>
                </a:cubicBezTo>
                <a:cubicBezTo>
                  <a:pt x="529652" y="2415915"/>
                  <a:pt x="349770" y="2845633"/>
                  <a:pt x="299803" y="3252866"/>
                </a:cubicBezTo>
                <a:cubicBezTo>
                  <a:pt x="249836" y="3660099"/>
                  <a:pt x="177384" y="3872460"/>
                  <a:pt x="179882" y="4317168"/>
                </a:cubicBezTo>
                <a:cubicBezTo>
                  <a:pt x="182380" y="4761876"/>
                  <a:pt x="344773" y="5523876"/>
                  <a:pt x="314793" y="5921115"/>
                </a:cubicBezTo>
                <a:cubicBezTo>
                  <a:pt x="284813" y="6318354"/>
                  <a:pt x="0" y="6700604"/>
                  <a:pt x="0" y="6700604"/>
                </a:cubicBezTo>
              </a:path>
            </a:pathLst>
          </a:custGeom>
          <a:gradFill flip="none" rotWithShape="1">
            <a:gsLst>
              <a:gs pos="55000">
                <a:srgbClr val="00BAF1"/>
              </a:gs>
              <a:gs pos="99000">
                <a:srgbClr val="B0D67E"/>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p:txBody>
      </p:sp>
      <p:sp>
        <p:nvSpPr>
          <p:cNvPr id="19" name="Freeform 18"/>
          <p:cNvSpPr/>
          <p:nvPr/>
        </p:nvSpPr>
        <p:spPr>
          <a:xfrm rot="10800000">
            <a:off x="11706101" y="0"/>
            <a:ext cx="488365" cy="6858000"/>
          </a:xfrm>
          <a:custGeom>
            <a:avLst/>
            <a:gdLst>
              <a:gd name="connsiteX0" fmla="*/ 0 w 488365"/>
              <a:gd name="connsiteY0" fmla="*/ 0 h 6700604"/>
              <a:gd name="connsiteX1" fmla="*/ 479685 w 488365"/>
              <a:gd name="connsiteY1" fmla="*/ 1873771 h 6700604"/>
              <a:gd name="connsiteX2" fmla="*/ 299803 w 488365"/>
              <a:gd name="connsiteY2" fmla="*/ 3252866 h 6700604"/>
              <a:gd name="connsiteX3" fmla="*/ 179882 w 488365"/>
              <a:gd name="connsiteY3" fmla="*/ 4317168 h 6700604"/>
              <a:gd name="connsiteX4" fmla="*/ 314793 w 488365"/>
              <a:gd name="connsiteY4" fmla="*/ 5921115 h 6700604"/>
              <a:gd name="connsiteX5" fmla="*/ 0 w 488365"/>
              <a:gd name="connsiteY5" fmla="*/ 6700604 h 6700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365" h="6700604">
                <a:moveTo>
                  <a:pt x="0" y="0"/>
                </a:moveTo>
                <a:cubicBezTo>
                  <a:pt x="214859" y="665813"/>
                  <a:pt x="429718" y="1331627"/>
                  <a:pt x="479685" y="1873771"/>
                </a:cubicBezTo>
                <a:cubicBezTo>
                  <a:pt x="529652" y="2415915"/>
                  <a:pt x="349770" y="2845633"/>
                  <a:pt x="299803" y="3252866"/>
                </a:cubicBezTo>
                <a:cubicBezTo>
                  <a:pt x="249836" y="3660099"/>
                  <a:pt x="177384" y="3872460"/>
                  <a:pt x="179882" y="4317168"/>
                </a:cubicBezTo>
                <a:cubicBezTo>
                  <a:pt x="182380" y="4761876"/>
                  <a:pt x="344773" y="5523876"/>
                  <a:pt x="314793" y="5921115"/>
                </a:cubicBezTo>
                <a:cubicBezTo>
                  <a:pt x="284813" y="6318354"/>
                  <a:pt x="0" y="6700604"/>
                  <a:pt x="0" y="6700604"/>
                </a:cubicBezTo>
              </a:path>
            </a:pathLst>
          </a:custGeom>
          <a:gradFill>
            <a:gsLst>
              <a:gs pos="100000">
                <a:srgbClr val="F47F2E"/>
              </a:gs>
              <a:gs pos="66000">
                <a:srgbClr val="FED65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0D67E"/>
              </a:solidFill>
            </a:endParaRPr>
          </a:p>
          <a:p>
            <a:pPr algn="ctr"/>
            <a:endParaRPr lang="en-US">
              <a:solidFill>
                <a:srgbClr val="B0D67E"/>
              </a:solidFill>
            </a:endParaRPr>
          </a:p>
        </p:txBody>
      </p:sp>
      <p:sp>
        <p:nvSpPr>
          <p:cNvPr id="20" name="Date Placeholder 19"/>
          <p:cNvSpPr>
            <a:spLocks noGrp="1"/>
          </p:cNvSpPr>
          <p:nvPr>
            <p:ph type="dt" sz="half" idx="10"/>
          </p:nvPr>
        </p:nvSpPr>
        <p:spPr/>
        <p:txBody>
          <a:bodyPr/>
          <a:lstStyle/>
          <a:p>
            <a:fld id="{5219436F-82A3-487D-B7FD-AFBE548EEAC6}"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22" name="Slide Number Placeholder 21"/>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a:t>
            </a:fld>
            <a:endParaRPr lang="en-US">
              <a:solidFill>
                <a:srgbClr val="031C38"/>
              </a:solidFill>
              <a:latin typeface="Century Gothic" panose="020B0502020202020204" pitchFamily="34" charset="0"/>
            </a:endParaRPr>
          </a:p>
        </p:txBody>
      </p:sp>
      <p:sp>
        <p:nvSpPr>
          <p:cNvPr id="28"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DISABILITIES.</a:t>
            </a:r>
          </a:p>
        </p:txBody>
      </p:sp>
    </p:spTree>
    <p:extLst>
      <p:ext uri="{BB962C8B-B14F-4D97-AF65-F5344CB8AC3E}">
        <p14:creationId xmlns:p14="http://schemas.microsoft.com/office/powerpoint/2010/main" val="1298145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What is Medicare?</a:t>
            </a:r>
          </a:p>
        </p:txBody>
      </p:sp>
      <p:sp>
        <p:nvSpPr>
          <p:cNvPr id="3" name="Subtitle 2"/>
          <p:cNvSpPr>
            <a:spLocks noGrp="1"/>
          </p:cNvSpPr>
          <p:nvPr>
            <p:ph idx="1"/>
          </p:nvPr>
        </p:nvSpPr>
        <p:spPr>
          <a:xfrm>
            <a:off x="614596" y="1368101"/>
            <a:ext cx="10449644" cy="4866330"/>
          </a:xfrm>
        </p:spPr>
        <p:txBody>
          <a:bodyPr>
            <a:normAutofit/>
          </a:bodyPr>
          <a:lstStyle/>
          <a:p>
            <a:pPr marL="0" indent="0">
              <a:buNone/>
            </a:pPr>
            <a:r>
              <a:rPr lang="en-US" sz="3000" dirty="0">
                <a:solidFill>
                  <a:srgbClr val="001D58"/>
                </a:solidFill>
                <a:latin typeface="Century Gothic" panose="020B0502020202020204" pitchFamily="34" charset="0"/>
              </a:rPr>
              <a:t>Medicare is a federal health insurance program administered by the Centers for Medicare and Medicaid Services (CMS) for people who are:</a:t>
            </a:r>
          </a:p>
          <a:p>
            <a:pPr marL="465138"/>
            <a:r>
              <a:rPr lang="en-US" sz="2900" dirty="0">
                <a:solidFill>
                  <a:srgbClr val="001D58"/>
                </a:solidFill>
                <a:latin typeface="Century Gothic" panose="020B0502020202020204" pitchFamily="34" charset="0"/>
              </a:rPr>
              <a:t>Age 65 and older</a:t>
            </a:r>
          </a:p>
          <a:p>
            <a:pPr marL="1036638" lvl="1" indent="-342900">
              <a:buFont typeface="Century Gothic" panose="020B0502020202020204" pitchFamily="34" charset="0"/>
              <a:buChar char="−"/>
            </a:pPr>
            <a:r>
              <a:rPr lang="en-US" sz="2500" dirty="0">
                <a:solidFill>
                  <a:srgbClr val="001D58"/>
                </a:solidFill>
                <a:latin typeface="Century Gothic" panose="020B0502020202020204" pitchFamily="34" charset="0"/>
              </a:rPr>
              <a:t>Vested in Social Security </a:t>
            </a:r>
            <a:r>
              <a:rPr lang="en-US" sz="2800" dirty="0">
                <a:solidFill>
                  <a:srgbClr val="001D58"/>
                </a:solidFill>
                <a:latin typeface="Century Gothic" panose="020B0502020202020204" pitchFamily="34" charset="0"/>
              </a:rPr>
              <a:t>(40 quarters of qualifying employment) </a:t>
            </a:r>
            <a:endParaRPr lang="en-US" sz="2500" dirty="0">
              <a:solidFill>
                <a:srgbClr val="001D58"/>
              </a:solidFill>
              <a:latin typeface="Century Gothic" panose="020B0502020202020204" pitchFamily="34" charset="0"/>
            </a:endParaRPr>
          </a:p>
          <a:p>
            <a:pPr marL="465138"/>
            <a:r>
              <a:rPr lang="en-US" sz="2900" dirty="0">
                <a:solidFill>
                  <a:srgbClr val="001D58"/>
                </a:solidFill>
                <a:latin typeface="Century Gothic" panose="020B0502020202020204" pitchFamily="34" charset="0"/>
              </a:rPr>
              <a:t>Any age and disabled</a:t>
            </a:r>
          </a:p>
          <a:p>
            <a:pPr marL="1036638" lvl="1" indent="-342900">
              <a:buFont typeface="Century Gothic" panose="020B0502020202020204" pitchFamily="34" charset="0"/>
              <a:buChar char="−"/>
            </a:pPr>
            <a:r>
              <a:rPr lang="en-US" sz="2500" dirty="0">
                <a:solidFill>
                  <a:srgbClr val="001D58"/>
                </a:solidFill>
                <a:latin typeface="Century Gothic" panose="020B0502020202020204" pitchFamily="34" charset="0"/>
              </a:rPr>
              <a:t>Receiving SSDI longer than 24 months</a:t>
            </a:r>
          </a:p>
          <a:p>
            <a:pPr marL="465138"/>
            <a:r>
              <a:rPr lang="en-US" sz="2900" dirty="0">
                <a:solidFill>
                  <a:srgbClr val="001D58"/>
                </a:solidFill>
                <a:latin typeface="Century Gothic" panose="020B0502020202020204" pitchFamily="34" charset="0"/>
              </a:rPr>
              <a:t>Diagnosed with ESRD (End Stage Renal Disease)</a:t>
            </a:r>
          </a:p>
          <a:p>
            <a:pPr marL="0" lvl="1" indent="0">
              <a:buNone/>
            </a:pPr>
            <a:endParaRPr lang="en-US" sz="26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898040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Types of Medicare</a:t>
            </a:r>
          </a:p>
        </p:txBody>
      </p:sp>
      <p:sp>
        <p:nvSpPr>
          <p:cNvPr id="3" name="Subtitle 2"/>
          <p:cNvSpPr>
            <a:spLocks noGrp="1"/>
          </p:cNvSpPr>
          <p:nvPr>
            <p:ph idx="1"/>
          </p:nvPr>
        </p:nvSpPr>
        <p:spPr>
          <a:xfrm>
            <a:off x="614596" y="1368101"/>
            <a:ext cx="10083883" cy="4866330"/>
          </a:xfrm>
        </p:spPr>
        <p:txBody>
          <a:bodyPr>
            <a:normAutofit/>
          </a:bodyPr>
          <a:lstStyle/>
          <a:p>
            <a:pPr marL="277813"/>
            <a:r>
              <a:rPr lang="en-US" sz="3200" b="1">
                <a:solidFill>
                  <a:srgbClr val="001D58"/>
                </a:solidFill>
                <a:latin typeface="Century Gothic" panose="020B0502020202020204" pitchFamily="34" charset="0"/>
              </a:rPr>
              <a:t>Part A- </a:t>
            </a:r>
            <a:r>
              <a:rPr lang="en-US" sz="3200">
                <a:solidFill>
                  <a:srgbClr val="001D58"/>
                </a:solidFill>
                <a:latin typeface="Century Gothic" panose="020B0502020202020204" pitchFamily="34" charset="0"/>
              </a:rPr>
              <a:t>Hospital (Inpatient, Hospice, etc.) </a:t>
            </a:r>
          </a:p>
          <a:p>
            <a:pPr marL="277813"/>
            <a:r>
              <a:rPr lang="en-US" sz="3200" b="1">
                <a:solidFill>
                  <a:srgbClr val="001D58"/>
                </a:solidFill>
                <a:latin typeface="Century Gothic" panose="020B0502020202020204" pitchFamily="34" charset="0"/>
              </a:rPr>
              <a:t>Part B - </a:t>
            </a:r>
            <a:r>
              <a:rPr lang="en-US" sz="3200">
                <a:solidFill>
                  <a:srgbClr val="001D58"/>
                </a:solidFill>
                <a:latin typeface="Century Gothic" panose="020B0502020202020204" pitchFamily="34" charset="0"/>
              </a:rPr>
              <a:t>Medical (Outpatient, Preventative 		Services and Screenings, etc.)</a:t>
            </a:r>
          </a:p>
          <a:p>
            <a:pPr marL="277813"/>
            <a:r>
              <a:rPr lang="en-US" sz="3200" b="1">
                <a:solidFill>
                  <a:srgbClr val="001D58"/>
                </a:solidFill>
                <a:latin typeface="Century Gothic" panose="020B0502020202020204" pitchFamily="34" charset="0"/>
              </a:rPr>
              <a:t>Part C - </a:t>
            </a:r>
            <a:r>
              <a:rPr lang="en-US" sz="3200">
                <a:solidFill>
                  <a:srgbClr val="001D58"/>
                </a:solidFill>
                <a:latin typeface="Century Gothic" panose="020B0502020202020204" pitchFamily="34" charset="0"/>
              </a:rPr>
              <a:t>Advantage Plans</a:t>
            </a:r>
          </a:p>
          <a:p>
            <a:pPr marL="277813"/>
            <a:r>
              <a:rPr lang="en-US" sz="3200" b="1">
                <a:solidFill>
                  <a:srgbClr val="001D58"/>
                </a:solidFill>
                <a:latin typeface="Century Gothic" panose="020B0502020202020204" pitchFamily="34" charset="0"/>
              </a:rPr>
              <a:t>Part D - </a:t>
            </a:r>
            <a:r>
              <a:rPr lang="en-US" sz="3200">
                <a:solidFill>
                  <a:srgbClr val="001D58"/>
                </a:solidFill>
                <a:latin typeface="Century Gothic" panose="020B0502020202020204" pitchFamily="34" charset="0"/>
              </a:rPr>
              <a:t>Prescription Drug Coverage</a:t>
            </a:r>
          </a:p>
          <a:p>
            <a:pPr marL="236538" indent="0">
              <a:buNone/>
            </a:pPr>
            <a:endParaRPr lang="en-US" sz="2600">
              <a:solidFill>
                <a:srgbClr val="001D58"/>
              </a:solidFill>
              <a:latin typeface="Century Gothic" panose="020B0502020202020204" pitchFamily="34" charset="0"/>
            </a:endParaRPr>
          </a:p>
          <a:p>
            <a:pPr marL="0" indent="0">
              <a:buNone/>
            </a:pPr>
            <a:r>
              <a:rPr lang="en-US" sz="2600">
                <a:solidFill>
                  <a:srgbClr val="001D58"/>
                </a:solidFill>
                <a:latin typeface="Century Gothic" panose="020B0502020202020204" pitchFamily="34" charset="0"/>
              </a:rPr>
              <a:t>Most people get their Medicare health coverage in one of two ways.  Your costs vary depending on your plan, coverage and the services you use. </a:t>
            </a:r>
          </a:p>
          <a:p>
            <a:pPr marL="465138"/>
            <a:endParaRPr lang="en-US" sz="3200">
              <a:solidFill>
                <a:srgbClr val="001D58"/>
              </a:solidFill>
              <a:latin typeface="Century Gothic" panose="020B0502020202020204" pitchFamily="34" charset="0"/>
            </a:endParaRP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548743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739203" cy="1019443"/>
          </a:xfrm>
        </p:spPr>
        <p:txBody>
          <a:bodyPr>
            <a:noAutofit/>
          </a:bodyPr>
          <a:lstStyle/>
          <a:p>
            <a:pPr algn="l">
              <a:tabLst>
                <a:tab pos="3538538" algn="l"/>
              </a:tabLst>
            </a:pPr>
            <a:r>
              <a:rPr lang="en-US" sz="4600" b="1">
                <a:solidFill>
                  <a:srgbClr val="001D58"/>
                </a:solidFill>
                <a:latin typeface="Century Gothic" panose="020B0502020202020204" pitchFamily="34" charset="0"/>
              </a:rPr>
              <a:t>Medicare-Health Coverage Options</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4</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10" name="Rectangle 9"/>
          <p:cNvSpPr/>
          <p:nvPr/>
        </p:nvSpPr>
        <p:spPr>
          <a:xfrm>
            <a:off x="2000013" y="1443433"/>
            <a:ext cx="1951500" cy="3275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i="1" u="sng">
                <a:solidFill>
                  <a:srgbClr val="002060"/>
                </a:solidFill>
                <a:latin typeface="Century Gothic" panose="020B0502020202020204" pitchFamily="34" charset="0"/>
              </a:rPr>
              <a:t>Option 1</a:t>
            </a:r>
          </a:p>
        </p:txBody>
      </p:sp>
      <p:sp>
        <p:nvSpPr>
          <p:cNvPr id="11" name="Rectangle 10"/>
          <p:cNvSpPr/>
          <p:nvPr/>
        </p:nvSpPr>
        <p:spPr>
          <a:xfrm>
            <a:off x="1389857" y="2014230"/>
            <a:ext cx="3225798" cy="102405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sz="2400" b="1">
                <a:solidFill>
                  <a:srgbClr val="002060"/>
                </a:solidFill>
                <a:latin typeface="Century Gothic" panose="020B0502020202020204" pitchFamily="34" charset="0"/>
              </a:rPr>
              <a:t>Original Medicare</a:t>
            </a:r>
          </a:p>
          <a:p>
            <a:pPr algn="ctr"/>
            <a:r>
              <a:rPr lang="en-US" b="1">
                <a:solidFill>
                  <a:srgbClr val="002060"/>
                </a:solidFill>
                <a:latin typeface="Century Gothic" panose="020B0502020202020204" pitchFamily="34" charset="0"/>
              </a:rPr>
              <a:t>Part A</a:t>
            </a:r>
            <a:r>
              <a:rPr lang="en-US">
                <a:solidFill>
                  <a:srgbClr val="002060"/>
                </a:solidFill>
                <a:latin typeface="Century Gothic" panose="020B0502020202020204" pitchFamily="34" charset="0"/>
              </a:rPr>
              <a:t> (Hospital) &amp;           </a:t>
            </a:r>
            <a:r>
              <a:rPr lang="en-US" b="1">
                <a:solidFill>
                  <a:srgbClr val="002060"/>
                </a:solidFill>
                <a:latin typeface="Century Gothic" panose="020B0502020202020204" pitchFamily="34" charset="0"/>
              </a:rPr>
              <a:t>Part B</a:t>
            </a:r>
            <a:r>
              <a:rPr lang="en-US">
                <a:solidFill>
                  <a:srgbClr val="002060"/>
                </a:solidFill>
                <a:latin typeface="Century Gothic" panose="020B0502020202020204" pitchFamily="34" charset="0"/>
              </a:rPr>
              <a:t>-(Medical)</a:t>
            </a:r>
          </a:p>
        </p:txBody>
      </p:sp>
      <p:sp>
        <p:nvSpPr>
          <p:cNvPr id="12" name="Rectangle 11"/>
          <p:cNvSpPr/>
          <p:nvPr/>
        </p:nvSpPr>
        <p:spPr>
          <a:xfrm>
            <a:off x="1389857" y="3424666"/>
            <a:ext cx="3225798" cy="127796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a:solidFill>
                  <a:srgbClr val="002060"/>
                </a:solidFill>
                <a:latin typeface="Century Gothic" panose="020B0502020202020204" pitchFamily="34" charset="0"/>
              </a:rPr>
              <a:t>Secondary Insurance</a:t>
            </a:r>
          </a:p>
          <a:p>
            <a:pPr algn="ctr"/>
            <a:r>
              <a:rPr lang="en-US">
                <a:solidFill>
                  <a:srgbClr val="002060"/>
                </a:solidFill>
                <a:latin typeface="Century Gothic" panose="020B0502020202020204" pitchFamily="34" charset="0"/>
              </a:rPr>
              <a:t>Group health Insurance, MedSup, or Medicaid</a:t>
            </a:r>
          </a:p>
        </p:txBody>
      </p:sp>
      <p:sp>
        <p:nvSpPr>
          <p:cNvPr id="13" name="Rectangle 12"/>
          <p:cNvSpPr/>
          <p:nvPr/>
        </p:nvSpPr>
        <p:spPr>
          <a:xfrm>
            <a:off x="1389857" y="5116499"/>
            <a:ext cx="3225798" cy="104610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a:solidFill>
                  <a:srgbClr val="002060"/>
                </a:solidFill>
                <a:latin typeface="Century Gothic" panose="020B0502020202020204" pitchFamily="34" charset="0"/>
              </a:rPr>
              <a:t>Rx Coverage</a:t>
            </a:r>
          </a:p>
          <a:p>
            <a:pPr algn="ctr"/>
            <a:r>
              <a:rPr lang="en-US">
                <a:solidFill>
                  <a:srgbClr val="002060"/>
                </a:solidFill>
                <a:latin typeface="Century Gothic" panose="020B0502020202020204" pitchFamily="34" charset="0"/>
              </a:rPr>
              <a:t>Part D or Group Health Insurance</a:t>
            </a:r>
          </a:p>
        </p:txBody>
      </p:sp>
      <p:sp>
        <p:nvSpPr>
          <p:cNvPr id="15" name="Plus 14"/>
          <p:cNvSpPr/>
          <p:nvPr/>
        </p:nvSpPr>
        <p:spPr>
          <a:xfrm>
            <a:off x="2832714" y="3104857"/>
            <a:ext cx="340084" cy="319809"/>
          </a:xfrm>
          <a:prstGeom prst="mathPlu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6" name="Plus 15"/>
          <p:cNvSpPr/>
          <p:nvPr/>
        </p:nvSpPr>
        <p:spPr>
          <a:xfrm>
            <a:off x="2834527" y="4770876"/>
            <a:ext cx="340084" cy="309688"/>
          </a:xfrm>
          <a:prstGeom prst="mathPlus">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9" name="Rectangle 8"/>
          <p:cNvSpPr/>
          <p:nvPr/>
        </p:nvSpPr>
        <p:spPr>
          <a:xfrm>
            <a:off x="5491021" y="2843247"/>
            <a:ext cx="844470" cy="523220"/>
          </a:xfrm>
          <a:prstGeom prst="rect">
            <a:avLst/>
          </a:prstGeom>
        </p:spPr>
        <p:txBody>
          <a:bodyPr wrap="square">
            <a:spAutoFit/>
          </a:bodyPr>
          <a:lstStyle/>
          <a:p>
            <a:pPr algn="ctr"/>
            <a:r>
              <a:rPr lang="en-US" sz="2800" b="1" i="1">
                <a:solidFill>
                  <a:srgbClr val="002060"/>
                </a:solidFill>
                <a:latin typeface="Century Gothic" panose="020B0502020202020204" pitchFamily="34" charset="0"/>
              </a:rPr>
              <a:t>OR</a:t>
            </a:r>
          </a:p>
        </p:txBody>
      </p:sp>
      <p:sp>
        <p:nvSpPr>
          <p:cNvPr id="17" name="Rectangle 16"/>
          <p:cNvSpPr/>
          <p:nvPr/>
        </p:nvSpPr>
        <p:spPr>
          <a:xfrm>
            <a:off x="7637593" y="1384568"/>
            <a:ext cx="2196390" cy="384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i="1" u="sng">
                <a:solidFill>
                  <a:srgbClr val="002060"/>
                </a:solidFill>
                <a:latin typeface="Century Gothic" panose="020B0502020202020204" pitchFamily="34" charset="0"/>
              </a:rPr>
              <a:t>Option 2</a:t>
            </a:r>
          </a:p>
        </p:txBody>
      </p:sp>
      <p:sp>
        <p:nvSpPr>
          <p:cNvPr id="18" name="Rectangle 17"/>
          <p:cNvSpPr/>
          <p:nvPr/>
        </p:nvSpPr>
        <p:spPr>
          <a:xfrm>
            <a:off x="7210857" y="2014230"/>
            <a:ext cx="3158454" cy="192095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a:solidFill>
                  <a:srgbClr val="002060"/>
                </a:solidFill>
                <a:latin typeface="Century Gothic" panose="020B0502020202020204" pitchFamily="34" charset="0"/>
              </a:rPr>
              <a:t>Medicare Advantage (Part C)</a:t>
            </a:r>
          </a:p>
          <a:p>
            <a:pPr marL="342900" indent="-342900">
              <a:buAutoNum type="arabicPeriod"/>
            </a:pPr>
            <a:r>
              <a:rPr lang="en-US">
                <a:solidFill>
                  <a:srgbClr val="002060"/>
                </a:solidFill>
                <a:latin typeface="Century Gothic" panose="020B0502020202020204" pitchFamily="34" charset="0"/>
              </a:rPr>
              <a:t>Hospitalization</a:t>
            </a:r>
          </a:p>
          <a:p>
            <a:pPr marL="342900" indent="-342900">
              <a:buAutoNum type="arabicPeriod"/>
            </a:pPr>
            <a:r>
              <a:rPr lang="en-US">
                <a:solidFill>
                  <a:srgbClr val="002060"/>
                </a:solidFill>
                <a:latin typeface="Century Gothic" panose="020B0502020202020204" pitchFamily="34" charset="0"/>
              </a:rPr>
              <a:t>Medical</a:t>
            </a:r>
          </a:p>
          <a:p>
            <a:pPr marL="342900" indent="-342900">
              <a:buAutoNum type="arabicPeriod"/>
            </a:pPr>
            <a:r>
              <a:rPr lang="en-US">
                <a:solidFill>
                  <a:srgbClr val="002060"/>
                </a:solidFill>
                <a:latin typeface="Century Gothic" panose="020B0502020202020204" pitchFamily="34" charset="0"/>
              </a:rPr>
              <a:t>Rx (MA-PA)</a:t>
            </a:r>
          </a:p>
        </p:txBody>
      </p:sp>
    </p:spTree>
    <p:extLst>
      <p:ext uri="{BB962C8B-B14F-4D97-AF65-F5344CB8AC3E}">
        <p14:creationId xmlns:p14="http://schemas.microsoft.com/office/powerpoint/2010/main" val="87996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Traditional Medicare – Part A</a:t>
            </a:r>
          </a:p>
        </p:txBody>
      </p:sp>
      <p:sp>
        <p:nvSpPr>
          <p:cNvPr id="3" name="Subtitle 2"/>
          <p:cNvSpPr>
            <a:spLocks noGrp="1"/>
          </p:cNvSpPr>
          <p:nvPr>
            <p:ph idx="1"/>
          </p:nvPr>
        </p:nvSpPr>
        <p:spPr>
          <a:xfrm>
            <a:off x="614596" y="1368101"/>
            <a:ext cx="10083883" cy="4866330"/>
          </a:xfrm>
        </p:spPr>
        <p:txBody>
          <a:bodyPr>
            <a:normAutofit/>
          </a:bodyPr>
          <a:lstStyle/>
          <a:p>
            <a:pPr marL="465138"/>
            <a:r>
              <a:rPr lang="en-US" sz="3200" dirty="0">
                <a:solidFill>
                  <a:srgbClr val="001D58"/>
                </a:solidFill>
                <a:latin typeface="Century Gothic" panose="020B0502020202020204" pitchFamily="34" charset="0"/>
              </a:rPr>
              <a:t>Covered services include:</a:t>
            </a:r>
          </a:p>
          <a:p>
            <a:pPr marL="1093788" indent="-457200">
              <a:buFont typeface="Century Gothic" panose="020B0502020202020204" pitchFamily="34" charset="0"/>
              <a:buChar char="−"/>
            </a:pPr>
            <a:r>
              <a:rPr lang="en-US" sz="3200" dirty="0">
                <a:solidFill>
                  <a:srgbClr val="001D58"/>
                </a:solidFill>
                <a:latin typeface="Century Gothic" panose="020B0502020202020204" pitchFamily="34" charset="0"/>
              </a:rPr>
              <a:t>Hospital stays (inpatient) </a:t>
            </a:r>
          </a:p>
          <a:p>
            <a:pPr marL="1709738" lvl="1" indent="-338138">
              <a:buFont typeface="+mj-lt"/>
              <a:buAutoNum type="arabicPeriod"/>
            </a:pPr>
            <a:r>
              <a:rPr lang="en-US" dirty="0">
                <a:solidFill>
                  <a:srgbClr val="001D58"/>
                </a:solidFill>
                <a:latin typeface="Century Gothic" panose="020B0502020202020204" pitchFamily="34" charset="0"/>
              </a:rPr>
              <a:t>After Initial Deductible ($1,632)</a:t>
            </a:r>
          </a:p>
          <a:p>
            <a:pPr marL="1709738" lvl="1" indent="-338138">
              <a:buFont typeface="+mj-lt"/>
              <a:buAutoNum type="arabicPeriod"/>
            </a:pPr>
            <a:r>
              <a:rPr lang="en-US" dirty="0">
                <a:solidFill>
                  <a:srgbClr val="001D58"/>
                </a:solidFill>
                <a:latin typeface="Century Gothic" panose="020B0502020202020204" pitchFamily="34" charset="0"/>
              </a:rPr>
              <a:t>Uses 60 Day Periods </a:t>
            </a:r>
          </a:p>
          <a:p>
            <a:pPr marL="1709738" lvl="1" indent="-338138">
              <a:buFont typeface="+mj-lt"/>
              <a:buAutoNum type="arabicPeriod"/>
            </a:pPr>
            <a:r>
              <a:rPr lang="en-US" dirty="0">
                <a:solidFill>
                  <a:srgbClr val="001D58"/>
                </a:solidFill>
                <a:latin typeface="Century Gothic" panose="020B0502020202020204" pitchFamily="34" charset="0"/>
              </a:rPr>
              <a:t>Pays the hospital set amount for a diagnosis regardless of time in facility</a:t>
            </a:r>
          </a:p>
          <a:p>
            <a:pPr marL="465138"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001D58"/>
                </a:solidFill>
                <a:effectLst/>
                <a:uLnTx/>
                <a:uFillTx/>
                <a:latin typeface="Century Gothic" panose="020B0502020202020204" pitchFamily="34" charset="0"/>
                <a:ea typeface="+mn-ea"/>
                <a:cs typeface="+mn-cs"/>
              </a:rPr>
              <a:t>Post-Hospital </a:t>
            </a:r>
            <a:r>
              <a:rPr lang="en-US" sz="3200" dirty="0">
                <a:solidFill>
                  <a:srgbClr val="001D58"/>
                </a:solidFill>
                <a:latin typeface="Century Gothic" panose="020B0502020202020204" pitchFamily="34" charset="0"/>
              </a:rPr>
              <a:t>s</a:t>
            </a:r>
            <a:r>
              <a:rPr kumimoji="0" lang="en-US" sz="3200" b="0" i="0" u="none" strike="noStrike" kern="1200" cap="none" spc="0" normalizeH="0" baseline="0" noProof="0" dirty="0">
                <a:ln>
                  <a:noFill/>
                </a:ln>
                <a:solidFill>
                  <a:srgbClr val="001D58"/>
                </a:solidFill>
                <a:effectLst/>
                <a:uLnTx/>
                <a:uFillTx/>
                <a:latin typeface="Century Gothic" panose="020B0502020202020204" pitchFamily="34" charset="0"/>
                <a:ea typeface="+mn-ea"/>
                <a:cs typeface="+mn-cs"/>
              </a:rPr>
              <a:t>killed nursing facility care</a:t>
            </a:r>
          </a:p>
          <a:p>
            <a:pPr marL="1093788" marR="0" lvl="0" indent="-457200" algn="l" defTabSz="914400" rtl="0" eaLnBrk="1" fontAlgn="auto" latinLnBrk="0" hangingPunct="1">
              <a:lnSpc>
                <a:spcPct val="90000"/>
              </a:lnSpc>
              <a:spcBef>
                <a:spcPts val="1000"/>
              </a:spcBef>
              <a:spcAft>
                <a:spcPts val="0"/>
              </a:spcAft>
              <a:buClrTx/>
              <a:buSzTx/>
              <a:buFont typeface="Century Gothic" panose="020B0502020202020204" pitchFamily="34" charset="0"/>
              <a:buChar char="−"/>
              <a:tabLst/>
              <a:defRPr/>
            </a:pPr>
            <a:r>
              <a:rPr kumimoji="0" lang="en-US" sz="2600" b="0" i="0" u="none" strike="noStrike" kern="1200" cap="none" spc="0" normalizeH="0" baseline="0" noProof="0" dirty="0">
                <a:ln>
                  <a:noFill/>
                </a:ln>
                <a:solidFill>
                  <a:srgbClr val="001D58"/>
                </a:solidFill>
                <a:effectLst/>
                <a:uLnTx/>
                <a:uFillTx/>
                <a:latin typeface="Century Gothic" panose="020B0502020202020204" pitchFamily="34" charset="0"/>
                <a:ea typeface="+mn-ea"/>
                <a:cs typeface="+mn-cs"/>
              </a:rPr>
              <a:t>Subacute or Rehab care up to 100 days after a minimum of a 3-day (consecutive) inpatient hospital stay for a related illness or injury</a:t>
            </a:r>
          </a:p>
          <a:p>
            <a:pPr marL="236538" indent="0">
              <a:buNone/>
            </a:pPr>
            <a:endParaRPr lang="en-US" sz="32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5</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758529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dirty="0">
                <a:solidFill>
                  <a:srgbClr val="001D58"/>
                </a:solidFill>
                <a:latin typeface="Century Gothic" panose="020B0502020202020204" pitchFamily="34" charset="0"/>
              </a:rPr>
              <a:t>Traditional Medicare – Part A Cont.</a:t>
            </a:r>
          </a:p>
        </p:txBody>
      </p:sp>
      <p:sp>
        <p:nvSpPr>
          <p:cNvPr id="3" name="Subtitle 2"/>
          <p:cNvSpPr>
            <a:spLocks noGrp="1"/>
          </p:cNvSpPr>
          <p:nvPr>
            <p:ph idx="1"/>
          </p:nvPr>
        </p:nvSpPr>
        <p:spPr>
          <a:xfrm>
            <a:off x="614596" y="1368101"/>
            <a:ext cx="10083883" cy="4866330"/>
          </a:xfrm>
        </p:spPr>
        <p:txBody>
          <a:bodyPr>
            <a:normAutofit/>
          </a:bodyPr>
          <a:lstStyle/>
          <a:p>
            <a:pPr marL="465138"/>
            <a:r>
              <a:rPr lang="en-US" sz="3200">
                <a:solidFill>
                  <a:srgbClr val="001D58"/>
                </a:solidFill>
                <a:latin typeface="Century Gothic" panose="020B0502020202020204" pitchFamily="34" charset="0"/>
              </a:rPr>
              <a:t>Some Skilled Home Health Care Services</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Must be homebound</a:t>
            </a:r>
          </a:p>
          <a:p>
            <a:pPr marL="465138"/>
            <a:r>
              <a:rPr lang="en-US" sz="3200">
                <a:solidFill>
                  <a:srgbClr val="001D58"/>
                </a:solidFill>
                <a:latin typeface="Century Gothic" panose="020B0502020202020204" pitchFamily="34" charset="0"/>
              </a:rPr>
              <a:t>Hospice care</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Pain relief and symptom management for terminally ill persons who qualify</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Does not pay for room and board at a hospice or nursing facility</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6</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434350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Out-of-Pocket Part A Costs</a:t>
            </a:r>
          </a:p>
        </p:txBody>
      </p:sp>
      <p:sp>
        <p:nvSpPr>
          <p:cNvPr id="3" name="Subtitle 2"/>
          <p:cNvSpPr>
            <a:spLocks noGrp="1"/>
          </p:cNvSpPr>
          <p:nvPr>
            <p:ph idx="1"/>
          </p:nvPr>
        </p:nvSpPr>
        <p:spPr>
          <a:xfrm>
            <a:off x="614596" y="1368101"/>
            <a:ext cx="5041942" cy="4866330"/>
          </a:xfrm>
        </p:spPr>
        <p:txBody>
          <a:bodyPr>
            <a:normAutofit/>
          </a:bodyPr>
          <a:lstStyle/>
          <a:p>
            <a:pPr marL="0" indent="0">
              <a:buNone/>
            </a:pPr>
            <a:r>
              <a:rPr lang="en-US" b="1">
                <a:solidFill>
                  <a:srgbClr val="001D58"/>
                </a:solidFill>
                <a:latin typeface="Century Gothic" panose="020B0502020202020204" pitchFamily="34" charset="0"/>
              </a:rPr>
              <a:t>Monthly Premium:            </a:t>
            </a:r>
          </a:p>
          <a:p>
            <a:pPr marL="0" indent="0">
              <a:buNone/>
            </a:pPr>
            <a:r>
              <a:rPr lang="en-US" sz="2400">
                <a:solidFill>
                  <a:srgbClr val="001D58"/>
                </a:solidFill>
                <a:latin typeface="Century Gothic" panose="020B0502020202020204" pitchFamily="34" charset="0"/>
              </a:rPr>
              <a:t> $0 for most*</a:t>
            </a:r>
          </a:p>
          <a:p>
            <a:pPr marL="0" indent="0">
              <a:buNone/>
            </a:pPr>
            <a:r>
              <a:rPr lang="en-US" b="1">
                <a:solidFill>
                  <a:srgbClr val="001D58"/>
                </a:solidFill>
                <a:latin typeface="Century Gothic" panose="020B0502020202020204" pitchFamily="34" charset="0"/>
              </a:rPr>
              <a:t>Hospital Deductible:</a:t>
            </a:r>
          </a:p>
          <a:p>
            <a:pPr marL="0" indent="0">
              <a:buNone/>
            </a:pPr>
            <a:r>
              <a:rPr lang="en-US" sz="2400">
                <a:solidFill>
                  <a:srgbClr val="001D58"/>
                </a:solidFill>
                <a:latin typeface="Century Gothic" panose="020B0502020202020204" pitchFamily="34" charset="0"/>
              </a:rPr>
              <a:t>$1,632/benefit period</a:t>
            </a:r>
          </a:p>
          <a:p>
            <a:pPr marL="0" indent="0">
              <a:buNone/>
            </a:pPr>
            <a:r>
              <a:rPr lang="en-US" b="1">
                <a:solidFill>
                  <a:srgbClr val="001D58"/>
                </a:solidFill>
                <a:latin typeface="Century Gothic" panose="020B0502020202020204" pitchFamily="34" charset="0"/>
              </a:rPr>
              <a:t>Hospital Daily Copayments</a:t>
            </a:r>
            <a:r>
              <a:rPr lang="en-US" sz="2000">
                <a:solidFill>
                  <a:srgbClr val="001D58"/>
                </a:solidFill>
                <a:latin typeface="Century Gothic" panose="020B0502020202020204" pitchFamily="34" charset="0"/>
              </a:rPr>
              <a:t>:</a:t>
            </a:r>
          </a:p>
          <a:p>
            <a:pPr marL="576263"/>
            <a:r>
              <a:rPr lang="en-US" sz="2400">
                <a:solidFill>
                  <a:srgbClr val="001D58"/>
                </a:solidFill>
                <a:latin typeface="Century Gothic" panose="020B0502020202020204" pitchFamily="34" charset="0"/>
              </a:rPr>
              <a:t>Days 1-60: $0</a:t>
            </a:r>
          </a:p>
          <a:p>
            <a:pPr marL="576263"/>
            <a:r>
              <a:rPr lang="en-US" sz="2400">
                <a:solidFill>
                  <a:srgbClr val="001D58"/>
                </a:solidFill>
                <a:latin typeface="Century Gothic" panose="020B0502020202020204" pitchFamily="34" charset="0"/>
              </a:rPr>
              <a:t>Days 61-90: $408 per day</a:t>
            </a:r>
          </a:p>
          <a:p>
            <a:pPr marL="576263"/>
            <a:r>
              <a:rPr lang="en-US" sz="2400">
                <a:solidFill>
                  <a:srgbClr val="001D58"/>
                </a:solidFill>
                <a:latin typeface="Century Gothic" panose="020B0502020202020204" pitchFamily="34" charset="0"/>
              </a:rPr>
              <a:t>Days 91-150: $816 per day</a:t>
            </a:r>
          </a:p>
          <a:p>
            <a:pPr marL="0" indent="0">
              <a:buNone/>
            </a:pPr>
            <a:r>
              <a:rPr lang="en-US" sz="2400" i="1">
                <a:solidFill>
                  <a:srgbClr val="001D58"/>
                </a:solidFill>
                <a:latin typeface="Century Gothic" panose="020B0502020202020204" pitchFamily="34" charset="0"/>
              </a:rPr>
              <a:t>  (Lifetime reserve days)</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7</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9" name="Subtitle 2"/>
          <p:cNvSpPr txBox="1">
            <a:spLocks/>
          </p:cNvSpPr>
          <p:nvPr/>
        </p:nvSpPr>
        <p:spPr>
          <a:xfrm>
            <a:off x="5875196" y="1353495"/>
            <a:ext cx="5117482" cy="48663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rgbClr val="001D58"/>
                </a:solidFill>
                <a:latin typeface="Century Gothic" panose="020B0502020202020204" pitchFamily="34" charset="0"/>
              </a:rPr>
              <a:t>Skilled Nursing Daily Copayments</a:t>
            </a:r>
          </a:p>
          <a:p>
            <a:pPr marL="396875"/>
            <a:r>
              <a:rPr lang="en-US" sz="2400" dirty="0">
                <a:solidFill>
                  <a:srgbClr val="001D58"/>
                </a:solidFill>
                <a:latin typeface="Century Gothic" panose="020B0502020202020204" pitchFamily="34" charset="0"/>
              </a:rPr>
              <a:t>Days 1-20: $0</a:t>
            </a:r>
          </a:p>
          <a:p>
            <a:pPr marL="396875"/>
            <a:r>
              <a:rPr lang="en-US" sz="2400" dirty="0">
                <a:solidFill>
                  <a:srgbClr val="001D58"/>
                </a:solidFill>
                <a:latin typeface="Century Gothic" panose="020B0502020202020204" pitchFamily="34" charset="0"/>
              </a:rPr>
              <a:t>Days 21-100: $204</a:t>
            </a:r>
          </a:p>
          <a:p>
            <a:pPr marL="0" indent="0">
              <a:buNone/>
            </a:pPr>
            <a:endParaRPr lang="en-US" sz="3200" dirty="0">
              <a:solidFill>
                <a:srgbClr val="001D58"/>
              </a:solidFill>
              <a:latin typeface="Century Gothic" panose="020B0502020202020204" pitchFamily="34" charset="0"/>
            </a:endParaRPr>
          </a:p>
          <a:p>
            <a:pPr marL="179388" indent="0">
              <a:buNone/>
            </a:pPr>
            <a:r>
              <a:rPr lang="en-US" sz="2300" dirty="0">
                <a:solidFill>
                  <a:srgbClr val="001D58"/>
                </a:solidFill>
                <a:latin typeface="Century Gothic" panose="020B0502020202020204" pitchFamily="34" charset="0"/>
              </a:rPr>
              <a:t>*Those with fewer than 40 quarters of work credit pay a Part A premium of up to $505/month.</a:t>
            </a:r>
          </a:p>
        </p:txBody>
      </p:sp>
    </p:spTree>
    <p:extLst>
      <p:ext uri="{BB962C8B-B14F-4D97-AF65-F5344CB8AC3E}">
        <p14:creationId xmlns:p14="http://schemas.microsoft.com/office/powerpoint/2010/main" val="3889088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Traditional Medicare – Part B</a:t>
            </a:r>
          </a:p>
        </p:txBody>
      </p:sp>
      <p:sp>
        <p:nvSpPr>
          <p:cNvPr id="3" name="Subtitle 2"/>
          <p:cNvSpPr>
            <a:spLocks noGrp="1"/>
          </p:cNvSpPr>
          <p:nvPr>
            <p:ph idx="1"/>
          </p:nvPr>
        </p:nvSpPr>
        <p:spPr>
          <a:xfrm>
            <a:off x="614596" y="1368101"/>
            <a:ext cx="10083883" cy="4866330"/>
          </a:xfrm>
        </p:spPr>
        <p:txBody>
          <a:bodyPr>
            <a:normAutofit fontScale="92500"/>
          </a:bodyPr>
          <a:lstStyle/>
          <a:p>
            <a:pPr marL="465138"/>
            <a:r>
              <a:rPr lang="en-US" sz="3200">
                <a:solidFill>
                  <a:srgbClr val="001D58"/>
                </a:solidFill>
                <a:latin typeface="Century Gothic" panose="020B0502020202020204" pitchFamily="34" charset="0"/>
              </a:rPr>
              <a:t>Eligibility is voluntary, monthly premium taken from Social Security ($174.70) </a:t>
            </a:r>
          </a:p>
          <a:p>
            <a:pPr marL="465138"/>
            <a:r>
              <a:rPr lang="en-US" sz="3200">
                <a:solidFill>
                  <a:srgbClr val="001D58"/>
                </a:solidFill>
                <a:latin typeface="Century Gothic" panose="020B0502020202020204" pitchFamily="34" charset="0"/>
              </a:rPr>
              <a:t>Pays 80% of bills after yearly $240 deductible</a:t>
            </a:r>
          </a:p>
          <a:p>
            <a:pPr marL="465138"/>
            <a:r>
              <a:rPr lang="en-US" sz="3200">
                <a:solidFill>
                  <a:srgbClr val="001D58"/>
                </a:solidFill>
                <a:latin typeface="Century Gothic" panose="020B0502020202020204" pitchFamily="34" charset="0"/>
              </a:rPr>
              <a:t>Covered services include:</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Doctor visits</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Outpatient care and Medical Services (ER visit, x-ray, cast, outpatient surgery)</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Durable medical equipment (DME) (oxygen, wheelchair, walker, etc.)</a:t>
            </a:r>
          </a:p>
          <a:p>
            <a:pPr marL="1093788" indent="-457200">
              <a:buFont typeface="Century Gothic" panose="020B0502020202020204" pitchFamily="34" charset="0"/>
              <a:buChar char="−"/>
            </a:pPr>
            <a:r>
              <a:rPr lang="en-US" sz="2600">
                <a:solidFill>
                  <a:srgbClr val="001D58"/>
                </a:solidFill>
                <a:latin typeface="Century Gothic" panose="020B0502020202020204" pitchFamily="34" charset="0"/>
              </a:rPr>
              <a:t>Preventative Benefits (counseling, education, screenings, lab tests, annual “wellness” visit, vaccines, etc.)</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8</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333958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Out-of-Pocket Part B Costs</a:t>
            </a:r>
          </a:p>
        </p:txBody>
      </p:sp>
      <p:sp>
        <p:nvSpPr>
          <p:cNvPr id="3" name="Subtitle 2"/>
          <p:cNvSpPr>
            <a:spLocks noGrp="1"/>
          </p:cNvSpPr>
          <p:nvPr>
            <p:ph idx="1"/>
          </p:nvPr>
        </p:nvSpPr>
        <p:spPr>
          <a:xfrm>
            <a:off x="614596" y="1368101"/>
            <a:ext cx="10083883" cy="4866330"/>
          </a:xfrm>
        </p:spPr>
        <p:txBody>
          <a:bodyPr>
            <a:normAutofit/>
          </a:bodyPr>
          <a:lstStyle/>
          <a:p>
            <a:pPr marL="576263" indent="-298450"/>
            <a:r>
              <a:rPr lang="en-US" sz="3200" b="1">
                <a:solidFill>
                  <a:srgbClr val="001D58"/>
                </a:solidFill>
                <a:latin typeface="Century Gothic" panose="020B0502020202020204" pitchFamily="34" charset="0"/>
              </a:rPr>
              <a:t>Monthly Premium- </a:t>
            </a:r>
            <a:r>
              <a:rPr lang="en-US" sz="3200">
                <a:solidFill>
                  <a:srgbClr val="001D58"/>
                </a:solidFill>
                <a:latin typeface="Century Gothic" panose="020B0502020202020204" pitchFamily="34" charset="0"/>
              </a:rPr>
              <a:t>$174.70</a:t>
            </a:r>
          </a:p>
          <a:p>
            <a:pPr marL="576263" indent="-298450"/>
            <a:r>
              <a:rPr lang="en-US" sz="3200" b="1">
                <a:solidFill>
                  <a:srgbClr val="001D58"/>
                </a:solidFill>
                <a:latin typeface="Century Gothic" panose="020B0502020202020204" pitchFamily="34" charset="0"/>
              </a:rPr>
              <a:t>Annual Deductible- </a:t>
            </a:r>
            <a:r>
              <a:rPr lang="en-US" sz="3200">
                <a:solidFill>
                  <a:srgbClr val="001D58"/>
                </a:solidFill>
                <a:latin typeface="Century Gothic" panose="020B0502020202020204" pitchFamily="34" charset="0"/>
              </a:rPr>
              <a:t>$240</a:t>
            </a:r>
          </a:p>
          <a:p>
            <a:pPr marL="576263" indent="-298450"/>
            <a:r>
              <a:rPr lang="en-US" sz="3200" b="1">
                <a:solidFill>
                  <a:srgbClr val="001D58"/>
                </a:solidFill>
                <a:latin typeface="Century Gothic" panose="020B0502020202020204" pitchFamily="34" charset="0"/>
              </a:rPr>
              <a:t>Coinsurance-</a:t>
            </a:r>
            <a:r>
              <a:rPr lang="en-US" sz="3200">
                <a:solidFill>
                  <a:srgbClr val="001D58"/>
                </a:solidFill>
                <a:latin typeface="Century Gothic" panose="020B0502020202020204" pitchFamily="34" charset="0"/>
              </a:rPr>
              <a:t> 20% for most services after meeting the deductible</a:t>
            </a:r>
          </a:p>
          <a:p>
            <a:pPr marL="465138"/>
            <a:endParaRPr lang="en-US" sz="3200">
              <a:solidFill>
                <a:srgbClr val="001D58"/>
              </a:solidFill>
              <a:latin typeface="Century Gothic" panose="020B0502020202020204" pitchFamily="34" charset="0"/>
            </a:endParaRPr>
          </a:p>
          <a:p>
            <a:pPr marL="119063" indent="0">
              <a:buNone/>
            </a:pPr>
            <a:r>
              <a:rPr lang="en-US" sz="2600" b="1" u="sng">
                <a:solidFill>
                  <a:srgbClr val="001D58"/>
                </a:solidFill>
                <a:latin typeface="Century Gothic" panose="020B0502020202020204" pitchFamily="34" charset="0"/>
              </a:rPr>
              <a:t>Note:</a:t>
            </a:r>
            <a:r>
              <a:rPr lang="en-US" sz="2600">
                <a:solidFill>
                  <a:srgbClr val="001D58"/>
                </a:solidFill>
                <a:latin typeface="Century Gothic" panose="020B0502020202020204" pitchFamily="34" charset="0"/>
              </a:rPr>
              <a:t> Some will pay a higher premium if they enroll late (late enrollment penalty) or have a higher income (adjusted based on monthly income)</a:t>
            </a:r>
          </a:p>
          <a:p>
            <a:pPr marL="465138"/>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9</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976919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86219" cy="1256709"/>
          </a:xfrm>
        </p:spPr>
        <p:txBody>
          <a:bodyPr>
            <a:noAutofit/>
          </a:bodyPr>
          <a:lstStyle/>
          <a:p>
            <a:r>
              <a:rPr lang="en-US" sz="4800" b="1">
                <a:solidFill>
                  <a:srgbClr val="001D58"/>
                </a:solidFill>
                <a:latin typeface="Century Gothic" panose="020B0502020202020204" pitchFamily="34" charset="0"/>
              </a:rPr>
              <a:t>Medicare Part A+B: Open Enrollment Periods</a:t>
            </a:r>
          </a:p>
        </p:txBody>
      </p:sp>
      <p:sp>
        <p:nvSpPr>
          <p:cNvPr id="3" name="Subtitle 2"/>
          <p:cNvSpPr>
            <a:spLocks noGrp="1"/>
          </p:cNvSpPr>
          <p:nvPr>
            <p:ph idx="1"/>
          </p:nvPr>
        </p:nvSpPr>
        <p:spPr>
          <a:xfrm>
            <a:off x="614596" y="1758359"/>
            <a:ext cx="10739204" cy="4597991"/>
          </a:xfrm>
        </p:spPr>
        <p:txBody>
          <a:bodyPr>
            <a:normAutofit fontScale="92500" lnSpcReduction="10000"/>
          </a:bodyPr>
          <a:lstStyle/>
          <a:p>
            <a:pPr marL="465138"/>
            <a:r>
              <a:rPr lang="en-US" b="1">
                <a:solidFill>
                  <a:srgbClr val="001D58"/>
                </a:solidFill>
                <a:latin typeface="Century Gothic" panose="020B0502020202020204" pitchFamily="34" charset="0"/>
              </a:rPr>
              <a:t>Initial Open Enrollment- 7 months around 65th birthday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3 months before your 65th birthday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The month of your 65th birthday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3 months after your 65th birthday</a:t>
            </a:r>
          </a:p>
          <a:p>
            <a:pPr marL="465138"/>
            <a:r>
              <a:rPr lang="en-US" b="1">
                <a:solidFill>
                  <a:srgbClr val="001D58"/>
                </a:solidFill>
                <a:latin typeface="Century Gothic" panose="020B0502020202020204" pitchFamily="34" charset="0"/>
              </a:rPr>
              <a:t>General Open Enrollment- If you don’t enroll for Part A and/or B when you are first eligible, you can apply: </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January 1st - March 31 of each year </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Your coverage with begin July 1st of that year</a:t>
            </a:r>
          </a:p>
          <a:p>
            <a:pPr marL="465138"/>
            <a:r>
              <a:rPr lang="en-US" b="1">
                <a:solidFill>
                  <a:srgbClr val="001D58"/>
                </a:solidFill>
                <a:latin typeface="Century Gothic" panose="020B0502020202020204" pitchFamily="34" charset="0"/>
              </a:rPr>
              <a:t>If you miss your enrollment period and apply After July: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You can’t enroll until next January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Your coverage starts the following July</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You’ll pay a 10% penalty each year you wait </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10</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646696"/>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338544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86219" cy="1256709"/>
          </a:xfrm>
        </p:spPr>
        <p:txBody>
          <a:bodyPr>
            <a:noAutofit/>
          </a:bodyPr>
          <a:lstStyle/>
          <a:p>
            <a:r>
              <a:rPr lang="en-US" sz="4800" b="1">
                <a:solidFill>
                  <a:srgbClr val="001D58"/>
                </a:solidFill>
                <a:latin typeface="Century Gothic" panose="020B0502020202020204" pitchFamily="34" charset="0"/>
              </a:rPr>
              <a:t>Medicare Part A+B: Special Enrollment Period</a:t>
            </a:r>
          </a:p>
        </p:txBody>
      </p:sp>
      <p:sp>
        <p:nvSpPr>
          <p:cNvPr id="3" name="Subtitle 2"/>
          <p:cNvSpPr>
            <a:spLocks noGrp="1"/>
          </p:cNvSpPr>
          <p:nvPr>
            <p:ph idx="1"/>
          </p:nvPr>
        </p:nvSpPr>
        <p:spPr>
          <a:xfrm>
            <a:off x="614596" y="1758359"/>
            <a:ext cx="10739204" cy="4597991"/>
          </a:xfrm>
        </p:spPr>
        <p:txBody>
          <a:bodyPr>
            <a:normAutofit/>
          </a:bodyPr>
          <a:lstStyle/>
          <a:p>
            <a:pPr marL="0" indent="0">
              <a:buNone/>
            </a:pPr>
            <a:r>
              <a:rPr lang="en-US">
                <a:solidFill>
                  <a:srgbClr val="001D58"/>
                </a:solidFill>
                <a:latin typeface="Century Gothic" panose="020B0502020202020204" pitchFamily="34" charset="0"/>
              </a:rPr>
              <a:t>If you don’t sign up for Part A and/or Part B when you are first eligible because you are covered under a group health plan based on current employment (your own, a spouse’s, or a family member’s if you are disabled), you can sign up for Part A and/or Part B:</a:t>
            </a:r>
          </a:p>
          <a:p>
            <a:pPr marL="636588" lvl="1" indent="-298450"/>
            <a:r>
              <a:rPr lang="en-US" sz="2600">
                <a:solidFill>
                  <a:srgbClr val="001D58"/>
                </a:solidFill>
                <a:latin typeface="Century Gothic" panose="020B0502020202020204" pitchFamily="34" charset="0"/>
              </a:rPr>
              <a:t>Anytime you are still covered by the group health plan</a:t>
            </a:r>
          </a:p>
          <a:p>
            <a:pPr marL="636588" lvl="1" indent="-298450"/>
            <a:r>
              <a:rPr lang="en-US" sz="2600">
                <a:solidFill>
                  <a:srgbClr val="001D58"/>
                </a:solidFill>
                <a:latin typeface="Century Gothic" panose="020B0502020202020204" pitchFamily="34" charset="0"/>
              </a:rPr>
              <a:t>During the 8-month period that begins the month after the employment ends or the coverage ends, whichever happens first</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11</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646696"/>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173177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49643" cy="1019443"/>
          </a:xfrm>
        </p:spPr>
        <p:txBody>
          <a:bodyPr>
            <a:normAutofit/>
          </a:bodyPr>
          <a:lstStyle/>
          <a:p>
            <a:pPr algn="l"/>
            <a:r>
              <a:rPr lang="en-US" sz="4600" b="1">
                <a:solidFill>
                  <a:srgbClr val="001D58"/>
                </a:solidFill>
                <a:latin typeface="Century Gothic" panose="020B0502020202020204" pitchFamily="34" charset="0"/>
              </a:rPr>
              <a:t>Verification of Medicare Enrollment</a:t>
            </a:r>
          </a:p>
        </p:txBody>
      </p:sp>
      <p:sp>
        <p:nvSpPr>
          <p:cNvPr id="3" name="Subtitle 2"/>
          <p:cNvSpPr>
            <a:spLocks noGrp="1"/>
          </p:cNvSpPr>
          <p:nvPr>
            <p:ph idx="1"/>
          </p:nvPr>
        </p:nvSpPr>
        <p:spPr>
          <a:xfrm>
            <a:off x="614596" y="1368101"/>
            <a:ext cx="10449644" cy="4866330"/>
          </a:xfrm>
        </p:spPr>
        <p:txBody>
          <a:bodyPr>
            <a:normAutofit/>
          </a:bodyPr>
          <a:lstStyle/>
          <a:p>
            <a:pPr marL="0" indent="0">
              <a:buNone/>
            </a:pPr>
            <a:r>
              <a:rPr lang="en-US" sz="3000" dirty="0">
                <a:solidFill>
                  <a:srgbClr val="001D58"/>
                </a:solidFill>
                <a:latin typeface="Century Gothic" panose="020B0502020202020204" pitchFamily="34" charset="0"/>
              </a:rPr>
              <a:t>An individual’s current enrollment must be verified with either:</a:t>
            </a:r>
          </a:p>
          <a:p>
            <a:pPr marL="465138"/>
            <a:r>
              <a:rPr lang="en-US" sz="2900" dirty="0">
                <a:solidFill>
                  <a:srgbClr val="001D58"/>
                </a:solidFill>
                <a:latin typeface="Century Gothic" panose="020B0502020202020204" pitchFamily="34" charset="0"/>
              </a:rPr>
              <a:t>A copy of the Medicare card</a:t>
            </a:r>
          </a:p>
          <a:p>
            <a:pPr marL="465138"/>
            <a:r>
              <a:rPr lang="en-US" sz="2900" dirty="0">
                <a:solidFill>
                  <a:srgbClr val="001D58"/>
                </a:solidFill>
                <a:latin typeface="Century Gothic" panose="020B0502020202020204" pitchFamily="34" charset="0"/>
              </a:rPr>
              <a:t>The </a:t>
            </a:r>
            <a:r>
              <a:rPr lang="en-US" sz="2900" dirty="0" err="1">
                <a:solidFill>
                  <a:srgbClr val="001D58"/>
                </a:solidFill>
                <a:latin typeface="Century Gothic" panose="020B0502020202020204" pitchFamily="34" charset="0"/>
              </a:rPr>
              <a:t>Bendex</a:t>
            </a:r>
            <a:r>
              <a:rPr lang="en-US" sz="2900" dirty="0">
                <a:solidFill>
                  <a:srgbClr val="001D58"/>
                </a:solidFill>
                <a:latin typeface="Century Gothic" panose="020B0502020202020204" pitchFamily="34" charset="0"/>
              </a:rPr>
              <a:t>, (only viewable by ODJFS staff)</a:t>
            </a:r>
          </a:p>
          <a:p>
            <a:pPr marL="465138"/>
            <a:r>
              <a:rPr lang="en-US" sz="2900" dirty="0">
                <a:solidFill>
                  <a:srgbClr val="001D58"/>
                </a:solidFill>
                <a:latin typeface="Century Gothic" panose="020B0502020202020204" pitchFamily="34" charset="0"/>
              </a:rPr>
              <a:t>A written statement from the Social Security Administration</a:t>
            </a:r>
          </a:p>
          <a:p>
            <a:pPr marL="0" lvl="1" indent="0">
              <a:buNone/>
            </a:pPr>
            <a:endParaRPr lang="en-US" sz="26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228754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Medicare Savings Program (MSP)</a:t>
            </a:r>
          </a:p>
        </p:txBody>
      </p:sp>
      <p:sp>
        <p:nvSpPr>
          <p:cNvPr id="3" name="Subtitle 2"/>
          <p:cNvSpPr>
            <a:spLocks noGrp="1"/>
          </p:cNvSpPr>
          <p:nvPr>
            <p:ph idx="1"/>
          </p:nvPr>
        </p:nvSpPr>
        <p:spPr>
          <a:xfrm>
            <a:off x="614596" y="1368100"/>
            <a:ext cx="10083883" cy="5855025"/>
          </a:xfrm>
        </p:spPr>
        <p:txBody>
          <a:bodyPr>
            <a:normAutofit/>
          </a:bodyPr>
          <a:lstStyle/>
          <a:p>
            <a:pPr marL="0" indent="0">
              <a:buNone/>
            </a:pPr>
            <a:r>
              <a:rPr lang="en-US" sz="2400">
                <a:solidFill>
                  <a:srgbClr val="001D58"/>
                </a:solidFill>
                <a:latin typeface="Century Gothic" panose="020B0502020202020204" pitchFamily="34" charset="0"/>
              </a:rPr>
              <a:t>Helps pay for your monthly health care coverage and save on other associated out-of-pocket costs as well.  </a:t>
            </a:r>
          </a:p>
          <a:p>
            <a:pPr marL="0" indent="0">
              <a:buNone/>
            </a:pPr>
            <a:r>
              <a:rPr lang="en-US" sz="2400" i="1">
                <a:solidFill>
                  <a:srgbClr val="001D58"/>
                </a:solidFill>
                <a:latin typeface="Century Gothic" panose="020B0502020202020204" pitchFamily="34" charset="0"/>
              </a:rPr>
              <a:t>Four levels of eligibility under MSP:</a:t>
            </a:r>
          </a:p>
          <a:p>
            <a:pPr marL="407988" indent="0">
              <a:buNone/>
            </a:pPr>
            <a:r>
              <a:rPr lang="en-US" sz="1800">
                <a:solidFill>
                  <a:srgbClr val="001D58"/>
                </a:solidFill>
                <a:latin typeface="Century Gothic" panose="020B0502020202020204" pitchFamily="34" charset="0"/>
              </a:rPr>
              <a:t>	</a:t>
            </a:r>
            <a:r>
              <a:rPr lang="en-US" sz="2000" b="1">
                <a:solidFill>
                  <a:srgbClr val="001D58"/>
                </a:solidFill>
                <a:latin typeface="Century Gothic" panose="020B0502020202020204" pitchFamily="34" charset="0"/>
              </a:rPr>
              <a:t>Qualified Medicare Beneficiary (QMB)</a:t>
            </a:r>
          </a:p>
          <a:p>
            <a:pPr marL="1600200" lvl="2"/>
            <a:r>
              <a:rPr lang="en-US" sz="1800">
                <a:solidFill>
                  <a:srgbClr val="001D58"/>
                </a:solidFill>
                <a:latin typeface="Century Gothic" panose="020B0502020202020204" pitchFamily="34" charset="0"/>
              </a:rPr>
              <a:t>Serves as a free Medicare Supplement policy</a:t>
            </a:r>
          </a:p>
          <a:p>
            <a:pPr marL="1600200" lvl="2"/>
            <a:r>
              <a:rPr lang="en-US" sz="1800">
                <a:solidFill>
                  <a:srgbClr val="001D58"/>
                </a:solidFill>
                <a:latin typeface="Century Gothic" panose="020B0502020202020204" pitchFamily="34" charset="0"/>
              </a:rPr>
              <a:t>Pays the Part B premium</a:t>
            </a:r>
          </a:p>
          <a:p>
            <a:pPr marL="1600200" lvl="2"/>
            <a:r>
              <a:rPr lang="en-US" sz="1800">
                <a:solidFill>
                  <a:srgbClr val="001D58"/>
                </a:solidFill>
                <a:latin typeface="Century Gothic" panose="020B0502020202020204" pitchFamily="34" charset="0"/>
              </a:rPr>
              <a:t>Pays all deductibles and coinsurance that Medicare does not pay</a:t>
            </a:r>
          </a:p>
          <a:p>
            <a:pPr marL="407988" indent="0">
              <a:buNone/>
            </a:pPr>
            <a:r>
              <a:rPr lang="en-US" sz="2000">
                <a:solidFill>
                  <a:srgbClr val="001D58"/>
                </a:solidFill>
                <a:latin typeface="Century Gothic" panose="020B0502020202020204" pitchFamily="34" charset="0"/>
              </a:rPr>
              <a:t>	</a:t>
            </a:r>
            <a:r>
              <a:rPr lang="en-US" sz="2000" b="1">
                <a:solidFill>
                  <a:srgbClr val="001D58"/>
                </a:solidFill>
                <a:latin typeface="Century Gothic" panose="020B0502020202020204" pitchFamily="34" charset="0"/>
              </a:rPr>
              <a:t>Specified Low Income Medicare Beneficiary (SLMB)</a:t>
            </a:r>
          </a:p>
          <a:p>
            <a:pPr marL="1600200" lvl="2"/>
            <a:r>
              <a:rPr lang="en-US" sz="1800">
                <a:solidFill>
                  <a:srgbClr val="001D58"/>
                </a:solidFill>
                <a:latin typeface="Century Gothic" panose="020B0502020202020204" pitchFamily="34" charset="0"/>
              </a:rPr>
              <a:t>Pays the Part B premium </a:t>
            </a:r>
          </a:p>
          <a:p>
            <a:pPr marL="1600200" lvl="2"/>
            <a:r>
              <a:rPr lang="en-US" sz="1800">
                <a:solidFill>
                  <a:srgbClr val="001D58"/>
                </a:solidFill>
                <a:latin typeface="Century Gothic" panose="020B0502020202020204" pitchFamily="34" charset="0"/>
              </a:rPr>
              <a:t>Pays Retroactive Part B premium amounts for each of the past three months.</a:t>
            </a:r>
          </a:p>
          <a:p>
            <a:pPr marL="407988" indent="0">
              <a:buNone/>
            </a:pPr>
            <a:r>
              <a:rPr lang="en-US" sz="2000">
                <a:solidFill>
                  <a:srgbClr val="001D58"/>
                </a:solidFill>
                <a:latin typeface="Century Gothic" panose="020B0502020202020204" pitchFamily="34" charset="0"/>
              </a:rPr>
              <a:t>	</a:t>
            </a:r>
            <a:r>
              <a:rPr lang="en-US" sz="2000" b="1">
                <a:solidFill>
                  <a:srgbClr val="001D58"/>
                </a:solidFill>
                <a:latin typeface="Century Gothic" panose="020B0502020202020204" pitchFamily="34" charset="0"/>
              </a:rPr>
              <a:t>Qualified Individual (QI)</a:t>
            </a:r>
          </a:p>
          <a:p>
            <a:pPr marL="1600200" lvl="2"/>
            <a:r>
              <a:rPr lang="en-US" sz="1800">
                <a:solidFill>
                  <a:srgbClr val="001D58"/>
                </a:solidFill>
                <a:latin typeface="Century Gothic" panose="020B0502020202020204" pitchFamily="34" charset="0"/>
              </a:rPr>
              <a:t>Pays the Part B premium</a:t>
            </a:r>
          </a:p>
          <a:p>
            <a:pPr marL="914400" lvl="1" indent="0">
              <a:buNone/>
            </a:pPr>
            <a:r>
              <a:rPr lang="en-US" sz="2000" b="1">
                <a:solidFill>
                  <a:srgbClr val="001D58"/>
                </a:solidFill>
                <a:latin typeface="Century Gothic" panose="020B0502020202020204" pitchFamily="34" charset="0"/>
              </a:rPr>
              <a:t>Qualified Disabled and Working Individuals (QDWI)</a:t>
            </a:r>
          </a:p>
          <a:p>
            <a:pPr marL="1600200" lvl="2"/>
            <a:r>
              <a:rPr lang="en-US" sz="1800">
                <a:solidFill>
                  <a:srgbClr val="001D58"/>
                </a:solidFill>
                <a:latin typeface="Century Gothic" panose="020B0502020202020204" pitchFamily="34" charset="0"/>
              </a:rPr>
              <a:t>Pays the Part B premium</a:t>
            </a:r>
          </a:p>
          <a:p>
            <a:pPr marL="1600200" lvl="2"/>
            <a:endParaRPr lang="en-US" sz="14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886645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Who qualifies for MSP?</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a:solidFill>
                  <a:srgbClr val="001D58"/>
                </a:solidFill>
                <a:latin typeface="Century Gothic" panose="020B0502020202020204" pitchFamily="34" charset="0"/>
              </a:rPr>
              <a:t>Individuals who yearly income and total resources are below these limits in 2024. </a:t>
            </a:r>
          </a:p>
          <a:p>
            <a:pPr marL="750888" indent="-412750"/>
            <a:r>
              <a:rPr lang="en-US">
                <a:solidFill>
                  <a:srgbClr val="001D58"/>
                </a:solidFill>
                <a:latin typeface="Century Gothic" panose="020B0502020202020204" pitchFamily="34" charset="0"/>
              </a:rPr>
              <a:t>Single Person</a:t>
            </a:r>
          </a:p>
          <a:p>
            <a:pPr marL="1317625" lvl="2" indent="-342900">
              <a:buFont typeface="Century Gothic" panose="020B0502020202020204" pitchFamily="34" charset="0"/>
              <a:buChar char="−"/>
            </a:pPr>
            <a:r>
              <a:rPr lang="en-US" sz="2400">
                <a:solidFill>
                  <a:srgbClr val="001D58"/>
                </a:solidFill>
                <a:latin typeface="Century Gothic" panose="020B0502020202020204" pitchFamily="34" charset="0"/>
              </a:rPr>
              <a:t>Income less than $1,641/month </a:t>
            </a:r>
            <a:r>
              <a:rPr lang="en-US" sz="2400" i="1">
                <a:solidFill>
                  <a:srgbClr val="001D58"/>
                </a:solidFill>
                <a:latin typeface="Century Gothic" panose="020B0502020202020204" pitchFamily="34" charset="0"/>
              </a:rPr>
              <a:t>and</a:t>
            </a:r>
          </a:p>
          <a:p>
            <a:pPr marL="1317625" lvl="2" indent="-342900">
              <a:buFont typeface="Century Gothic" panose="020B0502020202020204" pitchFamily="34" charset="0"/>
              <a:buChar char="−"/>
            </a:pPr>
            <a:r>
              <a:rPr lang="en-US" sz="2400">
                <a:solidFill>
                  <a:srgbClr val="001D58"/>
                </a:solidFill>
                <a:latin typeface="Century Gothic" panose="020B0502020202020204" pitchFamily="34" charset="0"/>
              </a:rPr>
              <a:t>Total resources less than $9,430</a:t>
            </a:r>
          </a:p>
          <a:p>
            <a:pPr marL="735013" lvl="1" indent="-396875"/>
            <a:r>
              <a:rPr lang="en-US" sz="2800">
                <a:solidFill>
                  <a:srgbClr val="001D58"/>
                </a:solidFill>
                <a:latin typeface="Century Gothic" panose="020B0502020202020204" pitchFamily="34" charset="0"/>
              </a:rPr>
              <a:t>Married person living with a spouse and no other dependents</a:t>
            </a:r>
          </a:p>
          <a:p>
            <a:pPr marL="1311275" lvl="1" indent="-354013">
              <a:buFont typeface="Century Gothic" panose="020B0502020202020204" pitchFamily="34" charset="0"/>
              <a:buChar char="−"/>
            </a:pPr>
            <a:r>
              <a:rPr lang="en-US">
                <a:solidFill>
                  <a:srgbClr val="001D58"/>
                </a:solidFill>
                <a:latin typeface="Century Gothic" panose="020B0502020202020204" pitchFamily="34" charset="0"/>
              </a:rPr>
              <a:t>Income less than $2,219/month </a:t>
            </a:r>
            <a:r>
              <a:rPr lang="en-US" i="1">
                <a:solidFill>
                  <a:srgbClr val="001D58"/>
                </a:solidFill>
                <a:latin typeface="Century Gothic" panose="020B0502020202020204" pitchFamily="34" charset="0"/>
              </a:rPr>
              <a:t>and</a:t>
            </a:r>
            <a:r>
              <a:rPr lang="en-US">
                <a:solidFill>
                  <a:srgbClr val="001D58"/>
                </a:solidFill>
                <a:latin typeface="Century Gothic" panose="020B0502020202020204" pitchFamily="34" charset="0"/>
              </a:rPr>
              <a:t> </a:t>
            </a:r>
          </a:p>
          <a:p>
            <a:pPr marL="1311275" lvl="1" indent="-354013">
              <a:buFont typeface="Century Gothic" panose="020B0502020202020204" pitchFamily="34" charset="0"/>
              <a:buChar char="−"/>
            </a:pPr>
            <a:r>
              <a:rPr lang="en-US">
                <a:solidFill>
                  <a:srgbClr val="001D58"/>
                </a:solidFill>
                <a:latin typeface="Century Gothic" panose="020B0502020202020204" pitchFamily="34" charset="0"/>
              </a:rPr>
              <a:t>Total resources less than $14,130</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14</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444111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Medicare Part D</a:t>
            </a:r>
          </a:p>
        </p:txBody>
      </p:sp>
      <p:sp>
        <p:nvSpPr>
          <p:cNvPr id="3" name="Subtitle 2"/>
          <p:cNvSpPr>
            <a:spLocks noGrp="1"/>
          </p:cNvSpPr>
          <p:nvPr>
            <p:ph idx="1"/>
          </p:nvPr>
        </p:nvSpPr>
        <p:spPr>
          <a:xfrm>
            <a:off x="614596" y="1368101"/>
            <a:ext cx="10083883" cy="4866330"/>
          </a:xfrm>
        </p:spPr>
        <p:txBody>
          <a:bodyPr>
            <a:normAutofit/>
          </a:bodyPr>
          <a:lstStyle/>
          <a:p>
            <a:pPr marL="465138"/>
            <a:r>
              <a:rPr lang="en-US">
                <a:solidFill>
                  <a:srgbClr val="001D58"/>
                </a:solidFill>
                <a:latin typeface="Century Gothic" panose="020B0502020202020204" pitchFamily="34" charset="0"/>
              </a:rPr>
              <a:t>Provides </a:t>
            </a:r>
            <a:r>
              <a:rPr lang="en-US" b="1">
                <a:solidFill>
                  <a:srgbClr val="001D58"/>
                </a:solidFill>
                <a:latin typeface="Century Gothic" panose="020B0502020202020204" pitchFamily="34" charset="0"/>
              </a:rPr>
              <a:t>prescription drug coverage </a:t>
            </a:r>
            <a:r>
              <a:rPr lang="en-US">
                <a:solidFill>
                  <a:srgbClr val="001D58"/>
                </a:solidFill>
                <a:latin typeface="Century Gothic" panose="020B0502020202020204" pitchFamily="34" charset="0"/>
              </a:rPr>
              <a:t>for all people with Medicare</a:t>
            </a:r>
          </a:p>
          <a:p>
            <a:pPr marL="465138"/>
            <a:r>
              <a:rPr lang="en-US">
                <a:solidFill>
                  <a:srgbClr val="001D58"/>
                </a:solidFill>
                <a:latin typeface="Century Gothic" panose="020B0502020202020204" pitchFamily="34" charset="0"/>
              </a:rPr>
              <a:t>Participants enroll in their preferred plan, in their geographic area</a:t>
            </a:r>
          </a:p>
          <a:p>
            <a:pPr marL="465138"/>
            <a:r>
              <a:rPr lang="en-US">
                <a:solidFill>
                  <a:srgbClr val="001D58"/>
                </a:solidFill>
                <a:latin typeface="Century Gothic" panose="020B0502020202020204" pitchFamily="34" charset="0"/>
              </a:rPr>
              <a:t>Plans are provided by an insurance company or other private insurance companies approved by Medicare</a:t>
            </a:r>
          </a:p>
          <a:p>
            <a:pPr marL="236538" indent="0">
              <a:buNone/>
            </a:pPr>
            <a:endParaRPr lang="en-US" sz="3200">
              <a:solidFill>
                <a:srgbClr val="001D58"/>
              </a:solidFill>
              <a:latin typeface="Century Gothic" panose="020B0502020202020204" pitchFamily="34" charset="0"/>
            </a:endParaRPr>
          </a:p>
          <a:p>
            <a:pPr marL="179388" indent="0">
              <a:buNone/>
            </a:pPr>
            <a:r>
              <a:rPr lang="en-US" i="1">
                <a:solidFill>
                  <a:srgbClr val="001D58"/>
                </a:solidFill>
                <a:latin typeface="Century Gothic" panose="020B0502020202020204" pitchFamily="34" charset="0"/>
              </a:rPr>
              <a:t>Each plan can vary in cost and specific drugs covered</a:t>
            </a:r>
          </a:p>
          <a:p>
            <a:pPr marL="236538" indent="0">
              <a:buNone/>
            </a:pPr>
            <a:endParaRPr lang="en-US" sz="3200">
              <a:solidFill>
                <a:srgbClr val="001D58"/>
              </a:solidFill>
              <a:latin typeface="Century Gothic" panose="020B0502020202020204" pitchFamily="34" charset="0"/>
            </a:endParaRP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15</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004126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Medicare Part D cont.</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a:solidFill>
                  <a:srgbClr val="001D58"/>
                </a:solidFill>
                <a:latin typeface="Century Gothic" panose="020B0502020202020204" pitchFamily="34" charset="0"/>
              </a:rPr>
              <a:t>Participants should consider joining a Medicare drug plan even if you don’t currently take prescriptions due to the following:  </a:t>
            </a:r>
          </a:p>
          <a:p>
            <a:pPr marL="750888" indent="-293688"/>
            <a:r>
              <a:rPr lang="en-US" sz="2600">
                <a:solidFill>
                  <a:srgbClr val="001D58"/>
                </a:solidFill>
                <a:latin typeface="Century Gothic" panose="020B0502020202020204" pitchFamily="34" charset="0"/>
              </a:rPr>
              <a:t>If you decide not to join a Medicare drug plan when you’re first eligible, and you don’t have other prescription drug coverage, or you don’t qualify for Extra Help you will: </a:t>
            </a:r>
          </a:p>
          <a:p>
            <a:pPr marL="1317625" lvl="2" indent="-342900">
              <a:buFont typeface="Century Gothic" panose="020B0502020202020204" pitchFamily="34" charset="0"/>
              <a:buChar char="−"/>
            </a:pPr>
            <a:r>
              <a:rPr lang="en-US" sz="2400">
                <a:solidFill>
                  <a:srgbClr val="001D58"/>
                </a:solidFill>
                <a:latin typeface="Century Gothic" panose="020B0502020202020204" pitchFamily="34" charset="0"/>
              </a:rPr>
              <a:t>Pay a late enrollment penalty if you join later </a:t>
            </a:r>
            <a:r>
              <a:rPr lang="en-US" sz="2400" i="1">
                <a:solidFill>
                  <a:srgbClr val="001D58"/>
                </a:solidFill>
                <a:latin typeface="Century Gothic" panose="020B0502020202020204" pitchFamily="34" charset="0"/>
              </a:rPr>
              <a:t>and</a:t>
            </a:r>
          </a:p>
          <a:p>
            <a:pPr marL="1317625" lvl="2" indent="-342900">
              <a:buFont typeface="Century Gothic" panose="020B0502020202020204" pitchFamily="34" charset="0"/>
              <a:buChar char="−"/>
            </a:pPr>
            <a:r>
              <a:rPr lang="en-US" sz="2400">
                <a:solidFill>
                  <a:srgbClr val="001D58"/>
                </a:solidFill>
                <a:latin typeface="Century Gothic" panose="020B0502020202020204" pitchFamily="34" charset="0"/>
              </a:rPr>
              <a:t>You will have a waiting period before coverage starts </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16</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0762721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dirty="0">
                <a:solidFill>
                  <a:srgbClr val="001D58"/>
                </a:solidFill>
                <a:latin typeface="Century Gothic" panose="020B0502020202020204" pitchFamily="34" charset="0"/>
              </a:rPr>
              <a:t>Medicare Part D Coverage cont.</a:t>
            </a:r>
          </a:p>
        </p:txBody>
      </p:sp>
      <p:sp>
        <p:nvSpPr>
          <p:cNvPr id="3" name="Subtitle 2"/>
          <p:cNvSpPr>
            <a:spLocks noGrp="1"/>
          </p:cNvSpPr>
          <p:nvPr>
            <p:ph idx="1"/>
          </p:nvPr>
        </p:nvSpPr>
        <p:spPr>
          <a:xfrm>
            <a:off x="614596" y="1368101"/>
            <a:ext cx="10083883" cy="4866330"/>
          </a:xfrm>
        </p:spPr>
        <p:txBody>
          <a:bodyPr>
            <a:normAutofit/>
          </a:bodyPr>
          <a:lstStyle/>
          <a:p>
            <a:pPr marL="465138"/>
            <a:r>
              <a:rPr lang="en-US" sz="2600">
                <a:solidFill>
                  <a:srgbClr val="001D58"/>
                </a:solidFill>
                <a:latin typeface="Century Gothic" panose="020B0502020202020204" pitchFamily="34" charset="0"/>
              </a:rPr>
              <a:t>Medicare drug plans must cover all medically necessary, commercially available vaccines not already covered under Part B </a:t>
            </a:r>
          </a:p>
          <a:p>
            <a:pPr marL="1036638" lvl="1" indent="-342900">
              <a:buFont typeface="Century Gothic" panose="020B0502020202020204" pitchFamily="34" charset="0"/>
              <a:buChar char="−"/>
            </a:pPr>
            <a:r>
              <a:rPr lang="en-US" sz="2300" i="1">
                <a:solidFill>
                  <a:srgbClr val="001D58"/>
                </a:solidFill>
                <a:latin typeface="Century Gothic" panose="020B0502020202020204" pitchFamily="34" charset="0"/>
              </a:rPr>
              <a:t>Example: Shingles vaccine</a:t>
            </a:r>
            <a:r>
              <a:rPr lang="en-US" sz="2300">
                <a:solidFill>
                  <a:srgbClr val="001D58"/>
                </a:solidFill>
                <a:latin typeface="Century Gothic" panose="020B0502020202020204" pitchFamily="34" charset="0"/>
              </a:rPr>
              <a:t> </a:t>
            </a:r>
          </a:p>
          <a:p>
            <a:pPr marL="465138"/>
            <a:r>
              <a:rPr lang="en-US" sz="2600">
                <a:solidFill>
                  <a:srgbClr val="001D58"/>
                </a:solidFill>
                <a:latin typeface="Century Gothic" panose="020B0502020202020204" pitchFamily="34" charset="0"/>
              </a:rPr>
              <a:t>Plans may have additional restrictions for coverage such as: </a:t>
            </a:r>
          </a:p>
          <a:p>
            <a:pPr marL="1036638" lvl="1" indent="-342900">
              <a:buFont typeface="Century Gothic" panose="020B0502020202020204" pitchFamily="34" charset="0"/>
              <a:buChar char="−"/>
            </a:pPr>
            <a:r>
              <a:rPr lang="en-US" sz="2300" i="1">
                <a:solidFill>
                  <a:srgbClr val="001D58"/>
                </a:solidFill>
                <a:latin typeface="Century Gothic" panose="020B0502020202020204" pitchFamily="34" charset="0"/>
              </a:rPr>
              <a:t>Prior authorization</a:t>
            </a:r>
            <a:r>
              <a:rPr lang="en-US" sz="2300">
                <a:solidFill>
                  <a:srgbClr val="001D58"/>
                </a:solidFill>
                <a:latin typeface="Century Gothic" panose="020B0502020202020204" pitchFamily="34" charset="0"/>
              </a:rPr>
              <a:t>: May need to show the drug is medically necessary</a:t>
            </a:r>
          </a:p>
          <a:p>
            <a:pPr marL="1036638" lvl="1" indent="-342900">
              <a:buFont typeface="Century Gothic" panose="020B0502020202020204" pitchFamily="34" charset="0"/>
              <a:buChar char="−"/>
            </a:pPr>
            <a:r>
              <a:rPr lang="en-US" sz="2300" i="1">
                <a:solidFill>
                  <a:srgbClr val="001D58"/>
                </a:solidFill>
                <a:latin typeface="Century Gothic" panose="020B0502020202020204" pitchFamily="34" charset="0"/>
              </a:rPr>
              <a:t>Quantity limits: </a:t>
            </a:r>
            <a:r>
              <a:rPr lang="en-US" sz="2300">
                <a:solidFill>
                  <a:srgbClr val="001D58"/>
                </a:solidFill>
                <a:latin typeface="Century Gothic" panose="020B0502020202020204" pitchFamily="34" charset="0"/>
              </a:rPr>
              <a:t>Limits on how much medication you can get at one time</a:t>
            </a:r>
          </a:p>
          <a:p>
            <a:pPr marL="1036638" lvl="1" indent="-342900">
              <a:buFont typeface="Century Gothic" panose="020B0502020202020204" pitchFamily="34" charset="0"/>
              <a:buChar char="−"/>
            </a:pPr>
            <a:r>
              <a:rPr lang="en-US" sz="2300" i="1">
                <a:solidFill>
                  <a:srgbClr val="001D58"/>
                </a:solidFill>
                <a:latin typeface="Century Gothic" panose="020B0502020202020204" pitchFamily="34" charset="0"/>
              </a:rPr>
              <a:t>Step therapy:</a:t>
            </a:r>
            <a:r>
              <a:rPr lang="en-US" sz="2300">
                <a:solidFill>
                  <a:srgbClr val="001D58"/>
                </a:solidFill>
                <a:latin typeface="Century Gothic" panose="020B0502020202020204" pitchFamily="34" charset="0"/>
              </a:rPr>
              <a:t> Must try one or more similar, lower cost drugs before plan will cover the prescribed drug</a:t>
            </a:r>
          </a:p>
          <a:p>
            <a:pPr marL="236538" indent="0">
              <a:buNone/>
            </a:pPr>
            <a:endParaRPr lang="en-US" sz="3200">
              <a:solidFill>
                <a:srgbClr val="001D58"/>
              </a:solidFill>
              <a:latin typeface="Century Gothic" panose="020B0502020202020204" pitchFamily="34" charset="0"/>
            </a:endParaRP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17</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897501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dirty="0">
                <a:solidFill>
                  <a:srgbClr val="001D58"/>
                </a:solidFill>
                <a:latin typeface="Century Gothic" panose="020B0502020202020204" pitchFamily="34" charset="0"/>
              </a:rPr>
              <a:t>Medicare Part D Costs</a:t>
            </a:r>
          </a:p>
        </p:txBody>
      </p:sp>
      <p:sp>
        <p:nvSpPr>
          <p:cNvPr id="3" name="Subtitle 2"/>
          <p:cNvSpPr>
            <a:spLocks noGrp="1"/>
          </p:cNvSpPr>
          <p:nvPr>
            <p:ph idx="1"/>
          </p:nvPr>
        </p:nvSpPr>
        <p:spPr>
          <a:xfrm>
            <a:off x="614596" y="1368101"/>
            <a:ext cx="5041942" cy="4851724"/>
          </a:xfrm>
        </p:spPr>
        <p:txBody>
          <a:bodyPr>
            <a:normAutofit/>
          </a:bodyPr>
          <a:lstStyle/>
          <a:p>
            <a:pPr marL="0" indent="0">
              <a:buNone/>
            </a:pPr>
            <a:r>
              <a:rPr lang="en-US" sz="2600" b="1">
                <a:solidFill>
                  <a:srgbClr val="001D58"/>
                </a:solidFill>
                <a:latin typeface="Century Gothic" panose="020B0502020202020204" pitchFamily="34" charset="0"/>
              </a:rPr>
              <a:t>Average Monthly premium: </a:t>
            </a:r>
            <a:r>
              <a:rPr lang="en-US" sz="2600">
                <a:solidFill>
                  <a:srgbClr val="001D58"/>
                </a:solidFill>
                <a:latin typeface="Century Gothic" panose="020B0502020202020204" pitchFamily="34" charset="0"/>
              </a:rPr>
              <a:t>$55.00</a:t>
            </a:r>
          </a:p>
          <a:p>
            <a:pPr marL="0" indent="0">
              <a:buNone/>
            </a:pPr>
            <a:endParaRPr lang="en-US" sz="2600">
              <a:solidFill>
                <a:srgbClr val="001D58"/>
              </a:solidFill>
              <a:latin typeface="Century Gothic" panose="020B0502020202020204" pitchFamily="34" charset="0"/>
            </a:endParaRPr>
          </a:p>
          <a:p>
            <a:pPr marL="0" indent="0">
              <a:buNone/>
            </a:pPr>
            <a:r>
              <a:rPr lang="en-US" sz="2600" b="1">
                <a:solidFill>
                  <a:srgbClr val="001D58"/>
                </a:solidFill>
                <a:latin typeface="Century Gothic" panose="020B0502020202020204" pitchFamily="34" charset="0"/>
              </a:rPr>
              <a:t>Annual Deductible: </a:t>
            </a:r>
            <a:r>
              <a:rPr lang="en-US" sz="2600">
                <a:solidFill>
                  <a:srgbClr val="001D58"/>
                </a:solidFill>
                <a:latin typeface="Century Gothic" panose="020B0502020202020204" pitchFamily="34" charset="0"/>
              </a:rPr>
              <a:t>$0-$545</a:t>
            </a:r>
          </a:p>
          <a:p>
            <a:pPr marL="0" indent="0">
              <a:buNone/>
            </a:pPr>
            <a:endParaRPr lang="en-US" sz="2600">
              <a:solidFill>
                <a:srgbClr val="001D58"/>
              </a:solidFill>
              <a:latin typeface="Century Gothic" panose="020B0502020202020204" pitchFamily="34" charset="0"/>
            </a:endParaRPr>
          </a:p>
          <a:p>
            <a:pPr marL="0" indent="0">
              <a:buNone/>
            </a:pPr>
            <a:r>
              <a:rPr lang="en-US" sz="2600" b="1">
                <a:solidFill>
                  <a:srgbClr val="001D58"/>
                </a:solidFill>
                <a:latin typeface="Century Gothic" panose="020B0502020202020204" pitchFamily="34" charset="0"/>
              </a:rPr>
              <a:t>Co-pays: </a:t>
            </a:r>
            <a:r>
              <a:rPr lang="en-US" sz="2600">
                <a:solidFill>
                  <a:srgbClr val="001D58"/>
                </a:solidFill>
                <a:latin typeface="Century Gothic" panose="020B0502020202020204" pitchFamily="34" charset="0"/>
              </a:rPr>
              <a:t>Varies by plan.</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18</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9" name="Subtitle 2"/>
          <p:cNvSpPr txBox="1">
            <a:spLocks/>
          </p:cNvSpPr>
          <p:nvPr/>
        </p:nvSpPr>
        <p:spPr>
          <a:xfrm>
            <a:off x="5875196" y="1353495"/>
            <a:ext cx="5117482" cy="48663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6875"/>
            <a:r>
              <a:rPr lang="en-US" sz="2600" dirty="0">
                <a:solidFill>
                  <a:srgbClr val="001D58"/>
                </a:solidFill>
                <a:latin typeface="Century Gothic" panose="020B0502020202020204" pitchFamily="34" charset="0"/>
              </a:rPr>
              <a:t>In 2024, the 5% coinsurance requirement for enrollees in the catastrophic phase will be eliminated. This means Part D enrollees who take high-cost medications covered by Part D could see major savings. </a:t>
            </a:r>
          </a:p>
          <a:p>
            <a:pPr marL="396875"/>
            <a:r>
              <a:rPr lang="en-US" sz="2600" dirty="0">
                <a:solidFill>
                  <a:srgbClr val="001D58"/>
                </a:solidFill>
                <a:latin typeface="Century Gothic" panose="020B0502020202020204" pitchFamily="34" charset="0"/>
              </a:rPr>
              <a:t>Also, Part D plans will pay a larger share of total drug costs above the catastrophic threshold: 20% instead of 15%. </a:t>
            </a:r>
          </a:p>
        </p:txBody>
      </p:sp>
    </p:spTree>
    <p:extLst>
      <p:ext uri="{BB962C8B-B14F-4D97-AF65-F5344CB8AC3E}">
        <p14:creationId xmlns:p14="http://schemas.microsoft.com/office/powerpoint/2010/main" val="3143357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a:bodyPr>
          <a:lstStyle/>
          <a:p>
            <a:pPr algn="l"/>
            <a:r>
              <a:rPr lang="en-US" sz="4600" b="1">
                <a:solidFill>
                  <a:srgbClr val="001D58"/>
                </a:solidFill>
                <a:latin typeface="Century Gothic" panose="020B0502020202020204" pitchFamily="34" charset="0"/>
              </a:rPr>
              <a:t>Medicare Part D: Special Enrollment</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a:solidFill>
                  <a:srgbClr val="001D58"/>
                </a:solidFill>
                <a:latin typeface="Century Gothic" panose="020B0502020202020204" pitchFamily="34" charset="0"/>
              </a:rPr>
              <a:t>You must stay enrolled for the calendar year, but you may be able to join, switch, or drop Medicare drug plans at other times if you: </a:t>
            </a:r>
          </a:p>
          <a:p>
            <a:pPr marL="750888" indent="-412750"/>
            <a:r>
              <a:rPr lang="en-US" sz="2600">
                <a:solidFill>
                  <a:srgbClr val="001D58"/>
                </a:solidFill>
                <a:latin typeface="Century Gothic" panose="020B0502020202020204" pitchFamily="34" charset="0"/>
              </a:rPr>
              <a:t>Move out of your plan’s service area</a:t>
            </a:r>
          </a:p>
          <a:p>
            <a:pPr marL="750888" indent="-412750"/>
            <a:r>
              <a:rPr lang="en-US" sz="2600">
                <a:solidFill>
                  <a:srgbClr val="001D58"/>
                </a:solidFill>
                <a:latin typeface="Century Gothic" panose="020B0502020202020204" pitchFamily="34" charset="0"/>
              </a:rPr>
              <a:t>Lose other creditable prescription drug coverage</a:t>
            </a:r>
          </a:p>
          <a:p>
            <a:pPr marL="1208088" lvl="1" indent="-342900">
              <a:buFont typeface="Century Gothic" panose="020B0502020202020204" pitchFamily="34" charset="0"/>
              <a:buChar char="−"/>
            </a:pPr>
            <a:r>
              <a:rPr lang="en-US" i="1">
                <a:solidFill>
                  <a:srgbClr val="001D58"/>
                </a:solidFill>
                <a:latin typeface="Century Gothic" panose="020B0502020202020204" pitchFamily="34" charset="0"/>
              </a:rPr>
              <a:t>Example: an employer plan or a retirement plan</a:t>
            </a:r>
          </a:p>
          <a:p>
            <a:pPr marL="750888" indent="-412750"/>
            <a:r>
              <a:rPr lang="en-US" sz="2600">
                <a:solidFill>
                  <a:srgbClr val="001D58"/>
                </a:solidFill>
                <a:latin typeface="Century Gothic" panose="020B0502020202020204" pitchFamily="34" charset="0"/>
              </a:rPr>
              <a:t>Live in a care facility</a:t>
            </a:r>
          </a:p>
          <a:p>
            <a:pPr marL="1208088" lvl="1" indent="-342900">
              <a:buFont typeface="Century Gothic" panose="020B0502020202020204" pitchFamily="34" charset="0"/>
              <a:buChar char="−"/>
            </a:pPr>
            <a:r>
              <a:rPr lang="en-US" i="1">
                <a:solidFill>
                  <a:srgbClr val="001D58"/>
                </a:solidFill>
                <a:latin typeface="Century Gothic" panose="020B0502020202020204" pitchFamily="34" charset="0"/>
              </a:rPr>
              <a:t>Example: Nursing Home</a:t>
            </a:r>
          </a:p>
          <a:p>
            <a:pPr marL="750888" indent="-412750"/>
            <a:r>
              <a:rPr lang="en-US" sz="2600">
                <a:solidFill>
                  <a:srgbClr val="001D58"/>
                </a:solidFill>
                <a:latin typeface="Century Gothic" panose="020B0502020202020204" pitchFamily="34" charset="0"/>
              </a:rPr>
              <a:t>Qualify for Extra Help </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19</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93406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a:bodyPr>
          <a:lstStyle/>
          <a:p>
            <a:pPr algn="l"/>
            <a:r>
              <a:rPr lang="en-US" sz="4600" b="1">
                <a:solidFill>
                  <a:srgbClr val="001D58"/>
                </a:solidFill>
                <a:latin typeface="Century Gothic" panose="020B0502020202020204" pitchFamily="34" charset="0"/>
              </a:rPr>
              <a:t>Medicare Part D: Extra Help</a:t>
            </a:r>
          </a:p>
        </p:txBody>
      </p:sp>
      <p:sp>
        <p:nvSpPr>
          <p:cNvPr id="3" name="Subtitle 2"/>
          <p:cNvSpPr>
            <a:spLocks noGrp="1"/>
          </p:cNvSpPr>
          <p:nvPr>
            <p:ph idx="1"/>
          </p:nvPr>
        </p:nvSpPr>
        <p:spPr>
          <a:xfrm>
            <a:off x="614596" y="1368101"/>
            <a:ext cx="10083883" cy="4866330"/>
          </a:xfrm>
        </p:spPr>
        <p:txBody>
          <a:bodyPr>
            <a:normAutofit fontScale="92500"/>
          </a:bodyPr>
          <a:lstStyle/>
          <a:p>
            <a:pPr marL="0" indent="0">
              <a:buNone/>
            </a:pPr>
            <a:r>
              <a:rPr lang="en-US" b="1" dirty="0">
                <a:solidFill>
                  <a:srgbClr val="001D58"/>
                </a:solidFill>
                <a:latin typeface="Century Gothic" panose="020B0502020202020204" pitchFamily="34" charset="0"/>
              </a:rPr>
              <a:t>Extra Help </a:t>
            </a:r>
            <a:r>
              <a:rPr lang="en-US" dirty="0">
                <a:solidFill>
                  <a:srgbClr val="001D58"/>
                </a:solidFill>
                <a:latin typeface="Century Gothic" panose="020B0502020202020204" pitchFamily="34" charset="0"/>
              </a:rPr>
              <a:t>is a Medicare program to help people with limited income and resources pay Medicare prescription drug costs. </a:t>
            </a:r>
          </a:p>
          <a:p>
            <a:pPr marL="0" indent="0">
              <a:buNone/>
            </a:pPr>
            <a:r>
              <a:rPr lang="en-US" dirty="0">
                <a:solidFill>
                  <a:srgbClr val="001D58"/>
                </a:solidFill>
                <a:latin typeface="Century Gothic" panose="020B0502020202020204" pitchFamily="34" charset="0"/>
              </a:rPr>
              <a:t>You may qualify for Extra Help, also called the low-income subsidy (LIS), if your yearly income and total resources are below these limits in 2024: </a:t>
            </a:r>
          </a:p>
          <a:p>
            <a:pPr marL="750888" indent="-412750"/>
            <a:r>
              <a:rPr lang="en-US" dirty="0">
                <a:solidFill>
                  <a:srgbClr val="001D58"/>
                </a:solidFill>
                <a:latin typeface="Century Gothic" panose="020B0502020202020204" pitchFamily="34" charset="0"/>
              </a:rPr>
              <a:t>Single person:</a:t>
            </a:r>
          </a:p>
          <a:p>
            <a:pPr marL="1208088" lvl="1" indent="-412750">
              <a:buFont typeface="Century Gothic" panose="020B0502020202020204" pitchFamily="34" charset="0"/>
              <a:buChar char="−"/>
            </a:pPr>
            <a:r>
              <a:rPr lang="en-US" dirty="0">
                <a:solidFill>
                  <a:srgbClr val="001D58"/>
                </a:solidFill>
                <a:latin typeface="Century Gothic" panose="020B0502020202020204" pitchFamily="34" charset="0"/>
              </a:rPr>
              <a:t>Income less than $1,823/monthly and</a:t>
            </a:r>
          </a:p>
          <a:p>
            <a:pPr marL="1208088" lvl="1" indent="-412750">
              <a:buFont typeface="Century Gothic" panose="020B0502020202020204" pitchFamily="34" charset="0"/>
              <a:buChar char="−"/>
            </a:pPr>
            <a:r>
              <a:rPr lang="en-US" dirty="0">
                <a:solidFill>
                  <a:srgbClr val="001D58"/>
                </a:solidFill>
                <a:latin typeface="Century Gothic" panose="020B0502020202020204" pitchFamily="34" charset="0"/>
              </a:rPr>
              <a:t>Total resources less than $15,720</a:t>
            </a:r>
          </a:p>
          <a:p>
            <a:pPr marL="750888" indent="-412750"/>
            <a:r>
              <a:rPr lang="en-US" dirty="0">
                <a:solidFill>
                  <a:srgbClr val="001D58"/>
                </a:solidFill>
                <a:latin typeface="Century Gothic" panose="020B0502020202020204" pitchFamily="34" charset="0"/>
              </a:rPr>
              <a:t>Married person living with a spouse and no dependents:</a:t>
            </a:r>
          </a:p>
          <a:p>
            <a:pPr marL="1208088" lvl="1" indent="-412750">
              <a:buFont typeface="Century Gothic" panose="020B0502020202020204" pitchFamily="34" charset="0"/>
              <a:buChar char="−"/>
            </a:pPr>
            <a:r>
              <a:rPr lang="en-US" dirty="0">
                <a:solidFill>
                  <a:srgbClr val="001D58"/>
                </a:solidFill>
                <a:latin typeface="Century Gothic" panose="020B0502020202020204" pitchFamily="34" charset="0"/>
              </a:rPr>
              <a:t>Income less than $2,465/monthly and </a:t>
            </a:r>
          </a:p>
          <a:p>
            <a:pPr marL="1208088" lvl="1" indent="-412750">
              <a:buFont typeface="Century Gothic" panose="020B0502020202020204" pitchFamily="34" charset="0"/>
              <a:buChar char="−"/>
            </a:pPr>
            <a:r>
              <a:rPr lang="en-US" dirty="0">
                <a:solidFill>
                  <a:srgbClr val="001D58"/>
                </a:solidFill>
                <a:latin typeface="Century Gothic" panose="020B0502020202020204" pitchFamily="34" charset="0"/>
              </a:rPr>
              <a:t>Total resources less than $31,360</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20</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833620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86219" cy="1256709"/>
          </a:xfrm>
        </p:spPr>
        <p:txBody>
          <a:bodyPr>
            <a:noAutofit/>
          </a:bodyPr>
          <a:lstStyle/>
          <a:p>
            <a:r>
              <a:rPr lang="en-US" sz="4800" b="1">
                <a:solidFill>
                  <a:srgbClr val="001D58"/>
                </a:solidFill>
                <a:latin typeface="Century Gothic" panose="020B0502020202020204" pitchFamily="34" charset="0"/>
              </a:rPr>
              <a:t>What Traditional Medicare        Does </a:t>
            </a:r>
            <a:r>
              <a:rPr lang="en-US" sz="4800" b="1" u="sng">
                <a:solidFill>
                  <a:srgbClr val="001D58"/>
                </a:solidFill>
                <a:latin typeface="Century Gothic" panose="020B0502020202020204" pitchFamily="34" charset="0"/>
              </a:rPr>
              <a:t>Not</a:t>
            </a:r>
            <a:r>
              <a:rPr lang="en-US" sz="4800" b="1">
                <a:solidFill>
                  <a:srgbClr val="001D58"/>
                </a:solidFill>
                <a:latin typeface="Century Gothic" panose="020B0502020202020204" pitchFamily="34" charset="0"/>
              </a:rPr>
              <a:t> Cover</a:t>
            </a:r>
          </a:p>
        </p:txBody>
      </p:sp>
      <p:sp>
        <p:nvSpPr>
          <p:cNvPr id="3" name="Subtitle 2"/>
          <p:cNvSpPr>
            <a:spLocks noGrp="1"/>
          </p:cNvSpPr>
          <p:nvPr>
            <p:ph idx="1"/>
          </p:nvPr>
        </p:nvSpPr>
        <p:spPr>
          <a:xfrm>
            <a:off x="614596" y="1758359"/>
            <a:ext cx="10739204" cy="4597991"/>
          </a:xfrm>
        </p:spPr>
        <p:txBody>
          <a:bodyPr>
            <a:normAutofit/>
          </a:bodyPr>
          <a:lstStyle/>
          <a:p>
            <a:pPr marL="465138"/>
            <a:r>
              <a:rPr lang="en-US" sz="2600">
                <a:solidFill>
                  <a:srgbClr val="001D58"/>
                </a:solidFill>
                <a:latin typeface="Century Gothic" panose="020B0502020202020204" pitchFamily="34" charset="0"/>
              </a:rPr>
              <a:t>Most dental care, eye care, and foot care</a:t>
            </a:r>
          </a:p>
          <a:p>
            <a:pPr marL="465138"/>
            <a:r>
              <a:rPr lang="en-US" sz="2600">
                <a:solidFill>
                  <a:srgbClr val="001D58"/>
                </a:solidFill>
                <a:latin typeface="Century Gothic" panose="020B0502020202020204" pitchFamily="34" charset="0"/>
              </a:rPr>
              <a:t>Intermediate and protective level of care in Nursing Care Facilities and Home Care Services</a:t>
            </a:r>
          </a:p>
          <a:p>
            <a:pPr marL="465138"/>
            <a:r>
              <a:rPr lang="en-US" sz="2600">
                <a:solidFill>
                  <a:srgbClr val="001D58"/>
                </a:solidFill>
                <a:latin typeface="Century Gothic" panose="020B0502020202020204" pitchFamily="34" charset="0"/>
              </a:rPr>
              <a:t>“Assisted Living” Facilities/ Adult Day Health Services </a:t>
            </a:r>
          </a:p>
          <a:p>
            <a:pPr marL="465138"/>
            <a:r>
              <a:rPr lang="en-US" sz="2600">
                <a:solidFill>
                  <a:srgbClr val="001D58"/>
                </a:solidFill>
                <a:latin typeface="Century Gothic" panose="020B0502020202020204" pitchFamily="34" charset="0"/>
              </a:rPr>
              <a:t>Homemaker, chore, and meal services in the home</a:t>
            </a:r>
          </a:p>
          <a:p>
            <a:pPr marL="465138"/>
            <a:r>
              <a:rPr lang="en-US" sz="2600">
                <a:solidFill>
                  <a:srgbClr val="001D58"/>
                </a:solidFill>
                <a:latin typeface="Century Gothic" panose="020B0502020202020204" pitchFamily="34" charset="0"/>
              </a:rPr>
              <a:t>Non-traditional therapies ex. Acupuncture</a:t>
            </a:r>
          </a:p>
          <a:p>
            <a:pPr marL="465138"/>
            <a:r>
              <a:rPr lang="en-US" sz="2600">
                <a:solidFill>
                  <a:srgbClr val="001D58"/>
                </a:solidFill>
                <a:latin typeface="Century Gothic" panose="020B0502020202020204" pitchFamily="34" charset="0"/>
              </a:rPr>
              <a:t>Transportation services (</a:t>
            </a:r>
            <a:r>
              <a:rPr lang="en-US" sz="2600" i="1">
                <a:solidFill>
                  <a:srgbClr val="001D58"/>
                </a:solidFill>
                <a:latin typeface="Century Gothic" panose="020B0502020202020204" pitchFamily="34" charset="0"/>
              </a:rPr>
              <a:t>except Emergency Medical Services</a:t>
            </a:r>
            <a:r>
              <a:rPr lang="en-US" sz="2600">
                <a:solidFill>
                  <a:srgbClr val="001D58"/>
                </a:solidFill>
                <a:latin typeface="Century Gothic" panose="020B0502020202020204" pitchFamily="34" charset="0"/>
              </a:rPr>
              <a:t>)</a:t>
            </a:r>
          </a:p>
          <a:p>
            <a:pPr marL="465138"/>
            <a:r>
              <a:rPr lang="en-US" sz="2600">
                <a:solidFill>
                  <a:srgbClr val="001D58"/>
                </a:solidFill>
                <a:latin typeface="Century Gothic" panose="020B0502020202020204" pitchFamily="34" charset="0"/>
              </a:rPr>
              <a:t>Cosmetic surgery</a:t>
            </a:r>
          </a:p>
          <a:p>
            <a:pPr marL="465138"/>
            <a:r>
              <a:rPr lang="en-US" sz="2600">
                <a:solidFill>
                  <a:srgbClr val="001D58"/>
                </a:solidFill>
                <a:latin typeface="Century Gothic" panose="020B0502020202020204" pitchFamily="34" charset="0"/>
              </a:rPr>
              <a:t>Most care outside of the USA, including cruise ships</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21</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646696"/>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948811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Medicare Part C: Advantage Plans</a:t>
            </a:r>
          </a:p>
        </p:txBody>
      </p:sp>
      <p:sp>
        <p:nvSpPr>
          <p:cNvPr id="3" name="Subtitle 2"/>
          <p:cNvSpPr>
            <a:spLocks noGrp="1"/>
          </p:cNvSpPr>
          <p:nvPr>
            <p:ph idx="1"/>
          </p:nvPr>
        </p:nvSpPr>
        <p:spPr>
          <a:xfrm>
            <a:off x="614596" y="1368101"/>
            <a:ext cx="10083883" cy="4866330"/>
          </a:xfrm>
        </p:spPr>
        <p:txBody>
          <a:bodyPr>
            <a:normAutofit/>
          </a:bodyPr>
          <a:lstStyle/>
          <a:p>
            <a:pPr marL="465138"/>
            <a:r>
              <a:rPr lang="en-US" sz="2600">
                <a:solidFill>
                  <a:srgbClr val="001D58"/>
                </a:solidFill>
                <a:latin typeface="Century Gothic" panose="020B0502020202020204" pitchFamily="34" charset="0"/>
              </a:rPr>
              <a:t>Advantage Plans must cover everything Original Medicare covers</a:t>
            </a:r>
          </a:p>
          <a:p>
            <a:pPr marL="465138"/>
            <a:r>
              <a:rPr lang="en-US" sz="2600">
                <a:solidFill>
                  <a:srgbClr val="001D58"/>
                </a:solidFill>
                <a:latin typeface="Century Gothic" panose="020B0502020202020204" pitchFamily="34" charset="0"/>
              </a:rPr>
              <a:t>Offered by private companies to replace Original Medicare and secondary insurance</a:t>
            </a:r>
          </a:p>
          <a:p>
            <a:pPr marL="465138"/>
            <a:r>
              <a:rPr lang="en-US" sz="2600">
                <a:solidFill>
                  <a:srgbClr val="001D58"/>
                </a:solidFill>
                <a:latin typeface="Century Gothic" panose="020B0502020202020204" pitchFamily="34" charset="0"/>
              </a:rPr>
              <a:t>Multiple options in each county, such as:</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Health Maintenance Organizations (HMO) require care and services from providers and facilities in the plan’s network</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Preferred Provider Organizations (PPO) allow care and services from outside the network but typically with higher costs</a:t>
            </a:r>
            <a:endParaRPr lang="en-US" sz="3200">
              <a:solidFill>
                <a:srgbClr val="001D58"/>
              </a:solidFill>
              <a:latin typeface="Century Gothic" panose="020B0502020202020204" pitchFamily="34" charset="0"/>
            </a:endParaRP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280928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1312360" cy="1019443"/>
          </a:xfrm>
        </p:spPr>
        <p:txBody>
          <a:bodyPr>
            <a:normAutofit/>
          </a:bodyPr>
          <a:lstStyle/>
          <a:p>
            <a:pPr algn="l"/>
            <a:r>
              <a:rPr lang="en-US" sz="5100" b="1" dirty="0">
                <a:solidFill>
                  <a:srgbClr val="001D58"/>
                </a:solidFill>
                <a:latin typeface="Century Gothic" panose="020B0502020202020204" pitchFamily="34" charset="0"/>
              </a:rPr>
              <a:t>Medicare Part C: Advantage Plans</a:t>
            </a:r>
            <a:endParaRPr lang="en-US" sz="3600" b="1" dirty="0">
              <a:solidFill>
                <a:srgbClr val="001D58"/>
              </a:solidFill>
              <a:latin typeface="Century Gothic" panose="020B0502020202020204" pitchFamily="34" charset="0"/>
            </a:endParaRPr>
          </a:p>
        </p:txBody>
      </p:sp>
      <p:sp>
        <p:nvSpPr>
          <p:cNvPr id="3" name="Subtitle 2"/>
          <p:cNvSpPr>
            <a:spLocks noGrp="1"/>
          </p:cNvSpPr>
          <p:nvPr>
            <p:ph idx="1"/>
          </p:nvPr>
        </p:nvSpPr>
        <p:spPr>
          <a:xfrm>
            <a:off x="614596" y="1368101"/>
            <a:ext cx="10083883" cy="4866330"/>
          </a:xfrm>
        </p:spPr>
        <p:txBody>
          <a:bodyPr>
            <a:normAutofit/>
          </a:bodyPr>
          <a:lstStyle/>
          <a:p>
            <a:pPr marL="465138"/>
            <a:r>
              <a:rPr lang="en-US" sz="2600">
                <a:solidFill>
                  <a:srgbClr val="001D58"/>
                </a:solidFill>
                <a:latin typeface="Century Gothic" panose="020B0502020202020204" pitchFamily="34" charset="0"/>
              </a:rPr>
              <a:t>Most plans include the Part D benefit (Prescription Drug Coverage)</a:t>
            </a:r>
          </a:p>
          <a:p>
            <a:pPr marL="465138"/>
            <a:r>
              <a:rPr lang="en-US" sz="2600">
                <a:solidFill>
                  <a:srgbClr val="001D58"/>
                </a:solidFill>
                <a:latin typeface="Century Gothic" panose="020B0502020202020204" pitchFamily="34" charset="0"/>
              </a:rPr>
              <a:t>Enrollees pay the Part B premium and any other applicable costs </a:t>
            </a:r>
          </a:p>
          <a:p>
            <a:pPr marL="465138"/>
            <a:r>
              <a:rPr lang="en-US" sz="2600">
                <a:solidFill>
                  <a:srgbClr val="001D58"/>
                </a:solidFill>
                <a:latin typeface="Century Gothic" panose="020B0502020202020204" pitchFamily="34" charset="0"/>
              </a:rPr>
              <a:t>Medicare Advantage Plans are available to those who: </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Are enrolled in Part A and Part B</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Live within the plan’s service area</a:t>
            </a:r>
          </a:p>
          <a:p>
            <a:pPr marL="1036638" lvl="1" indent="-342900">
              <a:buFont typeface="Century Gothic" panose="020B0502020202020204" pitchFamily="34" charset="0"/>
              <a:buChar char="−"/>
            </a:pPr>
            <a:r>
              <a:rPr lang="en-US">
                <a:solidFill>
                  <a:srgbClr val="001D58"/>
                </a:solidFill>
                <a:latin typeface="Century Gothic" panose="020B0502020202020204" pitchFamily="34" charset="0"/>
              </a:rPr>
              <a:t>Who DO NOT have End Stage Renal Disease (ESRD)</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41256413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86219" cy="1256709"/>
          </a:xfrm>
        </p:spPr>
        <p:txBody>
          <a:bodyPr>
            <a:noAutofit/>
          </a:bodyPr>
          <a:lstStyle/>
          <a:p>
            <a:r>
              <a:rPr lang="en-US" sz="4800" b="1" dirty="0">
                <a:solidFill>
                  <a:srgbClr val="001D58"/>
                </a:solidFill>
                <a:latin typeface="Century Gothic" panose="020B0502020202020204" pitchFamily="34" charset="0"/>
              </a:rPr>
              <a:t>Medicare-Annual Open Enrollment (Parts C+D)</a:t>
            </a:r>
          </a:p>
        </p:txBody>
      </p:sp>
      <p:sp>
        <p:nvSpPr>
          <p:cNvPr id="3" name="Subtitle 2"/>
          <p:cNvSpPr>
            <a:spLocks noGrp="1"/>
          </p:cNvSpPr>
          <p:nvPr>
            <p:ph idx="1"/>
          </p:nvPr>
        </p:nvSpPr>
        <p:spPr>
          <a:xfrm>
            <a:off x="614596" y="1758359"/>
            <a:ext cx="10739204" cy="4597991"/>
          </a:xfrm>
        </p:spPr>
        <p:txBody>
          <a:bodyPr>
            <a:normAutofit/>
          </a:bodyPr>
          <a:lstStyle/>
          <a:p>
            <a:pPr marL="465138"/>
            <a:r>
              <a:rPr lang="en-US" dirty="0">
                <a:solidFill>
                  <a:srgbClr val="001D58"/>
                </a:solidFill>
                <a:latin typeface="Century Gothic" panose="020B0502020202020204" pitchFamily="34" charset="0"/>
              </a:rPr>
              <a:t>Each year from October 15th through December 7th you can update or switch your Medicare drug plans and/or Medicare Advantage plans</a:t>
            </a:r>
          </a:p>
          <a:p>
            <a:pPr marL="465138"/>
            <a:r>
              <a:rPr lang="en-US" dirty="0">
                <a:solidFill>
                  <a:srgbClr val="001D58"/>
                </a:solidFill>
                <a:latin typeface="Century Gothic" panose="020B0502020202020204" pitchFamily="34" charset="0"/>
              </a:rPr>
              <a:t>Your new coverage will begin January 1</a:t>
            </a:r>
            <a:r>
              <a:rPr lang="en-US" baseline="30000" dirty="0">
                <a:solidFill>
                  <a:srgbClr val="001D58"/>
                </a:solidFill>
                <a:latin typeface="Century Gothic" panose="020B0502020202020204" pitchFamily="34" charset="0"/>
              </a:rPr>
              <a:t>st</a:t>
            </a:r>
            <a:r>
              <a:rPr lang="en-US" dirty="0">
                <a:solidFill>
                  <a:srgbClr val="001D58"/>
                </a:solidFill>
                <a:latin typeface="Century Gothic" panose="020B0502020202020204" pitchFamily="34" charset="0"/>
              </a:rPr>
              <a:t> of the next year </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24</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646696"/>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855019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idx="1"/>
          </p:nvPr>
        </p:nvSpPr>
        <p:spPr>
          <a:xfrm>
            <a:off x="614596" y="1368101"/>
            <a:ext cx="10449644" cy="4866330"/>
          </a:xfrm>
        </p:spPr>
        <p:txBody>
          <a:bodyPr>
            <a:normAutofit/>
          </a:bodyPr>
          <a:lstStyle/>
          <a:p>
            <a:pPr marL="236538" indent="0" algn="ctr">
              <a:buNone/>
            </a:pPr>
            <a:endParaRPr lang="en-US" sz="6000" b="1">
              <a:solidFill>
                <a:srgbClr val="001D58"/>
              </a:solidFill>
              <a:latin typeface="Century Gothic" panose="020B0502020202020204" pitchFamily="34" charset="0"/>
            </a:endParaRPr>
          </a:p>
          <a:p>
            <a:pPr marL="236538" indent="0" algn="ctr">
              <a:buNone/>
            </a:pPr>
            <a:r>
              <a:rPr lang="en-US" sz="6000" b="1">
                <a:solidFill>
                  <a:srgbClr val="001D58"/>
                </a:solidFill>
                <a:latin typeface="Century Gothic" panose="020B0502020202020204" pitchFamily="34" charset="0"/>
              </a:rPr>
              <a:t>Now let’s talk about Medicaid…</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25</a:t>
            </a:fld>
            <a:endParaRPr lang="en-US">
              <a:solidFill>
                <a:srgbClr val="031C38"/>
              </a:solidFill>
              <a:latin typeface="Century Gothic" panose="020B0502020202020204" pitchFamily="34" charset="0"/>
            </a:endParaRPr>
          </a:p>
        </p:txBody>
      </p: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633386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Purpose of Medicaid</a:t>
            </a:r>
          </a:p>
        </p:txBody>
      </p:sp>
      <p:sp>
        <p:nvSpPr>
          <p:cNvPr id="3" name="Subtitle 2"/>
          <p:cNvSpPr>
            <a:spLocks noGrp="1"/>
          </p:cNvSpPr>
          <p:nvPr>
            <p:ph idx="1"/>
          </p:nvPr>
        </p:nvSpPr>
        <p:spPr>
          <a:xfrm>
            <a:off x="614596" y="1368101"/>
            <a:ext cx="10449644" cy="4866330"/>
          </a:xfrm>
        </p:spPr>
        <p:txBody>
          <a:bodyPr>
            <a:normAutofit/>
          </a:bodyPr>
          <a:lstStyle/>
          <a:p>
            <a:pPr marL="465138"/>
            <a:r>
              <a:rPr lang="en-US" sz="3200" dirty="0">
                <a:solidFill>
                  <a:srgbClr val="001D58"/>
                </a:solidFill>
                <a:latin typeface="Century Gothic" panose="020B0502020202020204" pitchFamily="34" charset="0"/>
              </a:rPr>
              <a:t>Pays medical bills for low-income people</a:t>
            </a:r>
          </a:p>
          <a:p>
            <a:pPr marL="465138"/>
            <a:endParaRPr lang="en-US" sz="3200" dirty="0">
              <a:solidFill>
                <a:srgbClr val="001D58"/>
              </a:solidFill>
              <a:latin typeface="Century Gothic" panose="020B0502020202020204" pitchFamily="34" charset="0"/>
            </a:endParaRPr>
          </a:p>
          <a:p>
            <a:pPr marL="465138"/>
            <a:r>
              <a:rPr lang="en-US" sz="3200" dirty="0">
                <a:solidFill>
                  <a:srgbClr val="001D58"/>
                </a:solidFill>
                <a:latin typeface="Century Gothic" panose="020B0502020202020204" pitchFamily="34" charset="0"/>
              </a:rPr>
              <a:t>Ensures access to healthcare for certain low- income groups</a:t>
            </a:r>
          </a:p>
          <a:p>
            <a:pPr marL="0" lvl="1" indent="0">
              <a:buNone/>
            </a:pPr>
            <a:endParaRPr lang="en-US" sz="26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26</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5869501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a:bodyPr>
          <a:lstStyle/>
          <a:p>
            <a:pPr algn="l"/>
            <a:r>
              <a:rPr lang="en-US" sz="4800" b="1">
                <a:solidFill>
                  <a:srgbClr val="001D58"/>
                </a:solidFill>
                <a:latin typeface="Century Gothic" panose="020B0502020202020204" pitchFamily="34" charset="0"/>
              </a:rPr>
              <a:t>Basic Federal Medicaid Principles</a:t>
            </a:r>
          </a:p>
        </p:txBody>
      </p:sp>
      <p:sp>
        <p:nvSpPr>
          <p:cNvPr id="3" name="Subtitle 2"/>
          <p:cNvSpPr>
            <a:spLocks noGrp="1"/>
          </p:cNvSpPr>
          <p:nvPr>
            <p:ph idx="1"/>
          </p:nvPr>
        </p:nvSpPr>
        <p:spPr>
          <a:xfrm>
            <a:off x="614596" y="1368101"/>
            <a:ext cx="10449644" cy="4866330"/>
          </a:xfrm>
        </p:spPr>
        <p:txBody>
          <a:bodyPr>
            <a:normAutofit/>
          </a:bodyPr>
          <a:lstStyle/>
          <a:p>
            <a:pPr marL="576263" indent="-277813"/>
            <a:r>
              <a:rPr lang="en-US" sz="3200">
                <a:solidFill>
                  <a:srgbClr val="001D58"/>
                </a:solidFill>
                <a:latin typeface="Century Gothic" panose="020B0502020202020204" pitchFamily="34" charset="0"/>
              </a:rPr>
              <a:t>Statewide</a:t>
            </a:r>
          </a:p>
          <a:p>
            <a:pPr marL="576263" indent="-277813"/>
            <a:r>
              <a:rPr lang="en-US" sz="3200">
                <a:solidFill>
                  <a:srgbClr val="001D58"/>
                </a:solidFill>
                <a:latin typeface="Century Gothic" panose="020B0502020202020204" pitchFamily="34" charset="0"/>
              </a:rPr>
              <a:t>Freedom of Choice</a:t>
            </a:r>
          </a:p>
          <a:p>
            <a:pPr marL="576263" indent="-277813"/>
            <a:r>
              <a:rPr lang="en-US" sz="3200">
                <a:solidFill>
                  <a:srgbClr val="001D58"/>
                </a:solidFill>
                <a:latin typeface="Century Gothic" panose="020B0502020202020204" pitchFamily="34" charset="0"/>
              </a:rPr>
              <a:t>Comparability of Services</a:t>
            </a:r>
          </a:p>
          <a:p>
            <a:pPr marL="576263" indent="-277813"/>
            <a:r>
              <a:rPr lang="en-US" sz="3200">
                <a:solidFill>
                  <a:srgbClr val="001D58"/>
                </a:solidFill>
                <a:latin typeface="Century Gothic" panose="020B0502020202020204" pitchFamily="34" charset="0"/>
              </a:rPr>
              <a:t>Amount, duration and scope of services is similar across the state</a:t>
            </a:r>
          </a:p>
          <a:p>
            <a:pPr marL="576263" indent="-277813"/>
            <a:r>
              <a:rPr lang="en-US" sz="3200">
                <a:solidFill>
                  <a:srgbClr val="001D58"/>
                </a:solidFill>
                <a:latin typeface="Century Gothic" panose="020B0502020202020204" pitchFamily="34" charset="0"/>
              </a:rPr>
              <a:t>Waivers are available</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27</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62073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fontScale="90000"/>
          </a:bodyPr>
          <a:lstStyle/>
          <a:p>
            <a:pPr algn="l"/>
            <a:r>
              <a:rPr lang="en-US" sz="4800" b="1">
                <a:solidFill>
                  <a:srgbClr val="001D58"/>
                </a:solidFill>
                <a:latin typeface="Century Gothic" panose="020B0502020202020204" pitchFamily="34" charset="0"/>
              </a:rPr>
              <a:t>Types of Medicaid Coverage Typically Offered</a:t>
            </a:r>
          </a:p>
        </p:txBody>
      </p:sp>
      <p:sp>
        <p:nvSpPr>
          <p:cNvPr id="3" name="Subtitle 2"/>
          <p:cNvSpPr>
            <a:spLocks noGrp="1"/>
          </p:cNvSpPr>
          <p:nvPr>
            <p:ph idx="1"/>
          </p:nvPr>
        </p:nvSpPr>
        <p:spPr>
          <a:xfrm>
            <a:off x="614596" y="1619212"/>
            <a:ext cx="10449644" cy="4476071"/>
          </a:xfrm>
        </p:spPr>
        <p:txBody>
          <a:bodyPr>
            <a:normAutofit/>
          </a:bodyPr>
          <a:lstStyle/>
          <a:p>
            <a:pPr marL="576263" indent="-277813"/>
            <a:r>
              <a:rPr lang="en-US" sz="3200" dirty="0">
                <a:solidFill>
                  <a:srgbClr val="001D58"/>
                </a:solidFill>
                <a:latin typeface="Century Gothic" panose="020B0502020202020204" pitchFamily="34" charset="0"/>
              </a:rPr>
              <a:t>Medical Services for acute conditions</a:t>
            </a:r>
          </a:p>
          <a:p>
            <a:pPr marL="576263" indent="-277813"/>
            <a:endParaRPr lang="en-US" sz="3200" dirty="0">
              <a:solidFill>
                <a:srgbClr val="001D58"/>
              </a:solidFill>
              <a:latin typeface="Century Gothic" panose="020B0502020202020204" pitchFamily="34" charset="0"/>
            </a:endParaRPr>
          </a:p>
          <a:p>
            <a:pPr marL="576263" indent="-277813"/>
            <a:r>
              <a:rPr lang="en-US" sz="3200" dirty="0">
                <a:solidFill>
                  <a:srgbClr val="001D58"/>
                </a:solidFill>
                <a:latin typeface="Century Gothic" panose="020B0502020202020204" pitchFamily="34" charset="0"/>
              </a:rPr>
              <a:t>Institutional long-term care for aged/disabled persons (at skilled and intermediate levels of care)</a:t>
            </a:r>
          </a:p>
          <a:p>
            <a:pPr marL="576263" indent="-277813"/>
            <a:endParaRPr lang="en-US" sz="3200" dirty="0">
              <a:solidFill>
                <a:srgbClr val="001D58"/>
              </a:solidFill>
              <a:latin typeface="Century Gothic" panose="020B0502020202020204" pitchFamily="34" charset="0"/>
            </a:endParaRPr>
          </a:p>
          <a:p>
            <a:pPr marL="576263" indent="-277813"/>
            <a:r>
              <a:rPr lang="en-US" sz="3200" dirty="0">
                <a:solidFill>
                  <a:srgbClr val="001D58"/>
                </a:solidFill>
                <a:latin typeface="Century Gothic" panose="020B0502020202020204" pitchFamily="34" charset="0"/>
              </a:rPr>
              <a:t>Federally mandated services vs. Ohio’s optional services</a:t>
            </a:r>
          </a:p>
          <a:p>
            <a:pPr marL="0" lvl="1" indent="0">
              <a:buNone/>
            </a:pPr>
            <a:endParaRPr lang="en-US" sz="26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28</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757566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fontScale="90000"/>
          </a:bodyPr>
          <a:lstStyle/>
          <a:p>
            <a:pPr algn="l"/>
            <a:r>
              <a:rPr lang="en-US" sz="4800" b="1">
                <a:solidFill>
                  <a:srgbClr val="001D58"/>
                </a:solidFill>
                <a:latin typeface="Century Gothic" panose="020B0502020202020204" pitchFamily="34" charset="0"/>
              </a:rPr>
              <a:t>Medicaid Benefits: Federally Mandated Services</a:t>
            </a:r>
          </a:p>
        </p:txBody>
      </p:sp>
      <p:sp>
        <p:nvSpPr>
          <p:cNvPr id="3" name="Subtitle 2"/>
          <p:cNvSpPr>
            <a:spLocks noGrp="1"/>
          </p:cNvSpPr>
          <p:nvPr>
            <p:ph idx="1"/>
          </p:nvPr>
        </p:nvSpPr>
        <p:spPr>
          <a:xfrm>
            <a:off x="614596" y="1619212"/>
            <a:ext cx="10449644" cy="4476071"/>
          </a:xfrm>
        </p:spPr>
        <p:txBody>
          <a:bodyPr>
            <a:normAutofit/>
          </a:bodyPr>
          <a:lstStyle/>
          <a:p>
            <a:pPr marL="576263" indent="-277813"/>
            <a:r>
              <a:rPr lang="en-US" sz="2000">
                <a:solidFill>
                  <a:srgbClr val="001D58"/>
                </a:solidFill>
                <a:latin typeface="Century Gothic" panose="020B0502020202020204" pitchFamily="34" charset="0"/>
              </a:rPr>
              <a:t>Early and Periodic Screening, Diagnosis and </a:t>
            </a:r>
            <a:r>
              <a:rPr lang="en-US" sz="2000" err="1">
                <a:solidFill>
                  <a:srgbClr val="001D58"/>
                </a:solidFill>
                <a:latin typeface="Century Gothic" panose="020B0502020202020204" pitchFamily="34" charset="0"/>
              </a:rPr>
              <a:t>Tx</a:t>
            </a:r>
            <a:r>
              <a:rPr lang="en-US" sz="2000">
                <a:solidFill>
                  <a:srgbClr val="001D58"/>
                </a:solidFill>
                <a:latin typeface="Century Gothic" panose="020B0502020202020204" pitchFamily="34" charset="0"/>
              </a:rPr>
              <a:t> (EPSDT) for children</a:t>
            </a:r>
          </a:p>
          <a:p>
            <a:pPr marL="576263" indent="-277813"/>
            <a:r>
              <a:rPr lang="en-US" sz="2000">
                <a:solidFill>
                  <a:srgbClr val="001D58"/>
                </a:solidFill>
                <a:latin typeface="Century Gothic" panose="020B0502020202020204" pitchFamily="34" charset="0"/>
              </a:rPr>
              <a:t>Inpatient hospital</a:t>
            </a:r>
          </a:p>
          <a:p>
            <a:pPr marL="576263" indent="-277813"/>
            <a:r>
              <a:rPr lang="en-US" sz="2000">
                <a:solidFill>
                  <a:srgbClr val="001D58"/>
                </a:solidFill>
                <a:latin typeface="Century Gothic" panose="020B0502020202020204" pitchFamily="34" charset="0"/>
              </a:rPr>
              <a:t>Physician</a:t>
            </a:r>
          </a:p>
          <a:p>
            <a:pPr marL="576263" indent="-277813"/>
            <a:r>
              <a:rPr lang="en-US" sz="2000">
                <a:solidFill>
                  <a:srgbClr val="001D58"/>
                </a:solidFill>
                <a:latin typeface="Century Gothic" panose="020B0502020202020204" pitchFamily="34" charset="0"/>
              </a:rPr>
              <a:t>Lab and X-Ray </a:t>
            </a:r>
          </a:p>
          <a:p>
            <a:pPr marL="576263" indent="-277813"/>
            <a:r>
              <a:rPr lang="en-US" sz="2000">
                <a:solidFill>
                  <a:srgbClr val="001D58"/>
                </a:solidFill>
                <a:latin typeface="Century Gothic" panose="020B0502020202020204" pitchFamily="34" charset="0"/>
              </a:rPr>
              <a:t>Outpatient</a:t>
            </a:r>
          </a:p>
          <a:p>
            <a:pPr marL="576263" indent="-277813"/>
            <a:r>
              <a:rPr lang="en-US" sz="2000">
                <a:solidFill>
                  <a:srgbClr val="001D58"/>
                </a:solidFill>
                <a:latin typeface="Century Gothic" panose="020B0502020202020204" pitchFamily="34" charset="0"/>
              </a:rPr>
              <a:t>Medical and Surgical Vision &amp; Dental</a:t>
            </a:r>
          </a:p>
          <a:p>
            <a:pPr marL="576263" indent="-277813"/>
            <a:r>
              <a:rPr lang="en-US" sz="2000">
                <a:solidFill>
                  <a:srgbClr val="001D58"/>
                </a:solidFill>
                <a:latin typeface="Century Gothic" panose="020B0502020202020204" pitchFamily="34" charset="0"/>
              </a:rPr>
              <a:t>Transportation of Medicaid Services</a:t>
            </a:r>
          </a:p>
          <a:p>
            <a:pPr marL="576263" indent="-277813"/>
            <a:r>
              <a:rPr lang="en-US" sz="2000">
                <a:solidFill>
                  <a:srgbClr val="001D58"/>
                </a:solidFill>
                <a:latin typeface="Century Gothic" panose="020B0502020202020204" pitchFamily="34" charset="0"/>
              </a:rPr>
              <a:t>Nurse Midwife, Certified Family Nurse &amp; Pediatric Nurse Practitioner</a:t>
            </a:r>
          </a:p>
          <a:p>
            <a:pPr marL="576263" indent="-277813"/>
            <a:r>
              <a:rPr lang="en-US" sz="2000">
                <a:solidFill>
                  <a:srgbClr val="001D58"/>
                </a:solidFill>
                <a:latin typeface="Century Gothic" panose="020B0502020202020204" pitchFamily="34" charset="0"/>
              </a:rPr>
              <a:t>Home Health </a:t>
            </a:r>
          </a:p>
          <a:p>
            <a:pPr marL="576263" indent="-277813"/>
            <a:r>
              <a:rPr lang="en-US" sz="2000">
                <a:solidFill>
                  <a:srgbClr val="001D58"/>
                </a:solidFill>
                <a:latin typeface="Century Gothic" panose="020B0502020202020204" pitchFamily="34" charset="0"/>
              </a:rPr>
              <a:t>Nursing Facility</a:t>
            </a:r>
          </a:p>
          <a:p>
            <a:pPr marL="576263" indent="-277813"/>
            <a:r>
              <a:rPr lang="en-US" sz="2000">
                <a:solidFill>
                  <a:srgbClr val="001D58"/>
                </a:solidFill>
                <a:latin typeface="Century Gothic" panose="020B0502020202020204" pitchFamily="34" charset="0"/>
              </a:rPr>
              <a:t>Medicare Premium Assistance</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29</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4254437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fontScale="90000"/>
          </a:bodyPr>
          <a:lstStyle/>
          <a:p>
            <a:pPr algn="l"/>
            <a:r>
              <a:rPr lang="en-US" sz="4600" b="1">
                <a:solidFill>
                  <a:srgbClr val="001D58"/>
                </a:solidFill>
                <a:latin typeface="Century Gothic" panose="020B0502020202020204" pitchFamily="34" charset="0"/>
              </a:rPr>
              <a:t>Medicaid Benefits: Ohio’s Optional Services</a:t>
            </a:r>
          </a:p>
        </p:txBody>
      </p:sp>
      <p:sp>
        <p:nvSpPr>
          <p:cNvPr id="3" name="Subtitle 2"/>
          <p:cNvSpPr>
            <a:spLocks noGrp="1"/>
          </p:cNvSpPr>
          <p:nvPr>
            <p:ph idx="1"/>
          </p:nvPr>
        </p:nvSpPr>
        <p:spPr>
          <a:xfrm>
            <a:off x="614596" y="1527125"/>
            <a:ext cx="5041942" cy="4851724"/>
          </a:xfrm>
        </p:spPr>
        <p:txBody>
          <a:bodyPr>
            <a:normAutofit/>
          </a:bodyPr>
          <a:lstStyle/>
          <a:p>
            <a:r>
              <a:rPr lang="en-US" sz="2000">
                <a:solidFill>
                  <a:srgbClr val="001D58"/>
                </a:solidFill>
                <a:latin typeface="Century Gothic" panose="020B0502020202020204" pitchFamily="34" charset="0"/>
              </a:rPr>
              <a:t>Prescription Drugs</a:t>
            </a:r>
          </a:p>
          <a:p>
            <a:r>
              <a:rPr lang="en-US" sz="2000">
                <a:solidFill>
                  <a:srgbClr val="001D58"/>
                </a:solidFill>
                <a:latin typeface="Century Gothic" panose="020B0502020202020204" pitchFamily="34" charset="0"/>
              </a:rPr>
              <a:t>Durable Medical Equipment and Supplies</a:t>
            </a:r>
          </a:p>
          <a:p>
            <a:r>
              <a:rPr lang="en-US" sz="2000">
                <a:solidFill>
                  <a:srgbClr val="001D58"/>
                </a:solidFill>
                <a:latin typeface="Century Gothic" panose="020B0502020202020204" pitchFamily="34" charset="0"/>
              </a:rPr>
              <a:t>Vision, including eyeglasses</a:t>
            </a:r>
          </a:p>
          <a:p>
            <a:r>
              <a:rPr lang="en-US" sz="2000">
                <a:solidFill>
                  <a:srgbClr val="001D58"/>
                </a:solidFill>
                <a:latin typeface="Century Gothic" panose="020B0502020202020204" pitchFamily="34" charset="0"/>
              </a:rPr>
              <a:t>Dental </a:t>
            </a:r>
          </a:p>
          <a:p>
            <a:r>
              <a:rPr lang="en-US" sz="2000">
                <a:solidFill>
                  <a:srgbClr val="001D58"/>
                </a:solidFill>
                <a:latin typeface="Century Gothic" panose="020B0502020202020204" pitchFamily="34" charset="0"/>
              </a:rPr>
              <a:t>Physical Therapy</a:t>
            </a:r>
          </a:p>
          <a:p>
            <a:r>
              <a:rPr lang="en-US" sz="2000">
                <a:solidFill>
                  <a:srgbClr val="001D58"/>
                </a:solidFill>
                <a:latin typeface="Century Gothic" panose="020B0502020202020204" pitchFamily="34" charset="0"/>
              </a:rPr>
              <a:t>Occupational Therapy</a:t>
            </a:r>
          </a:p>
          <a:p>
            <a:r>
              <a:rPr lang="en-US" sz="2000">
                <a:solidFill>
                  <a:srgbClr val="001D58"/>
                </a:solidFill>
                <a:latin typeface="Century Gothic" panose="020B0502020202020204" pitchFamily="34" charset="0"/>
              </a:rPr>
              <a:t>Speech Therapy</a:t>
            </a:r>
          </a:p>
          <a:p>
            <a:r>
              <a:rPr lang="en-US" sz="2000">
                <a:solidFill>
                  <a:srgbClr val="001D58"/>
                </a:solidFill>
                <a:latin typeface="Century Gothic" panose="020B0502020202020204" pitchFamily="34" charset="0"/>
              </a:rPr>
              <a:t>Podiatry</a:t>
            </a:r>
          </a:p>
          <a:p>
            <a:r>
              <a:rPr lang="en-US" sz="2000">
                <a:solidFill>
                  <a:srgbClr val="001D58"/>
                </a:solidFill>
                <a:latin typeface="Century Gothic" panose="020B0502020202020204" pitchFamily="34" charset="0"/>
              </a:rPr>
              <a:t>Chiropractic Services for children</a:t>
            </a:r>
          </a:p>
          <a:p>
            <a:r>
              <a:rPr lang="en-US" sz="2000">
                <a:solidFill>
                  <a:srgbClr val="001D58"/>
                </a:solidFill>
                <a:latin typeface="Century Gothic" panose="020B0502020202020204" pitchFamily="34" charset="0"/>
              </a:rPr>
              <a:t>Independent psychological services for children</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30</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01794"/>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9" name="Subtitle 2"/>
          <p:cNvSpPr txBox="1">
            <a:spLocks/>
          </p:cNvSpPr>
          <p:nvPr/>
        </p:nvSpPr>
        <p:spPr>
          <a:xfrm>
            <a:off x="5875196" y="1532397"/>
            <a:ext cx="5117482" cy="48663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6875"/>
            <a:r>
              <a:rPr lang="en-US" sz="2000">
                <a:solidFill>
                  <a:srgbClr val="001D58"/>
                </a:solidFill>
                <a:latin typeface="Century Gothic" panose="020B0502020202020204" pitchFamily="34" charset="0"/>
              </a:rPr>
              <a:t>Private Duty Nursing</a:t>
            </a:r>
          </a:p>
          <a:p>
            <a:pPr marL="396875"/>
            <a:r>
              <a:rPr lang="en-US" sz="2000">
                <a:solidFill>
                  <a:srgbClr val="001D58"/>
                </a:solidFill>
                <a:latin typeface="Century Gothic" panose="020B0502020202020204" pitchFamily="34" charset="0"/>
              </a:rPr>
              <a:t>Ambulance/Ambulette</a:t>
            </a:r>
          </a:p>
          <a:p>
            <a:pPr marL="396875"/>
            <a:r>
              <a:rPr lang="en-US" sz="2000">
                <a:solidFill>
                  <a:srgbClr val="001D58"/>
                </a:solidFill>
                <a:latin typeface="Century Gothic" panose="020B0502020202020204" pitchFamily="34" charset="0"/>
              </a:rPr>
              <a:t>Community Alcohol drug and addiction treatment</a:t>
            </a:r>
          </a:p>
          <a:p>
            <a:pPr marL="396875"/>
            <a:r>
              <a:rPr lang="en-US" sz="2000" b="1" i="1" u="sng">
                <a:solidFill>
                  <a:srgbClr val="001D58"/>
                </a:solidFill>
                <a:latin typeface="Century Gothic" panose="020B0502020202020204" pitchFamily="34" charset="0"/>
              </a:rPr>
              <a:t>Home and Community Based alternatives to facility based care</a:t>
            </a:r>
          </a:p>
          <a:p>
            <a:pPr marL="396875"/>
            <a:r>
              <a:rPr lang="en-US" sz="2000">
                <a:solidFill>
                  <a:srgbClr val="001D58"/>
                </a:solidFill>
                <a:latin typeface="Century Gothic" panose="020B0502020202020204" pitchFamily="34" charset="0"/>
              </a:rPr>
              <a:t>Intermediate care facilities for people with Developmental Disabilities</a:t>
            </a:r>
          </a:p>
          <a:p>
            <a:pPr marL="396875"/>
            <a:r>
              <a:rPr lang="en-US" sz="2000">
                <a:solidFill>
                  <a:srgbClr val="001D58"/>
                </a:solidFill>
                <a:latin typeface="Century Gothic" panose="020B0502020202020204" pitchFamily="34" charset="0"/>
              </a:rPr>
              <a:t>Hospice</a:t>
            </a:r>
          </a:p>
          <a:p>
            <a:pPr marL="396875"/>
            <a:r>
              <a:rPr lang="en-US" sz="2000">
                <a:solidFill>
                  <a:srgbClr val="001D58"/>
                </a:solidFill>
                <a:latin typeface="Century Gothic" panose="020B0502020202020204" pitchFamily="34" charset="0"/>
              </a:rPr>
              <a:t>Community mental health services </a:t>
            </a:r>
          </a:p>
        </p:txBody>
      </p:sp>
    </p:spTree>
    <p:extLst>
      <p:ext uri="{BB962C8B-B14F-4D97-AF65-F5344CB8AC3E}">
        <p14:creationId xmlns:p14="http://schemas.microsoft.com/office/powerpoint/2010/main" val="358795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49643" cy="1019443"/>
          </a:xfrm>
        </p:spPr>
        <p:txBody>
          <a:bodyPr>
            <a:normAutofit/>
          </a:bodyPr>
          <a:lstStyle/>
          <a:p>
            <a:pPr algn="l"/>
            <a:r>
              <a:rPr lang="en-US" sz="4600" b="1">
                <a:solidFill>
                  <a:srgbClr val="001D58"/>
                </a:solidFill>
                <a:latin typeface="Century Gothic" panose="020B0502020202020204" pitchFamily="34" charset="0"/>
              </a:rPr>
              <a:t>Medicaid in Ohio</a:t>
            </a:r>
          </a:p>
        </p:txBody>
      </p:sp>
      <p:sp>
        <p:nvSpPr>
          <p:cNvPr id="3" name="Subtitle 2"/>
          <p:cNvSpPr>
            <a:spLocks noGrp="1"/>
          </p:cNvSpPr>
          <p:nvPr>
            <p:ph idx="1"/>
          </p:nvPr>
        </p:nvSpPr>
        <p:spPr>
          <a:xfrm>
            <a:off x="614596" y="1368101"/>
            <a:ext cx="10449644" cy="4866330"/>
          </a:xfrm>
        </p:spPr>
        <p:txBody>
          <a:bodyPr>
            <a:normAutofit/>
          </a:bodyPr>
          <a:lstStyle/>
          <a:p>
            <a:pPr marL="0" indent="0">
              <a:buNone/>
            </a:pPr>
            <a:r>
              <a:rPr lang="en-US" sz="2600" b="1">
                <a:solidFill>
                  <a:srgbClr val="001D58"/>
                </a:solidFill>
                <a:latin typeface="Century Gothic" panose="020B0502020202020204" pitchFamily="34" charset="0"/>
              </a:rPr>
              <a:t>Structure: </a:t>
            </a:r>
            <a:r>
              <a:rPr lang="en-US" sz="2600">
                <a:solidFill>
                  <a:srgbClr val="001D58"/>
                </a:solidFill>
                <a:latin typeface="Century Gothic" panose="020B0502020202020204" pitchFamily="34" charset="0"/>
              </a:rPr>
              <a:t>Was under ODJFS…Now under Ohio Department of Medicaid (ODM)</a:t>
            </a:r>
          </a:p>
          <a:p>
            <a:pPr marL="0" indent="0">
              <a:buNone/>
            </a:pPr>
            <a:endParaRPr lang="en-US" sz="2600">
              <a:solidFill>
                <a:srgbClr val="001D58"/>
              </a:solidFill>
              <a:latin typeface="Century Gothic" panose="020B0502020202020204" pitchFamily="34" charset="0"/>
            </a:endParaRPr>
          </a:p>
          <a:p>
            <a:pPr marL="0" indent="0">
              <a:buNone/>
            </a:pPr>
            <a:r>
              <a:rPr lang="en-US" sz="2600" b="1">
                <a:solidFill>
                  <a:srgbClr val="001D58"/>
                </a:solidFill>
                <a:latin typeface="Century Gothic" panose="020B0502020202020204" pitchFamily="34" charset="0"/>
              </a:rPr>
              <a:t>Eligibility: </a:t>
            </a:r>
            <a:r>
              <a:rPr lang="en-US" sz="2600">
                <a:solidFill>
                  <a:srgbClr val="001D58"/>
                </a:solidFill>
                <a:latin typeface="Century Gothic" panose="020B0502020202020204" pitchFamily="34" charset="0"/>
              </a:rPr>
              <a:t>Income, Assets (in some cases) </a:t>
            </a:r>
          </a:p>
          <a:p>
            <a:pPr marL="0" indent="0">
              <a:buNone/>
            </a:pPr>
            <a:endParaRPr lang="en-US" sz="2600">
              <a:solidFill>
                <a:srgbClr val="001D58"/>
              </a:solidFill>
              <a:latin typeface="Century Gothic" panose="020B0502020202020204" pitchFamily="34" charset="0"/>
            </a:endParaRPr>
          </a:p>
          <a:p>
            <a:pPr marL="0" indent="0">
              <a:buNone/>
            </a:pPr>
            <a:r>
              <a:rPr lang="en-US" sz="2600" b="1">
                <a:solidFill>
                  <a:srgbClr val="001D58"/>
                </a:solidFill>
                <a:latin typeface="Century Gothic" panose="020B0502020202020204" pitchFamily="34" charset="0"/>
              </a:rPr>
              <a:t>Application Process (Online): </a:t>
            </a:r>
            <a:r>
              <a:rPr lang="en-US" sz="2600">
                <a:solidFill>
                  <a:srgbClr val="001D58"/>
                </a:solidFill>
                <a:latin typeface="Century Gothic" panose="020B0502020202020204" pitchFamily="34" charset="0"/>
                <a:hlinkClick r:id="rId3"/>
              </a:rPr>
              <a:t>www.ohiobenefits.gov</a:t>
            </a:r>
            <a:r>
              <a:rPr lang="en-US" sz="2600">
                <a:solidFill>
                  <a:srgbClr val="001D58"/>
                </a:solidFill>
                <a:latin typeface="Century Gothic" panose="020B0502020202020204" pitchFamily="34" charset="0"/>
              </a:rPr>
              <a:t> --preferred method is online although paper app is available</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31</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742073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449643" cy="1019443"/>
          </a:xfrm>
        </p:spPr>
        <p:txBody>
          <a:bodyPr>
            <a:normAutofit/>
          </a:bodyPr>
          <a:lstStyle/>
          <a:p>
            <a:pPr algn="l"/>
            <a:r>
              <a:rPr lang="en-US" sz="4600" b="1">
                <a:solidFill>
                  <a:srgbClr val="001D58"/>
                </a:solidFill>
                <a:latin typeface="Century Gothic" panose="020B0502020202020204" pitchFamily="34" charset="0"/>
              </a:rPr>
              <a:t>Medicaid Expansion in Ohio (2014)</a:t>
            </a:r>
            <a:endParaRPr lang="en-US" sz="2800" b="1">
              <a:solidFill>
                <a:srgbClr val="001D58"/>
              </a:solidFill>
              <a:latin typeface="Century Gothic" panose="020B0502020202020204" pitchFamily="34" charset="0"/>
            </a:endParaRPr>
          </a:p>
        </p:txBody>
      </p:sp>
      <p:sp>
        <p:nvSpPr>
          <p:cNvPr id="3" name="Subtitle 2"/>
          <p:cNvSpPr>
            <a:spLocks noGrp="1"/>
          </p:cNvSpPr>
          <p:nvPr>
            <p:ph idx="1"/>
          </p:nvPr>
        </p:nvSpPr>
        <p:spPr>
          <a:xfrm>
            <a:off x="614596" y="1368101"/>
            <a:ext cx="10449644" cy="4866330"/>
          </a:xfrm>
        </p:spPr>
        <p:txBody>
          <a:bodyPr>
            <a:normAutofit/>
          </a:bodyPr>
          <a:lstStyle/>
          <a:p>
            <a:pPr marL="0" indent="0">
              <a:buNone/>
            </a:pPr>
            <a:r>
              <a:rPr lang="en-US">
                <a:solidFill>
                  <a:srgbClr val="001D58"/>
                </a:solidFill>
                <a:latin typeface="Century Gothic" panose="020B0502020202020204" pitchFamily="34" charset="0"/>
              </a:rPr>
              <a:t>Ohio was one of 27 states to expand Medicaid to groups of adults (age 18-64) who were not previously eligible, allowing for income up to 138% of the Federal Poverty Level</a:t>
            </a:r>
          </a:p>
          <a:p>
            <a:pPr marL="0" indent="0">
              <a:buNone/>
            </a:pPr>
            <a:endParaRPr lang="en-US">
              <a:solidFill>
                <a:srgbClr val="001D58"/>
              </a:solidFill>
              <a:latin typeface="Century Gothic" panose="020B0502020202020204" pitchFamily="34" charset="0"/>
            </a:endParaRPr>
          </a:p>
          <a:p>
            <a:pPr marL="0" indent="0">
              <a:buNone/>
            </a:pPr>
            <a:r>
              <a:rPr lang="en-US">
                <a:solidFill>
                  <a:srgbClr val="001D58"/>
                </a:solidFill>
                <a:latin typeface="Century Gothic" panose="020B0502020202020204" pitchFamily="34" charset="0"/>
              </a:rPr>
              <a:t>Expansion determines eligibility with new MAGI (Modified Adjusted Gross Income) rules; based on your taxes</a:t>
            </a:r>
          </a:p>
          <a:p>
            <a:pPr marL="0" indent="0">
              <a:buNone/>
            </a:pPr>
            <a:endParaRPr lang="en-US">
              <a:solidFill>
                <a:srgbClr val="001D58"/>
              </a:solidFill>
              <a:latin typeface="Century Gothic" panose="020B0502020202020204" pitchFamily="34" charset="0"/>
            </a:endParaRPr>
          </a:p>
          <a:p>
            <a:pPr marL="0" indent="0">
              <a:buNone/>
            </a:pPr>
            <a:r>
              <a:rPr lang="en-US">
                <a:solidFill>
                  <a:srgbClr val="001D58"/>
                </a:solidFill>
                <a:latin typeface="Century Gothic" panose="020B0502020202020204" pitchFamily="34" charset="0"/>
              </a:rPr>
              <a:t>All recipients in this category go into a Managed Care Plan with Buckeye, </a:t>
            </a:r>
            <a:r>
              <a:rPr lang="en-US" err="1">
                <a:solidFill>
                  <a:srgbClr val="001D58"/>
                </a:solidFill>
                <a:latin typeface="Century Gothic" panose="020B0502020202020204" pitchFamily="34" charset="0"/>
              </a:rPr>
              <a:t>CareSource</a:t>
            </a:r>
            <a:r>
              <a:rPr lang="en-US">
                <a:solidFill>
                  <a:srgbClr val="001D58"/>
                </a:solidFill>
                <a:latin typeface="Century Gothic" panose="020B0502020202020204" pitchFamily="34" charset="0"/>
              </a:rPr>
              <a:t>, Molina, Paramount or United Health Care</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595843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Autofit/>
          </a:bodyPr>
          <a:lstStyle/>
          <a:p>
            <a:r>
              <a:rPr lang="en-US" sz="4000" b="1">
                <a:solidFill>
                  <a:srgbClr val="001D58"/>
                </a:solidFill>
                <a:latin typeface="Century Gothic" panose="020B0502020202020204" pitchFamily="34" charset="0"/>
              </a:rPr>
              <a:t>Pathway to Coverage: Modified Adjusted Gross Income (MAGI)</a:t>
            </a:r>
          </a:p>
        </p:txBody>
      </p:sp>
      <p:sp>
        <p:nvSpPr>
          <p:cNvPr id="3" name="Subtitle 2"/>
          <p:cNvSpPr>
            <a:spLocks noGrp="1"/>
          </p:cNvSpPr>
          <p:nvPr>
            <p:ph idx="1"/>
          </p:nvPr>
        </p:nvSpPr>
        <p:spPr>
          <a:xfrm>
            <a:off x="614596" y="1619212"/>
            <a:ext cx="10449644" cy="4660274"/>
          </a:xfrm>
        </p:spPr>
        <p:txBody>
          <a:bodyPr>
            <a:normAutofit fontScale="62500" lnSpcReduction="20000"/>
          </a:bodyPr>
          <a:lstStyle/>
          <a:p>
            <a:pPr algn="l"/>
            <a:r>
              <a:rPr lang="en-US" sz="3400" b="1" i="0" dirty="0">
                <a:effectLst/>
                <a:latin typeface="Century Gothic" panose="020B0502020202020204" pitchFamily="34" charset="0"/>
              </a:rPr>
              <a:t>What does MAGI mean? </a:t>
            </a:r>
          </a:p>
          <a:p>
            <a:pPr algn="l">
              <a:buFont typeface="Arial" panose="020B0604020202020204" pitchFamily="34" charset="0"/>
              <a:buChar char="•"/>
            </a:pPr>
            <a:r>
              <a:rPr lang="en-US" sz="3400" b="0" i="0" dirty="0">
                <a:effectLst/>
                <a:latin typeface="Century Gothic" panose="020B0502020202020204" pitchFamily="34" charset="0"/>
              </a:rPr>
              <a:t>MAGI stands for </a:t>
            </a:r>
            <a:r>
              <a:rPr lang="en-US" sz="3400" b="0" i="0" u="sng" dirty="0">
                <a:effectLst/>
                <a:latin typeface="Century Gothic" panose="020B0502020202020204" pitchFamily="34" charset="0"/>
              </a:rPr>
              <a:t>M</a:t>
            </a:r>
            <a:r>
              <a:rPr lang="en-US" sz="3400" b="0" i="0" dirty="0">
                <a:effectLst/>
                <a:latin typeface="Century Gothic" panose="020B0502020202020204" pitchFamily="34" charset="0"/>
              </a:rPr>
              <a:t>odified </a:t>
            </a:r>
            <a:r>
              <a:rPr lang="en-US" sz="3400" b="0" i="0" u="sng" dirty="0">
                <a:effectLst/>
                <a:latin typeface="Century Gothic" panose="020B0502020202020204" pitchFamily="34" charset="0"/>
              </a:rPr>
              <a:t>A</a:t>
            </a:r>
            <a:r>
              <a:rPr lang="en-US" sz="3400" b="0" i="0" dirty="0">
                <a:effectLst/>
                <a:latin typeface="Century Gothic" panose="020B0502020202020204" pitchFamily="34" charset="0"/>
              </a:rPr>
              <a:t>djusted </a:t>
            </a:r>
            <a:r>
              <a:rPr lang="en-US" sz="3400" b="0" i="0" u="sng" dirty="0">
                <a:effectLst/>
                <a:latin typeface="Century Gothic" panose="020B0502020202020204" pitchFamily="34" charset="0"/>
              </a:rPr>
              <a:t>G</a:t>
            </a:r>
            <a:r>
              <a:rPr lang="en-US" sz="3400" b="0" i="0" dirty="0">
                <a:effectLst/>
                <a:latin typeface="Century Gothic" panose="020B0502020202020204" pitchFamily="34" charset="0"/>
              </a:rPr>
              <a:t>ross </a:t>
            </a:r>
            <a:r>
              <a:rPr lang="en-US" sz="3400" b="0" i="0" u="sng" dirty="0">
                <a:effectLst/>
                <a:latin typeface="Century Gothic" panose="020B0502020202020204" pitchFamily="34" charset="0"/>
              </a:rPr>
              <a:t>I</a:t>
            </a:r>
            <a:r>
              <a:rPr lang="en-US" sz="3400" b="0" i="0" dirty="0">
                <a:effectLst/>
                <a:latin typeface="Century Gothic" panose="020B0502020202020204" pitchFamily="34" charset="0"/>
              </a:rPr>
              <a:t>ncome </a:t>
            </a:r>
          </a:p>
          <a:p>
            <a:pPr>
              <a:lnSpc>
                <a:spcPct val="120000"/>
              </a:lnSpc>
            </a:pPr>
            <a:r>
              <a:rPr lang="en-US" sz="3400" b="0" i="0" dirty="0">
                <a:effectLst/>
                <a:latin typeface="Century Gothic" panose="020B0502020202020204" pitchFamily="34" charset="0"/>
              </a:rPr>
              <a:t>The MAGI Medicaid program started January 1, 2014, as part of the Affordable Care Act (ACA)</a:t>
            </a:r>
          </a:p>
          <a:p>
            <a:pPr algn="l">
              <a:lnSpc>
                <a:spcPct val="120000"/>
              </a:lnSpc>
              <a:buFont typeface="Arial" panose="020B0604020202020204" pitchFamily="34" charset="0"/>
              <a:buChar char="•"/>
            </a:pPr>
            <a:r>
              <a:rPr lang="en-US" sz="3400" b="0" i="0" dirty="0">
                <a:effectLst/>
                <a:latin typeface="Century Gothic" panose="020B0502020202020204" pitchFamily="34" charset="0"/>
              </a:rPr>
              <a:t>MAGI-based budgeting is used to calculate a person's household size and income, using federal income tax rules and a tax filer's family size to determine eligibility for Medicaid</a:t>
            </a:r>
          </a:p>
          <a:p>
            <a:pPr algn="l">
              <a:lnSpc>
                <a:spcPct val="120000"/>
              </a:lnSpc>
            </a:pPr>
            <a:r>
              <a:rPr lang="en-US" sz="3400" b="1" i="0" dirty="0">
                <a:effectLst/>
                <a:latin typeface="Century Gothic" panose="020B0502020202020204" pitchFamily="34" charset="0"/>
              </a:rPr>
              <a:t>Who is potentially eligible for MAGI Medicaid?</a:t>
            </a:r>
          </a:p>
          <a:p>
            <a:pPr algn="l">
              <a:buFont typeface="Arial" panose="020B0604020202020204" pitchFamily="34" charset="0"/>
              <a:buChar char="•"/>
            </a:pPr>
            <a:r>
              <a:rPr lang="en-US" sz="3400" b="0" i="0" dirty="0">
                <a:effectLst/>
                <a:latin typeface="Century Gothic" panose="020B0502020202020204" pitchFamily="34" charset="0"/>
              </a:rPr>
              <a:t>Single,  childless adults</a:t>
            </a:r>
          </a:p>
          <a:p>
            <a:pPr algn="l">
              <a:buFont typeface="Arial" panose="020B0604020202020204" pitchFamily="34" charset="0"/>
              <a:buChar char="•"/>
            </a:pPr>
            <a:r>
              <a:rPr lang="en-US" sz="3400" b="0" i="0" dirty="0">
                <a:effectLst/>
                <a:latin typeface="Century Gothic" panose="020B0502020202020204" pitchFamily="34" charset="0"/>
              </a:rPr>
              <a:t>Married, childless couples</a:t>
            </a:r>
          </a:p>
          <a:p>
            <a:pPr algn="l">
              <a:buFont typeface="Arial" panose="020B0604020202020204" pitchFamily="34" charset="0"/>
              <a:buChar char="•"/>
            </a:pPr>
            <a:r>
              <a:rPr lang="en-US" sz="3400" b="0" i="0" dirty="0">
                <a:effectLst/>
                <a:latin typeface="Century Gothic" panose="020B0502020202020204" pitchFamily="34" charset="0"/>
              </a:rPr>
              <a:t>Families with children ages 19 and under</a:t>
            </a:r>
          </a:p>
          <a:p>
            <a:pPr algn="l">
              <a:buFont typeface="Arial" panose="020B0604020202020204" pitchFamily="34" charset="0"/>
              <a:buChar char="•"/>
            </a:pPr>
            <a:r>
              <a:rPr lang="en-US" sz="3400" b="0" i="0" dirty="0">
                <a:effectLst/>
                <a:latin typeface="Century Gothic" panose="020B0502020202020204" pitchFamily="34" charset="0"/>
              </a:rPr>
              <a:t>Children up to age 19</a:t>
            </a:r>
          </a:p>
          <a:p>
            <a:pPr marL="0" lvl="1" indent="0">
              <a:buNone/>
            </a:pPr>
            <a:endParaRPr lang="en-US" sz="26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289368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SSI vs. SSDI</a:t>
            </a:r>
          </a:p>
        </p:txBody>
      </p:sp>
      <p:sp>
        <p:nvSpPr>
          <p:cNvPr id="3" name="Subtitle 2"/>
          <p:cNvSpPr>
            <a:spLocks noGrp="1"/>
          </p:cNvSpPr>
          <p:nvPr>
            <p:ph idx="1"/>
          </p:nvPr>
        </p:nvSpPr>
        <p:spPr>
          <a:xfrm>
            <a:off x="634474" y="1328345"/>
            <a:ext cx="5041942" cy="4851724"/>
          </a:xfrm>
        </p:spPr>
        <p:txBody>
          <a:bodyPr>
            <a:normAutofit/>
          </a:bodyPr>
          <a:lstStyle/>
          <a:p>
            <a:pPr marL="0" indent="0">
              <a:buNone/>
            </a:pPr>
            <a:r>
              <a:rPr lang="en-US" sz="2600" b="1">
                <a:solidFill>
                  <a:srgbClr val="001D58"/>
                </a:solidFill>
                <a:latin typeface="Century Gothic" panose="020B0502020202020204" pitchFamily="34" charset="0"/>
              </a:rPr>
              <a:t>Supplemental Security Income</a:t>
            </a:r>
          </a:p>
          <a:p>
            <a:pPr marL="465138"/>
            <a:r>
              <a:rPr lang="en-US" sz="2300">
                <a:solidFill>
                  <a:srgbClr val="001D58"/>
                </a:solidFill>
                <a:latin typeface="Century Gothic" panose="020B0502020202020204" pitchFamily="34" charset="0"/>
              </a:rPr>
              <a:t>Assistance Program </a:t>
            </a:r>
          </a:p>
          <a:p>
            <a:pPr marL="465138"/>
            <a:r>
              <a:rPr lang="en-US" sz="2300">
                <a:solidFill>
                  <a:srgbClr val="001D58"/>
                </a:solidFill>
                <a:latin typeface="Century Gothic" panose="020B0502020202020204" pitchFamily="34" charset="0"/>
              </a:rPr>
              <a:t>Benefits for you-not based on eligibility of a family member</a:t>
            </a:r>
          </a:p>
          <a:p>
            <a:pPr marL="465138"/>
            <a:r>
              <a:rPr lang="en-US" sz="2300">
                <a:solidFill>
                  <a:srgbClr val="001D58"/>
                </a:solidFill>
                <a:latin typeface="Century Gothic" panose="020B0502020202020204" pitchFamily="34" charset="0"/>
              </a:rPr>
              <a:t>Federal/ State Program</a:t>
            </a:r>
          </a:p>
          <a:p>
            <a:pPr marL="465138"/>
            <a:r>
              <a:rPr lang="en-US" sz="2300">
                <a:solidFill>
                  <a:srgbClr val="001D58"/>
                </a:solidFill>
                <a:latin typeface="Century Gothic" panose="020B0502020202020204" pitchFamily="34" charset="0"/>
              </a:rPr>
              <a:t>In most states, administered by DJFS or equivalent agency at a county level (in Ohio: OOD)</a:t>
            </a:r>
          </a:p>
          <a:p>
            <a:pPr marL="465138"/>
            <a:r>
              <a:rPr lang="en-US" sz="2300">
                <a:solidFill>
                  <a:srgbClr val="001D58"/>
                </a:solidFill>
                <a:latin typeface="Century Gothic" panose="020B0502020202020204" pitchFamily="34" charset="0"/>
              </a:rPr>
              <a:t>Disability definition does NOT look at employment</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34</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03014"/>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9" name="Subtitle 2"/>
          <p:cNvSpPr txBox="1">
            <a:spLocks/>
          </p:cNvSpPr>
          <p:nvPr/>
        </p:nvSpPr>
        <p:spPr>
          <a:xfrm>
            <a:off x="5895073" y="1333617"/>
            <a:ext cx="5316265" cy="48663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600" b="1">
                <a:solidFill>
                  <a:srgbClr val="001D58"/>
                </a:solidFill>
                <a:latin typeface="Century Gothic" panose="020B0502020202020204" pitchFamily="34" charset="0"/>
              </a:rPr>
              <a:t>Social Security Disability Insurance</a:t>
            </a:r>
          </a:p>
          <a:p>
            <a:pPr marL="398463"/>
            <a:r>
              <a:rPr lang="en-US" sz="2300">
                <a:solidFill>
                  <a:srgbClr val="001D58"/>
                </a:solidFill>
                <a:latin typeface="Century Gothic" panose="020B0502020202020204" pitchFamily="34" charset="0"/>
              </a:rPr>
              <a:t>Insurance Program</a:t>
            </a:r>
          </a:p>
          <a:p>
            <a:pPr marL="398463"/>
            <a:r>
              <a:rPr lang="en-US" sz="2300">
                <a:solidFill>
                  <a:srgbClr val="001D58"/>
                </a:solidFill>
                <a:latin typeface="Century Gothic" panose="020B0502020202020204" pitchFamily="34" charset="0"/>
              </a:rPr>
              <a:t>May be eligible for benefits on behalf of a disabled family member or on your own work history</a:t>
            </a:r>
          </a:p>
          <a:p>
            <a:pPr marL="398463"/>
            <a:r>
              <a:rPr lang="en-US" sz="2300">
                <a:solidFill>
                  <a:srgbClr val="001D58"/>
                </a:solidFill>
                <a:latin typeface="Century Gothic" panose="020B0502020202020204" pitchFamily="34" charset="0"/>
              </a:rPr>
              <a:t>Federal Program—Administered entirely by the Social Security Administration (SSA)</a:t>
            </a:r>
          </a:p>
          <a:p>
            <a:pPr marL="398463"/>
            <a:r>
              <a:rPr lang="en-US" sz="2300">
                <a:solidFill>
                  <a:srgbClr val="001D58"/>
                </a:solidFill>
                <a:latin typeface="Century Gothic" panose="020B0502020202020204" pitchFamily="34" charset="0"/>
              </a:rPr>
              <a:t>Disability definition DOES look at employment</a:t>
            </a:r>
          </a:p>
        </p:txBody>
      </p:sp>
    </p:spTree>
    <p:extLst>
      <p:ext uri="{BB962C8B-B14F-4D97-AF65-F5344CB8AC3E}">
        <p14:creationId xmlns:p14="http://schemas.microsoft.com/office/powerpoint/2010/main" val="1505161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SSI</a:t>
            </a:r>
          </a:p>
        </p:txBody>
      </p:sp>
      <p:sp>
        <p:nvSpPr>
          <p:cNvPr id="3" name="Subtitle 2"/>
          <p:cNvSpPr>
            <a:spLocks noGrp="1"/>
          </p:cNvSpPr>
          <p:nvPr>
            <p:ph idx="1"/>
          </p:nvPr>
        </p:nvSpPr>
        <p:spPr>
          <a:xfrm>
            <a:off x="614596" y="1368101"/>
            <a:ext cx="10083883" cy="4866330"/>
          </a:xfrm>
        </p:spPr>
        <p:txBody>
          <a:bodyPr>
            <a:normAutofit/>
          </a:bodyPr>
          <a:lstStyle/>
          <a:p>
            <a:pPr marL="49213" indent="0">
              <a:buNone/>
            </a:pPr>
            <a:r>
              <a:rPr lang="en-US" sz="2400" b="1">
                <a:solidFill>
                  <a:srgbClr val="001D58"/>
                </a:solidFill>
                <a:latin typeface="Century Gothic" panose="020B0502020202020204" pitchFamily="34" charset="0"/>
              </a:rPr>
              <a:t>Provides benefits to people who:</a:t>
            </a:r>
          </a:p>
          <a:p>
            <a:pPr marL="795338" indent="-457200"/>
            <a:r>
              <a:rPr lang="en-US" sz="2100">
                <a:solidFill>
                  <a:srgbClr val="001D58"/>
                </a:solidFill>
                <a:latin typeface="Century Gothic" panose="020B0502020202020204" pitchFamily="34" charset="0"/>
              </a:rPr>
              <a:t>are aged*, blind or disabled (including children)</a:t>
            </a:r>
          </a:p>
          <a:p>
            <a:pPr marL="795338" indent="-457200"/>
            <a:r>
              <a:rPr lang="en-US" sz="2100">
                <a:solidFill>
                  <a:srgbClr val="001D58"/>
                </a:solidFill>
                <a:latin typeface="Century Gothic" panose="020B0502020202020204" pitchFamily="34" charset="0"/>
              </a:rPr>
              <a:t>have limited income and resources</a:t>
            </a:r>
          </a:p>
          <a:p>
            <a:pPr marL="636588" indent="0">
              <a:buNone/>
            </a:pPr>
            <a:r>
              <a:rPr lang="en-US" sz="2100">
                <a:solidFill>
                  <a:srgbClr val="001D58"/>
                </a:solidFill>
                <a:latin typeface="Century Gothic" panose="020B0502020202020204" pitchFamily="34" charset="0"/>
              </a:rPr>
              <a:t>(*A person is considered “aged” for SSI at the age of 65 years.)</a:t>
            </a:r>
          </a:p>
          <a:p>
            <a:pPr marL="49213" indent="0">
              <a:buNone/>
            </a:pPr>
            <a:r>
              <a:rPr lang="en-US" sz="2400" b="1">
                <a:solidFill>
                  <a:srgbClr val="001D58"/>
                </a:solidFill>
                <a:latin typeface="Century Gothic" panose="020B0502020202020204" pitchFamily="34" charset="0"/>
              </a:rPr>
              <a:t>In some cases, a child* may qualify for SSI. </a:t>
            </a:r>
          </a:p>
          <a:p>
            <a:pPr marL="636588" indent="0">
              <a:buNone/>
              <a:tabLst>
                <a:tab pos="576263" algn="l"/>
              </a:tabLst>
            </a:pPr>
            <a:r>
              <a:rPr lang="en-US" sz="2100">
                <a:solidFill>
                  <a:srgbClr val="001D58"/>
                </a:solidFill>
                <a:latin typeface="Century Gothic" panose="020B0502020202020204" pitchFamily="34" charset="0"/>
              </a:rPr>
              <a:t>(*Social Security defines a “child” as a person who 1) is either under age 18 or under age 22 and regularly attends school and 2) is not married or head of a household.)</a:t>
            </a:r>
          </a:p>
          <a:p>
            <a:pPr marL="0" indent="0">
              <a:buNone/>
            </a:pPr>
            <a:r>
              <a:rPr lang="en-US" sz="2400" b="1">
                <a:solidFill>
                  <a:srgbClr val="001D58"/>
                </a:solidFill>
                <a:latin typeface="Century Gothic" panose="020B0502020202020204" pitchFamily="34" charset="0"/>
              </a:rPr>
              <a:t>SSI eligibility for a child:</a:t>
            </a:r>
          </a:p>
          <a:p>
            <a:pPr marL="457200"/>
            <a:r>
              <a:rPr lang="en-US" sz="2000">
                <a:solidFill>
                  <a:srgbClr val="001D58"/>
                </a:solidFill>
                <a:latin typeface="Century Gothic" panose="020B0502020202020204" pitchFamily="34" charset="0"/>
              </a:rPr>
              <a:t>Must be either disabled or blind and </a:t>
            </a:r>
          </a:p>
          <a:p>
            <a:pPr marL="457200"/>
            <a:r>
              <a:rPr lang="en-US" sz="2000">
                <a:solidFill>
                  <a:srgbClr val="001D58"/>
                </a:solidFill>
                <a:latin typeface="Century Gothic" panose="020B0502020202020204" pitchFamily="34" charset="0"/>
              </a:rPr>
              <a:t>a portion of the income and resources of the child’s parents cannot be over a certain amount or limit</a:t>
            </a:r>
          </a:p>
          <a:p>
            <a:pPr marL="465138"/>
            <a:endParaRPr lang="en-US" sz="3200">
              <a:solidFill>
                <a:srgbClr val="001D58"/>
              </a:solidFill>
              <a:latin typeface="Century Gothic" panose="020B0502020202020204" pitchFamily="34" charset="0"/>
            </a:endParaRP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35</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533237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fontScale="90000"/>
          </a:bodyPr>
          <a:lstStyle/>
          <a:p>
            <a:r>
              <a:rPr lang="en-US" sz="4800" b="1">
                <a:solidFill>
                  <a:srgbClr val="001D58"/>
                </a:solidFill>
                <a:latin typeface="Century Gothic" panose="020B0502020202020204" pitchFamily="34" charset="0"/>
              </a:rPr>
              <a:t>Pathway to Coverage: Individuals receiving SSI</a:t>
            </a:r>
          </a:p>
        </p:txBody>
      </p:sp>
      <p:sp>
        <p:nvSpPr>
          <p:cNvPr id="3" name="Subtitle 2"/>
          <p:cNvSpPr>
            <a:spLocks noGrp="1"/>
          </p:cNvSpPr>
          <p:nvPr>
            <p:ph idx="1"/>
          </p:nvPr>
        </p:nvSpPr>
        <p:spPr>
          <a:xfrm>
            <a:off x="614596" y="1619212"/>
            <a:ext cx="10449644" cy="4476071"/>
          </a:xfrm>
        </p:spPr>
        <p:txBody>
          <a:bodyPr>
            <a:normAutofit/>
          </a:bodyPr>
          <a:lstStyle/>
          <a:p>
            <a:pPr marL="576263" indent="-277813"/>
            <a:r>
              <a:rPr lang="en-US" sz="3200">
                <a:solidFill>
                  <a:srgbClr val="001D58"/>
                </a:solidFill>
                <a:latin typeface="Century Gothic" panose="020B0502020202020204" pitchFamily="34" charset="0"/>
              </a:rPr>
              <a:t>Income at or below 75% FPL ($943)</a:t>
            </a:r>
          </a:p>
          <a:p>
            <a:pPr marL="576263" indent="-277813"/>
            <a:r>
              <a:rPr lang="en-US" sz="3200">
                <a:solidFill>
                  <a:srgbClr val="001D58"/>
                </a:solidFill>
                <a:latin typeface="Century Gothic" panose="020B0502020202020204" pitchFamily="34" charset="0"/>
              </a:rPr>
              <a:t>Receiving at least $1 of SSI…Automatically Eligible for Medicaid</a:t>
            </a:r>
          </a:p>
          <a:p>
            <a:pPr marL="576263" indent="-277813"/>
            <a:r>
              <a:rPr lang="en-US" sz="3200">
                <a:solidFill>
                  <a:srgbClr val="001D58"/>
                </a:solidFill>
                <a:latin typeface="Century Gothic" panose="020B0502020202020204" pitchFamily="34" charset="0"/>
              </a:rPr>
              <a:t>No need to apply separately</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36</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856636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800" b="1">
                <a:solidFill>
                  <a:srgbClr val="001D58"/>
                </a:solidFill>
                <a:latin typeface="Century Gothic" panose="020B0502020202020204" pitchFamily="34" charset="0"/>
              </a:rPr>
              <a:t>SSDI</a:t>
            </a:r>
          </a:p>
        </p:txBody>
      </p:sp>
      <p:sp>
        <p:nvSpPr>
          <p:cNvPr id="3" name="Subtitle 2"/>
          <p:cNvSpPr>
            <a:spLocks noGrp="1"/>
          </p:cNvSpPr>
          <p:nvPr>
            <p:ph idx="1"/>
          </p:nvPr>
        </p:nvSpPr>
        <p:spPr>
          <a:xfrm>
            <a:off x="614596" y="1368101"/>
            <a:ext cx="10083883" cy="4866330"/>
          </a:xfrm>
        </p:spPr>
        <p:txBody>
          <a:bodyPr>
            <a:normAutofit/>
          </a:bodyPr>
          <a:lstStyle/>
          <a:p>
            <a:pPr marL="49213" indent="0">
              <a:buNone/>
            </a:pPr>
            <a:r>
              <a:rPr lang="en-US" b="1">
                <a:solidFill>
                  <a:srgbClr val="001D58"/>
                </a:solidFill>
                <a:latin typeface="Century Gothic" panose="020B0502020202020204" pitchFamily="34" charset="0"/>
              </a:rPr>
              <a:t>Provides benefits to people who:</a:t>
            </a:r>
          </a:p>
          <a:p>
            <a:pPr marL="795338" indent="-457200"/>
            <a:r>
              <a:rPr lang="en-US" sz="2600">
                <a:solidFill>
                  <a:srgbClr val="001D58"/>
                </a:solidFill>
                <a:latin typeface="Century Gothic" panose="020B0502020202020204" pitchFamily="34" charset="0"/>
              </a:rPr>
              <a:t>are “disabled” </a:t>
            </a:r>
            <a:r>
              <a:rPr lang="en-US" sz="2600" i="1">
                <a:solidFill>
                  <a:srgbClr val="001D58"/>
                </a:solidFill>
                <a:latin typeface="Century Gothic" panose="020B0502020202020204" pitchFamily="34" charset="0"/>
              </a:rPr>
              <a:t>and </a:t>
            </a:r>
          </a:p>
          <a:p>
            <a:pPr marL="795338" indent="-457200"/>
            <a:r>
              <a:rPr lang="en-US" sz="2600">
                <a:solidFill>
                  <a:srgbClr val="001D58"/>
                </a:solidFill>
                <a:latin typeface="Century Gothic" panose="020B0502020202020204" pitchFamily="34" charset="0"/>
              </a:rPr>
              <a:t>are “insured” by the Social Security trust fund (person must have worked for a certain length of time and while working paid FICA (Federal Insurance Contribution Act) taxes.)</a:t>
            </a:r>
          </a:p>
          <a:p>
            <a:pPr marL="795338" indent="-457200"/>
            <a:endParaRPr lang="en-US" sz="2100">
              <a:solidFill>
                <a:srgbClr val="001D58"/>
              </a:solidFill>
              <a:latin typeface="Century Gothic" panose="020B0502020202020204" pitchFamily="34" charset="0"/>
            </a:endParaRPr>
          </a:p>
          <a:p>
            <a:pPr marL="795338" indent="-457200"/>
            <a:endParaRPr lang="en-US" sz="2100">
              <a:solidFill>
                <a:srgbClr val="001D58"/>
              </a:solidFill>
              <a:latin typeface="Century Gothic" panose="020B0502020202020204" pitchFamily="34" charset="0"/>
            </a:endParaRPr>
          </a:p>
          <a:p>
            <a:pPr marL="236538" indent="0">
              <a:buNone/>
            </a:pPr>
            <a:r>
              <a:rPr lang="en-US" i="1">
                <a:solidFill>
                  <a:srgbClr val="001D58"/>
                </a:solidFill>
                <a:latin typeface="Century Gothic" panose="020B0502020202020204" pitchFamily="34" charset="0"/>
              </a:rPr>
              <a:t>SSDI does NOT depend on a person’s current income or resources</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37</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100406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fontScale="90000"/>
          </a:bodyPr>
          <a:lstStyle/>
          <a:p>
            <a:r>
              <a:rPr lang="en-US" sz="4800" b="1">
                <a:solidFill>
                  <a:srgbClr val="001D58"/>
                </a:solidFill>
                <a:latin typeface="Century Gothic" panose="020B0502020202020204" pitchFamily="34" charset="0"/>
              </a:rPr>
              <a:t>Pathway to Coverage for the ABD- Categorically Needy</a:t>
            </a:r>
          </a:p>
        </p:txBody>
      </p:sp>
      <p:sp>
        <p:nvSpPr>
          <p:cNvPr id="3" name="Subtitle 2"/>
          <p:cNvSpPr>
            <a:spLocks noGrp="1"/>
          </p:cNvSpPr>
          <p:nvPr>
            <p:ph idx="1"/>
          </p:nvPr>
        </p:nvSpPr>
        <p:spPr>
          <a:xfrm>
            <a:off x="614596" y="1619212"/>
            <a:ext cx="10449644" cy="4476071"/>
          </a:xfrm>
        </p:spPr>
        <p:txBody>
          <a:bodyPr>
            <a:normAutofit/>
          </a:bodyPr>
          <a:lstStyle/>
          <a:p>
            <a:pPr marL="576263" indent="-277813"/>
            <a:r>
              <a:rPr lang="en-US" sz="3200">
                <a:solidFill>
                  <a:srgbClr val="001D58"/>
                </a:solidFill>
                <a:latin typeface="Century Gothic" panose="020B0502020202020204" pitchFamily="34" charset="0"/>
              </a:rPr>
              <a:t>Aged, Blind, or Disabled and not receiving SSI</a:t>
            </a:r>
          </a:p>
          <a:p>
            <a:pPr marL="576263" indent="-277813"/>
            <a:r>
              <a:rPr lang="en-US" sz="3200">
                <a:solidFill>
                  <a:srgbClr val="001D58"/>
                </a:solidFill>
                <a:latin typeface="Century Gothic" panose="020B0502020202020204" pitchFamily="34" charset="0"/>
              </a:rPr>
              <a:t>Countable income at or below 75% FPL ($943)</a:t>
            </a:r>
          </a:p>
          <a:p>
            <a:pPr marL="576263" indent="-277813"/>
            <a:r>
              <a:rPr lang="en-US" sz="3200">
                <a:solidFill>
                  <a:srgbClr val="001D58"/>
                </a:solidFill>
                <a:latin typeface="Century Gothic" panose="020B0502020202020204" pitchFamily="34" charset="0"/>
              </a:rPr>
              <a:t>Resource Limit of $2000 for an individual and $3000 for a couple</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38</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5824056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Pathway to Coverage</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b="1">
                <a:solidFill>
                  <a:srgbClr val="001D58"/>
                </a:solidFill>
                <a:latin typeface="Century Gothic" panose="020B0502020202020204" pitchFamily="34" charset="0"/>
              </a:rPr>
              <a:t>Individuals with income greater than 138% FPL who also have Medicare coverage:</a:t>
            </a:r>
          </a:p>
          <a:p>
            <a:pPr marL="750888" indent="-412750"/>
            <a:r>
              <a:rPr lang="en-US">
                <a:solidFill>
                  <a:srgbClr val="001D58"/>
                </a:solidFill>
                <a:latin typeface="Century Gothic" panose="020B0502020202020204" pitchFamily="34" charset="0"/>
              </a:rPr>
              <a:t>No longer eligible for Medicaid Benefits after July 31st 2016</a:t>
            </a:r>
          </a:p>
          <a:p>
            <a:pPr marL="750888" indent="-412750"/>
            <a:r>
              <a:rPr lang="en-US">
                <a:solidFill>
                  <a:srgbClr val="001D58"/>
                </a:solidFill>
                <a:latin typeface="Century Gothic" panose="020B0502020202020204" pitchFamily="34" charset="0"/>
              </a:rPr>
              <a:t>Medicare coverage will not be affected</a:t>
            </a:r>
          </a:p>
          <a:p>
            <a:pPr marL="750888" indent="-412750"/>
            <a:r>
              <a:rPr lang="en-US">
                <a:solidFill>
                  <a:srgbClr val="001D58"/>
                </a:solidFill>
                <a:latin typeface="Century Gothic" panose="020B0502020202020204" pitchFamily="34" charset="0"/>
              </a:rPr>
              <a:t>May be eligible for assistance with Medicare Premium costs</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39</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3349010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Pathway to Coverage</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b="1">
                <a:solidFill>
                  <a:srgbClr val="001D58"/>
                </a:solidFill>
                <a:latin typeface="Century Gothic" panose="020B0502020202020204" pitchFamily="34" charset="0"/>
              </a:rPr>
              <a:t>Individuals not receiving long-term care services, not enrolled in the Specialized Recovery Services (SRS) Program, not enrolled in Medicare and WITH income greater than 150% FPL:</a:t>
            </a:r>
          </a:p>
          <a:p>
            <a:pPr marL="750888" indent="-412750"/>
            <a:r>
              <a:rPr lang="en-US">
                <a:solidFill>
                  <a:srgbClr val="001D58"/>
                </a:solidFill>
                <a:latin typeface="Century Gothic" panose="020B0502020202020204" pitchFamily="34" charset="0"/>
              </a:rPr>
              <a:t>No longer eligible for Medicaid after July 31st 2016</a:t>
            </a:r>
          </a:p>
          <a:p>
            <a:pPr marL="750888" indent="-412750"/>
            <a:r>
              <a:rPr lang="en-US">
                <a:solidFill>
                  <a:srgbClr val="001D58"/>
                </a:solidFill>
                <a:latin typeface="Century Gothic" panose="020B0502020202020204" pitchFamily="34" charset="0"/>
              </a:rPr>
              <a:t>May apply for coverage through the federal Marketplace Exchange</a:t>
            </a:r>
          </a:p>
          <a:p>
            <a:pPr marL="750888" indent="-412750"/>
            <a:r>
              <a:rPr lang="en-US">
                <a:solidFill>
                  <a:srgbClr val="001D58"/>
                </a:solidFill>
                <a:latin typeface="Century Gothic" panose="020B0502020202020204" pitchFamily="34" charset="0"/>
              </a:rPr>
              <a:t>Depending on income, may qualify for discounted health insurance</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40</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2518403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fontScale="90000"/>
          </a:bodyPr>
          <a:lstStyle/>
          <a:p>
            <a:r>
              <a:rPr lang="en-US" sz="4800" b="1">
                <a:solidFill>
                  <a:srgbClr val="001D58"/>
                </a:solidFill>
                <a:latin typeface="Century Gothic" panose="020B0502020202020204" pitchFamily="34" charset="0"/>
              </a:rPr>
              <a:t>Pathway to Coverage for Special Income Limit (SIL)</a:t>
            </a:r>
          </a:p>
        </p:txBody>
      </p:sp>
      <p:sp>
        <p:nvSpPr>
          <p:cNvPr id="3" name="Subtitle 2"/>
          <p:cNvSpPr>
            <a:spLocks noGrp="1"/>
          </p:cNvSpPr>
          <p:nvPr>
            <p:ph idx="1"/>
          </p:nvPr>
        </p:nvSpPr>
        <p:spPr>
          <a:xfrm>
            <a:off x="614596" y="1619212"/>
            <a:ext cx="10449644" cy="4476071"/>
          </a:xfrm>
        </p:spPr>
        <p:txBody>
          <a:bodyPr>
            <a:normAutofit/>
          </a:bodyPr>
          <a:lstStyle/>
          <a:p>
            <a:pPr marL="0" indent="0">
              <a:buNone/>
            </a:pPr>
            <a:r>
              <a:rPr lang="en-US" sz="3200">
                <a:solidFill>
                  <a:srgbClr val="001D58"/>
                </a:solidFill>
                <a:latin typeface="Century Gothic" panose="020B0502020202020204" pitchFamily="34" charset="0"/>
              </a:rPr>
              <a:t>Individuals receiving long-term care services* with an income over 225% FPL ($2,829/month):</a:t>
            </a:r>
          </a:p>
          <a:p>
            <a:pPr marL="576263" indent="-277813"/>
            <a:r>
              <a:rPr lang="en-US">
                <a:solidFill>
                  <a:srgbClr val="001D58"/>
                </a:solidFill>
                <a:latin typeface="Century Gothic" panose="020B0502020202020204" pitchFamily="34" charset="0"/>
              </a:rPr>
              <a:t>Will remain eligible for Medicaid by putting excess income into a Qualified Income Trust (QIT)</a:t>
            </a:r>
          </a:p>
          <a:p>
            <a:pPr marL="576263" indent="-277813"/>
            <a:r>
              <a:rPr lang="en-US">
                <a:solidFill>
                  <a:srgbClr val="001D58"/>
                </a:solidFill>
                <a:latin typeface="Century Gothic" panose="020B0502020202020204" pitchFamily="34" charset="0"/>
              </a:rPr>
              <a:t>Will have a state vendor available to provide hands-on assistance for individuals setting up trusts </a:t>
            </a:r>
          </a:p>
          <a:p>
            <a:pPr marL="0" lvl="1" indent="0">
              <a:buNone/>
            </a:pPr>
            <a:endParaRPr lang="en-US" sz="2600">
              <a:solidFill>
                <a:srgbClr val="001D58"/>
              </a:solidFill>
              <a:latin typeface="Century Gothic" panose="020B0502020202020204" pitchFamily="34" charset="0"/>
            </a:endParaRPr>
          </a:p>
          <a:p>
            <a:pPr marL="0" lvl="1" indent="0">
              <a:buNone/>
            </a:pPr>
            <a:r>
              <a:rPr lang="en-US" sz="2200">
                <a:solidFill>
                  <a:srgbClr val="001D58"/>
                </a:solidFill>
                <a:latin typeface="Century Gothic" panose="020B0502020202020204" pitchFamily="34" charset="0"/>
              </a:rPr>
              <a:t>*Individuals who need Long Term Care Services reside in a NF or Intermediate Care Facility for individuals with intellectual disabilities or receive HCBS on waiver programs like PASSPORT, Assisted Living, OHCW or MyCare Ohio. </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41</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461430"/>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481277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Autofit/>
          </a:bodyPr>
          <a:lstStyle/>
          <a:p>
            <a:r>
              <a:rPr lang="en-US" sz="4800" b="1">
                <a:solidFill>
                  <a:srgbClr val="001D58"/>
                </a:solidFill>
                <a:latin typeface="Century Gothic" panose="020B0502020202020204" pitchFamily="34" charset="0"/>
              </a:rPr>
              <a:t>What is a Qualified Income Trust</a:t>
            </a:r>
            <a:br>
              <a:rPr lang="en-US" sz="4800" b="1">
                <a:solidFill>
                  <a:srgbClr val="001D58"/>
                </a:solidFill>
                <a:latin typeface="Century Gothic" panose="020B0502020202020204" pitchFamily="34" charset="0"/>
              </a:rPr>
            </a:br>
            <a:r>
              <a:rPr lang="en-US" sz="4800" b="1">
                <a:solidFill>
                  <a:srgbClr val="001D58"/>
                </a:solidFill>
                <a:latin typeface="Century Gothic" panose="020B0502020202020204" pitchFamily="34" charset="0"/>
              </a:rPr>
              <a:t>(QIT)?</a:t>
            </a:r>
          </a:p>
        </p:txBody>
      </p:sp>
      <p:sp>
        <p:nvSpPr>
          <p:cNvPr id="3" name="Subtitle 2"/>
          <p:cNvSpPr>
            <a:spLocks noGrp="1"/>
          </p:cNvSpPr>
          <p:nvPr>
            <p:ph idx="1"/>
          </p:nvPr>
        </p:nvSpPr>
        <p:spPr>
          <a:xfrm>
            <a:off x="614596" y="1718602"/>
            <a:ext cx="10449644" cy="4476071"/>
          </a:xfrm>
        </p:spPr>
        <p:txBody>
          <a:bodyPr>
            <a:normAutofit/>
          </a:bodyPr>
          <a:lstStyle/>
          <a:p>
            <a:pPr marL="576263" indent="-277813"/>
            <a:r>
              <a:rPr lang="en-US" sz="3200">
                <a:solidFill>
                  <a:srgbClr val="001D58"/>
                </a:solidFill>
                <a:latin typeface="Century Gothic" panose="020B0502020202020204" pitchFamily="34" charset="0"/>
              </a:rPr>
              <a:t>A special legal arrangement to disregard an individual’s income over certain legal thresholds…</a:t>
            </a:r>
          </a:p>
          <a:p>
            <a:pPr marL="576263" indent="-277813"/>
            <a:endParaRPr lang="en-US" sz="3200">
              <a:solidFill>
                <a:srgbClr val="001D58"/>
              </a:solidFill>
              <a:latin typeface="Century Gothic" panose="020B0502020202020204" pitchFamily="34" charset="0"/>
            </a:endParaRPr>
          </a:p>
          <a:p>
            <a:pPr marL="576263" indent="-277813"/>
            <a:r>
              <a:rPr lang="en-US" sz="3200">
                <a:solidFill>
                  <a:srgbClr val="001D58"/>
                </a:solidFill>
                <a:latin typeface="Century Gothic" panose="020B0502020202020204" pitchFamily="34" charset="0"/>
              </a:rPr>
              <a:t>An individual, their legal guardian, or their power of attorney may open a QIT</a:t>
            </a:r>
          </a:p>
          <a:p>
            <a:pPr marL="0" lvl="1" indent="0">
              <a:buNone/>
            </a:pP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640332"/>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476027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37107" cy="1019443"/>
          </a:xfrm>
        </p:spPr>
        <p:txBody>
          <a:bodyPr>
            <a:noAutofit/>
          </a:bodyPr>
          <a:lstStyle/>
          <a:p>
            <a:pPr algn="l"/>
            <a:r>
              <a:rPr lang="en-US" sz="4800" b="1">
                <a:solidFill>
                  <a:srgbClr val="001D58"/>
                </a:solidFill>
                <a:latin typeface="Century Gothic" panose="020B0502020202020204" pitchFamily="34" charset="0"/>
              </a:rPr>
              <a:t>Characteristics of a QIT</a:t>
            </a:r>
          </a:p>
        </p:txBody>
      </p:sp>
      <p:sp>
        <p:nvSpPr>
          <p:cNvPr id="3" name="Subtitle 2"/>
          <p:cNvSpPr>
            <a:spLocks noGrp="1"/>
          </p:cNvSpPr>
          <p:nvPr>
            <p:ph idx="1"/>
          </p:nvPr>
        </p:nvSpPr>
        <p:spPr>
          <a:xfrm>
            <a:off x="614596" y="1368101"/>
            <a:ext cx="10083883" cy="4866330"/>
          </a:xfrm>
        </p:spPr>
        <p:txBody>
          <a:bodyPr>
            <a:normAutofit/>
          </a:bodyPr>
          <a:lstStyle/>
          <a:p>
            <a:pPr marL="465138"/>
            <a:r>
              <a:rPr lang="en-US">
                <a:solidFill>
                  <a:srgbClr val="001D58"/>
                </a:solidFill>
                <a:latin typeface="Century Gothic" panose="020B0502020202020204" pitchFamily="34" charset="0"/>
              </a:rPr>
              <a:t>Must be used for income only and cannot shield other assets</a:t>
            </a:r>
          </a:p>
          <a:p>
            <a:pPr marL="465138"/>
            <a:r>
              <a:rPr lang="en-US">
                <a:solidFill>
                  <a:srgbClr val="001D58"/>
                </a:solidFill>
                <a:latin typeface="Century Gothic" panose="020B0502020202020204" pitchFamily="34" charset="0"/>
              </a:rPr>
              <a:t>Can contain only the individual’s income</a:t>
            </a:r>
          </a:p>
          <a:p>
            <a:pPr marL="465138"/>
            <a:r>
              <a:rPr lang="en-US">
                <a:solidFill>
                  <a:srgbClr val="001D58"/>
                </a:solidFill>
                <a:latin typeface="Century Gothic" panose="020B0502020202020204" pitchFamily="34" charset="0"/>
              </a:rPr>
              <a:t>Cannot contain spousal or family resources</a:t>
            </a:r>
          </a:p>
          <a:p>
            <a:pPr marL="465138"/>
            <a:r>
              <a:rPr lang="en-US">
                <a:solidFill>
                  <a:srgbClr val="001D58"/>
                </a:solidFill>
                <a:latin typeface="Century Gothic" panose="020B0502020202020204" pitchFamily="34" charset="0"/>
              </a:rPr>
              <a:t>IS irrevocable</a:t>
            </a:r>
          </a:p>
          <a:p>
            <a:pPr marL="465138"/>
            <a:r>
              <a:rPr lang="en-US">
                <a:solidFill>
                  <a:srgbClr val="001D58"/>
                </a:solidFill>
                <a:latin typeface="Century Gothic" panose="020B0502020202020204" pitchFamily="34" charset="0"/>
              </a:rPr>
              <a:t>Must be properly executed and name the state as a beneficiary</a:t>
            </a:r>
          </a:p>
          <a:p>
            <a:pPr marL="465138"/>
            <a:r>
              <a:rPr lang="en-US">
                <a:solidFill>
                  <a:srgbClr val="001D58"/>
                </a:solidFill>
                <a:latin typeface="Century Gothic" panose="020B0502020202020204" pitchFamily="34" charset="0"/>
              </a:rPr>
              <a:t>Allow for resources to be recovered by the state</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687712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37107" cy="1019443"/>
          </a:xfrm>
        </p:spPr>
        <p:txBody>
          <a:bodyPr>
            <a:noAutofit/>
          </a:bodyPr>
          <a:lstStyle/>
          <a:p>
            <a:pPr algn="l"/>
            <a:r>
              <a:rPr lang="en-US" sz="4800" b="1">
                <a:solidFill>
                  <a:srgbClr val="001D58"/>
                </a:solidFill>
                <a:latin typeface="Century Gothic" panose="020B0502020202020204" pitchFamily="34" charset="0"/>
              </a:rPr>
              <a:t>What can QIT money be used for?</a:t>
            </a:r>
          </a:p>
        </p:txBody>
      </p:sp>
      <p:sp>
        <p:nvSpPr>
          <p:cNvPr id="3" name="Subtitle 2"/>
          <p:cNvSpPr>
            <a:spLocks noGrp="1"/>
          </p:cNvSpPr>
          <p:nvPr>
            <p:ph idx="1"/>
          </p:nvPr>
        </p:nvSpPr>
        <p:spPr>
          <a:xfrm>
            <a:off x="614596" y="1368101"/>
            <a:ext cx="10083883" cy="4866330"/>
          </a:xfrm>
        </p:spPr>
        <p:txBody>
          <a:bodyPr>
            <a:normAutofit/>
          </a:bodyPr>
          <a:lstStyle/>
          <a:p>
            <a:pPr marL="465138"/>
            <a:r>
              <a:rPr lang="en-US">
                <a:solidFill>
                  <a:srgbClr val="001D58"/>
                </a:solidFill>
                <a:latin typeface="Century Gothic" panose="020B0502020202020204" pitchFamily="34" charset="0"/>
              </a:rPr>
              <a:t>Incurred medical expenses of the primary beneficiary</a:t>
            </a:r>
          </a:p>
          <a:p>
            <a:pPr marL="465138"/>
            <a:r>
              <a:rPr lang="en-US">
                <a:solidFill>
                  <a:srgbClr val="001D58"/>
                </a:solidFill>
                <a:latin typeface="Century Gothic" panose="020B0502020202020204" pitchFamily="34" charset="0"/>
              </a:rPr>
              <a:t>The cost of medical assistance provided to the primary beneficiary, including patient liability (co-pay for waiver services which is figured as the difference between the consumer’s income and the amount of income Medicaid allows) to long term care provider</a:t>
            </a:r>
          </a:p>
          <a:p>
            <a:pPr marL="465138"/>
            <a:r>
              <a:rPr lang="en-US">
                <a:solidFill>
                  <a:srgbClr val="001D58"/>
                </a:solidFill>
                <a:latin typeface="Century Gothic" panose="020B0502020202020204" pitchFamily="34" charset="0"/>
              </a:rPr>
              <a:t>A monthly personal or maintenance needs allowance for the primary beneficiary</a:t>
            </a:r>
          </a:p>
          <a:p>
            <a:pPr marL="465138"/>
            <a:r>
              <a:rPr lang="en-US">
                <a:solidFill>
                  <a:srgbClr val="001D58"/>
                </a:solidFill>
                <a:latin typeface="Century Gothic" panose="020B0502020202020204" pitchFamily="34" charset="0"/>
              </a:rPr>
              <a:t>Maintenance allowance for the individual’s spouse or family dependents</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44</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9116288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Ohio Estate Recovery</a:t>
            </a:r>
          </a:p>
        </p:txBody>
      </p:sp>
      <p:sp>
        <p:nvSpPr>
          <p:cNvPr id="3" name="Subtitle 2"/>
          <p:cNvSpPr>
            <a:spLocks noGrp="1"/>
          </p:cNvSpPr>
          <p:nvPr>
            <p:ph idx="1"/>
          </p:nvPr>
        </p:nvSpPr>
        <p:spPr>
          <a:xfrm>
            <a:off x="614596" y="1368101"/>
            <a:ext cx="10083883" cy="4866330"/>
          </a:xfrm>
        </p:spPr>
        <p:txBody>
          <a:bodyPr>
            <a:normAutofit fontScale="92500" lnSpcReduction="20000"/>
          </a:bodyPr>
          <a:lstStyle/>
          <a:p>
            <a:pPr>
              <a:lnSpc>
                <a:spcPct val="120000"/>
              </a:lnSpc>
            </a:pPr>
            <a:r>
              <a:rPr lang="en-US" sz="3100" b="0" i="0" dirty="0">
                <a:solidFill>
                  <a:srgbClr val="031C38"/>
                </a:solidFill>
                <a:effectLst/>
                <a:latin typeface="Century Gothic" panose="020B0502020202020204" pitchFamily="34" charset="0"/>
              </a:rPr>
              <a:t>The Medicaid estate recovery program </a:t>
            </a:r>
            <a:r>
              <a:rPr lang="en-US" sz="3100" i="0" dirty="0">
                <a:solidFill>
                  <a:srgbClr val="031C38"/>
                </a:solidFill>
                <a:effectLst/>
                <a:latin typeface="Century Gothic" panose="020B0502020202020204" pitchFamily="34" charset="0"/>
              </a:rPr>
              <a:t>allows the state to obtain repayment for the cost of Medicaid benefits once a Medicaid-eligible person dies. Recovery happens after the death of a Medicaid recipient who was either permanently </a:t>
            </a:r>
            <a:r>
              <a:rPr lang="en-US" sz="3100" b="0" i="0" dirty="0">
                <a:solidFill>
                  <a:srgbClr val="031C38"/>
                </a:solidFill>
                <a:effectLst/>
                <a:latin typeface="Century Gothic" panose="020B0502020202020204" pitchFamily="34" charset="0"/>
              </a:rPr>
              <a:t>institutionalized or 55 or older and not in an institution.</a:t>
            </a:r>
          </a:p>
          <a:p>
            <a:pPr>
              <a:lnSpc>
                <a:spcPct val="120000"/>
              </a:lnSpc>
            </a:pPr>
            <a:r>
              <a:rPr lang="en-US" b="1" dirty="0">
                <a:solidFill>
                  <a:srgbClr val="001D58"/>
                </a:solidFill>
                <a:latin typeface="Century Gothic" panose="020B0502020202020204" pitchFamily="34" charset="0"/>
              </a:rPr>
              <a:t>What: </a:t>
            </a:r>
            <a:r>
              <a:rPr lang="en-US" dirty="0">
                <a:solidFill>
                  <a:srgbClr val="001D58"/>
                </a:solidFill>
                <a:latin typeface="Century Gothic" panose="020B0502020202020204" pitchFamily="34" charset="0"/>
              </a:rPr>
              <a:t>Ohio H. B. #66 Recovery of Correctly paid M/A benefits</a:t>
            </a:r>
          </a:p>
          <a:p>
            <a:pPr>
              <a:lnSpc>
                <a:spcPct val="120000"/>
              </a:lnSpc>
            </a:pPr>
            <a:r>
              <a:rPr lang="en-US" b="1" dirty="0">
                <a:solidFill>
                  <a:srgbClr val="001D58"/>
                </a:solidFill>
                <a:latin typeface="Century Gothic" panose="020B0502020202020204" pitchFamily="34" charset="0"/>
              </a:rPr>
              <a:t>Collection Agents:  </a:t>
            </a:r>
            <a:r>
              <a:rPr lang="en-US" dirty="0">
                <a:solidFill>
                  <a:srgbClr val="001D58"/>
                </a:solidFill>
                <a:latin typeface="Century Gothic" panose="020B0502020202020204" pitchFamily="34" charset="0"/>
              </a:rPr>
              <a:t>Ohio Dept. of Human Services, Ohio Attorney General &amp; paid private collection agents</a:t>
            </a:r>
            <a:endParaRPr lang="en-US" sz="3200" dirty="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45</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3661837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Ohio Estate Recovery cont.</a:t>
            </a:r>
          </a:p>
        </p:txBody>
      </p:sp>
      <p:sp>
        <p:nvSpPr>
          <p:cNvPr id="3" name="Subtitle 2"/>
          <p:cNvSpPr>
            <a:spLocks noGrp="1"/>
          </p:cNvSpPr>
          <p:nvPr>
            <p:ph idx="1"/>
          </p:nvPr>
        </p:nvSpPr>
        <p:spPr>
          <a:xfrm>
            <a:off x="614596" y="1368101"/>
            <a:ext cx="10083883" cy="4866330"/>
          </a:xfrm>
        </p:spPr>
        <p:txBody>
          <a:bodyPr>
            <a:normAutofit fontScale="32500" lnSpcReduction="20000"/>
          </a:bodyPr>
          <a:lstStyle/>
          <a:p>
            <a:pPr>
              <a:lnSpc>
                <a:spcPct val="120000"/>
              </a:lnSpc>
            </a:pPr>
            <a:endParaRPr lang="en-US" sz="3200">
              <a:solidFill>
                <a:srgbClr val="001D58"/>
              </a:solidFill>
              <a:latin typeface="Century Gothic" panose="020B0502020202020204" pitchFamily="34" charset="0"/>
            </a:endParaRPr>
          </a:p>
          <a:p>
            <a:pPr>
              <a:lnSpc>
                <a:spcPct val="120000"/>
              </a:lnSpc>
            </a:pPr>
            <a:r>
              <a:rPr lang="en-US" sz="8000" b="1">
                <a:solidFill>
                  <a:srgbClr val="001D58"/>
                </a:solidFill>
                <a:latin typeface="Century Gothic" panose="020B0502020202020204" pitchFamily="34" charset="0"/>
              </a:rPr>
              <a:t>Who is subject to recovery:  </a:t>
            </a:r>
            <a:r>
              <a:rPr lang="en-US" sz="8000">
                <a:solidFill>
                  <a:srgbClr val="001D58"/>
                </a:solidFill>
                <a:latin typeface="Century Gothic" panose="020B0502020202020204" pitchFamily="34" charset="0"/>
              </a:rPr>
              <a:t>A Medicaid recipient of any age who owned real or personal property immediately before death who:  </a:t>
            </a:r>
          </a:p>
          <a:p>
            <a:pPr>
              <a:lnSpc>
                <a:spcPct val="120000"/>
              </a:lnSpc>
            </a:pPr>
            <a:r>
              <a:rPr lang="en-US" sz="8000">
                <a:solidFill>
                  <a:srgbClr val="001D58"/>
                </a:solidFill>
                <a:latin typeface="Century Gothic" panose="020B0502020202020204" pitchFamily="34" charset="0"/>
              </a:rPr>
              <a:t>Was permanently institutionalized and residing in a nursing home, Immediate Care Facility/IID, or a medical institution; or  </a:t>
            </a:r>
          </a:p>
          <a:p>
            <a:pPr marL="0" indent="0">
              <a:lnSpc>
                <a:spcPct val="120000"/>
              </a:lnSpc>
              <a:buNone/>
            </a:pPr>
            <a:r>
              <a:rPr lang="en-US" sz="8000">
                <a:solidFill>
                  <a:srgbClr val="001D58"/>
                </a:solidFill>
                <a:latin typeface="Century Gothic" panose="020B0502020202020204" pitchFamily="34" charset="0"/>
              </a:rPr>
              <a:t>• Age 55 or older who was NOT permanently institutionalized and includes those who received services through home and community-based Medicaid waiver services such as PASSPORT or Assisted Living Waivers. </a:t>
            </a:r>
          </a:p>
          <a:p>
            <a:pPr>
              <a:lnSpc>
                <a:spcPct val="120000"/>
              </a:lnSpc>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46</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8094240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Ohio Estate Recovery cont.</a:t>
            </a:r>
          </a:p>
        </p:txBody>
      </p:sp>
      <p:sp>
        <p:nvSpPr>
          <p:cNvPr id="3" name="Subtitle 2"/>
          <p:cNvSpPr>
            <a:spLocks noGrp="1"/>
          </p:cNvSpPr>
          <p:nvPr>
            <p:ph idx="1"/>
          </p:nvPr>
        </p:nvSpPr>
        <p:spPr>
          <a:xfrm>
            <a:off x="614596" y="1368100"/>
            <a:ext cx="10083883" cy="4988249"/>
          </a:xfrm>
        </p:spPr>
        <p:txBody>
          <a:bodyPr>
            <a:normAutofit lnSpcReduction="10000"/>
          </a:bodyPr>
          <a:lstStyle/>
          <a:p>
            <a:pPr marL="465138"/>
            <a:r>
              <a:rPr lang="en-US" sz="2600" b="1">
                <a:solidFill>
                  <a:srgbClr val="001D58"/>
                </a:solidFill>
                <a:latin typeface="Century Gothic" panose="020B0502020202020204" pitchFamily="34" charset="0"/>
              </a:rPr>
              <a:t>When does the recovery happen?</a:t>
            </a:r>
          </a:p>
          <a:p>
            <a:pPr marL="1150938" lvl="1" indent="-457200">
              <a:buFont typeface="Century Gothic" panose="020B0502020202020204" pitchFamily="34" charset="0"/>
              <a:buChar char="−"/>
            </a:pPr>
            <a:r>
              <a:rPr lang="en-US" sz="2600">
                <a:solidFill>
                  <a:srgbClr val="001D58"/>
                </a:solidFill>
                <a:latin typeface="Century Gothic" panose="020B0502020202020204" pitchFamily="34" charset="0"/>
              </a:rPr>
              <a:t>After death of individual</a:t>
            </a:r>
          </a:p>
          <a:p>
            <a:pPr marL="1150938" lvl="1" indent="-457200">
              <a:buFont typeface="Century Gothic" panose="020B0502020202020204" pitchFamily="34" charset="0"/>
              <a:buChar char="−"/>
            </a:pPr>
            <a:r>
              <a:rPr lang="en-US" sz="2600">
                <a:solidFill>
                  <a:srgbClr val="001D58"/>
                </a:solidFill>
                <a:latin typeface="Century Gothic" panose="020B0502020202020204" pitchFamily="34" charset="0"/>
              </a:rPr>
              <a:t>After death of surviving spouse</a:t>
            </a:r>
          </a:p>
          <a:p>
            <a:pPr marL="1150938" lvl="1" indent="-457200">
              <a:buFont typeface="Century Gothic" panose="020B0502020202020204" pitchFamily="34" charset="0"/>
              <a:buChar char="−"/>
            </a:pPr>
            <a:r>
              <a:rPr lang="en-US" sz="2600">
                <a:solidFill>
                  <a:srgbClr val="001D58"/>
                </a:solidFill>
                <a:latin typeface="Century Gothic" panose="020B0502020202020204" pitchFamily="34" charset="0"/>
              </a:rPr>
              <a:t>No surviving child under 21</a:t>
            </a:r>
          </a:p>
          <a:p>
            <a:pPr marL="1150938" lvl="1" indent="-457200">
              <a:buFont typeface="Century Gothic" panose="020B0502020202020204" pitchFamily="34" charset="0"/>
              <a:buChar char="−"/>
            </a:pPr>
            <a:r>
              <a:rPr lang="en-US" sz="2600">
                <a:solidFill>
                  <a:srgbClr val="001D58"/>
                </a:solidFill>
                <a:latin typeface="Century Gothic" panose="020B0502020202020204" pitchFamily="34" charset="0"/>
              </a:rPr>
              <a:t>No blind or disabled surviving child</a:t>
            </a:r>
          </a:p>
          <a:p>
            <a:pPr marL="1150938" lvl="1" indent="-457200">
              <a:buFont typeface="Century Gothic" panose="020B0502020202020204" pitchFamily="34" charset="0"/>
              <a:buChar char="−"/>
            </a:pPr>
            <a:r>
              <a:rPr lang="en-US" sz="2600">
                <a:solidFill>
                  <a:srgbClr val="001D58"/>
                </a:solidFill>
                <a:latin typeface="Century Gothic" panose="020B0502020202020204" pitchFamily="34" charset="0"/>
              </a:rPr>
              <a:t>Unlimited time after death to collect</a:t>
            </a:r>
          </a:p>
          <a:p>
            <a:pPr marL="465138"/>
            <a:r>
              <a:rPr lang="en-US" sz="2600" b="1">
                <a:solidFill>
                  <a:srgbClr val="001D58"/>
                </a:solidFill>
                <a:latin typeface="Century Gothic" panose="020B0502020202020204" pitchFamily="34" charset="0"/>
              </a:rPr>
              <a:t>What</a:t>
            </a:r>
            <a:r>
              <a:rPr lang="en-US" sz="2600">
                <a:solidFill>
                  <a:srgbClr val="001D58"/>
                </a:solidFill>
                <a:latin typeface="Century Gothic" panose="020B0502020202020204" pitchFamily="34" charset="0"/>
              </a:rPr>
              <a:t>: Expanded to include all real and personal property and other assets in which individual has any legal title or interest at the time of death, including assets conveyed to a survivor, heir, or assign through joint tenancy, tenants in common, survivorship, life estate, living trust or other arrangements</a:t>
            </a:r>
          </a:p>
          <a:p>
            <a:pPr marL="465138"/>
            <a:r>
              <a:rPr lang="en-US" sz="2600" b="1">
                <a:solidFill>
                  <a:srgbClr val="001D58"/>
                </a:solidFill>
                <a:latin typeface="Century Gothic" panose="020B0502020202020204" pitchFamily="34" charset="0"/>
              </a:rPr>
              <a:t>Amount: </a:t>
            </a:r>
            <a:r>
              <a:rPr lang="en-US" sz="2600">
                <a:solidFill>
                  <a:srgbClr val="001D58"/>
                </a:solidFill>
                <a:latin typeface="Century Gothic" panose="020B0502020202020204" pitchFamily="34" charset="0"/>
              </a:rPr>
              <a:t>Equal to total M/A payments</a:t>
            </a:r>
          </a:p>
          <a:p>
            <a:pPr marL="236538" indent="0">
              <a:buNone/>
            </a:pPr>
            <a:endParaRPr lang="en-US" sz="32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47</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7502713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dirty="0">
                <a:solidFill>
                  <a:srgbClr val="001D58"/>
                </a:solidFill>
                <a:latin typeface="Century Gothic" panose="020B0502020202020204" pitchFamily="34" charset="0"/>
              </a:rPr>
              <a:t>The </a:t>
            </a:r>
            <a:r>
              <a:rPr lang="en-US" sz="4600" b="1" dirty="0" err="1">
                <a:solidFill>
                  <a:srgbClr val="001D58"/>
                </a:solidFill>
                <a:latin typeface="Century Gothic" panose="020B0502020202020204" pitchFamily="34" charset="0"/>
              </a:rPr>
              <a:t>Homested</a:t>
            </a:r>
            <a:r>
              <a:rPr lang="en-US" sz="4600" b="1" dirty="0">
                <a:solidFill>
                  <a:srgbClr val="001D58"/>
                </a:solidFill>
                <a:latin typeface="Century Gothic" panose="020B0502020202020204" pitchFamily="34" charset="0"/>
              </a:rPr>
              <a:t> Exemption</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a:solidFill>
                  <a:srgbClr val="001D58"/>
                </a:solidFill>
                <a:latin typeface="Century Gothic" panose="020B0502020202020204" pitchFamily="34" charset="0"/>
              </a:rPr>
              <a:t># EXEMPT ASSET:</a:t>
            </a:r>
          </a:p>
          <a:p>
            <a:pPr marL="750888" indent="-354013"/>
            <a:r>
              <a:rPr lang="en-US" sz="2600">
                <a:solidFill>
                  <a:srgbClr val="001D58"/>
                </a:solidFill>
                <a:latin typeface="Century Gothic" panose="020B0502020202020204" pitchFamily="34" charset="0"/>
              </a:rPr>
              <a:t>Fair Market Value (FMV) below $713,000</a:t>
            </a:r>
          </a:p>
          <a:p>
            <a:pPr marL="750888" indent="-354013"/>
            <a:r>
              <a:rPr lang="en-US" sz="2600">
                <a:solidFill>
                  <a:srgbClr val="001D58"/>
                </a:solidFill>
                <a:latin typeface="Century Gothic" panose="020B0502020202020204" pitchFamily="34" charset="0"/>
              </a:rPr>
              <a:t>Residence of the community spouse of unlimited value</a:t>
            </a:r>
          </a:p>
          <a:p>
            <a:pPr marL="750888" indent="-354013"/>
            <a:r>
              <a:rPr lang="en-US" sz="2600">
                <a:solidFill>
                  <a:srgbClr val="001D58"/>
                </a:solidFill>
                <a:latin typeface="Century Gothic" panose="020B0502020202020204" pitchFamily="34" charset="0"/>
              </a:rPr>
              <a:t>Child under 21</a:t>
            </a:r>
          </a:p>
          <a:p>
            <a:pPr marL="750888" indent="-354013"/>
            <a:r>
              <a:rPr lang="en-US" sz="2600">
                <a:solidFill>
                  <a:srgbClr val="001D58"/>
                </a:solidFill>
                <a:latin typeface="Century Gothic" panose="020B0502020202020204" pitchFamily="34" charset="0"/>
              </a:rPr>
              <a:t>Disabled or blind child over 21</a:t>
            </a:r>
          </a:p>
          <a:p>
            <a:pPr marL="750888" indent="-354013"/>
            <a:r>
              <a:rPr lang="en-US" sz="2600">
                <a:solidFill>
                  <a:srgbClr val="001D58"/>
                </a:solidFill>
                <a:latin typeface="Century Gothic" panose="020B0502020202020204" pitchFamily="34" charset="0"/>
              </a:rPr>
              <a:t>Sibling of institutionalized person who has resided with IP for one year</a:t>
            </a:r>
          </a:p>
          <a:p>
            <a:pPr marL="750888" indent="-354013"/>
            <a:r>
              <a:rPr lang="en-US" sz="2600">
                <a:solidFill>
                  <a:srgbClr val="001D58"/>
                </a:solidFill>
                <a:latin typeface="Century Gothic" panose="020B0502020202020204" pitchFamily="34" charset="0"/>
              </a:rPr>
              <a:t>Child of IP who has resided with and cared for the person for 2 years or more</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48</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5544454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49</a:t>
            </a:fld>
            <a:endParaRPr lang="en-US">
              <a:solidFill>
                <a:srgbClr val="031C38"/>
              </a:solidFill>
              <a:latin typeface="Century Gothic" panose="020B0502020202020204" pitchFamily="34" charset="0"/>
            </a:endParaRPr>
          </a:p>
        </p:txBody>
      </p: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11" name="Title 1"/>
          <p:cNvSpPr>
            <a:spLocks noGrp="1"/>
          </p:cNvSpPr>
          <p:nvPr>
            <p:ph type="title"/>
          </p:nvPr>
        </p:nvSpPr>
        <p:spPr>
          <a:xfrm>
            <a:off x="794543" y="1485669"/>
            <a:ext cx="10627895" cy="2625295"/>
          </a:xfrm>
        </p:spPr>
        <p:txBody>
          <a:bodyPr>
            <a:noAutofit/>
          </a:bodyPr>
          <a:lstStyle/>
          <a:p>
            <a:pPr algn="ctr"/>
            <a:r>
              <a:rPr lang="en-US" sz="5400" b="1">
                <a:solidFill>
                  <a:srgbClr val="002060"/>
                </a:solidFill>
                <a:latin typeface="Century Gothic" panose="020B0502020202020204" pitchFamily="34" charset="0"/>
              </a:rPr>
              <a:t>Specialized Recovery Services (SRS) Program</a:t>
            </a:r>
          </a:p>
        </p:txBody>
      </p:sp>
    </p:spTree>
    <p:extLst>
      <p:ext uri="{BB962C8B-B14F-4D97-AF65-F5344CB8AC3E}">
        <p14:creationId xmlns:p14="http://schemas.microsoft.com/office/powerpoint/2010/main" val="1869728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1577403" cy="1019443"/>
          </a:xfrm>
        </p:spPr>
        <p:txBody>
          <a:bodyPr>
            <a:noAutofit/>
          </a:bodyPr>
          <a:lstStyle/>
          <a:p>
            <a:pPr algn="l"/>
            <a:r>
              <a:rPr lang="en-US" b="1">
                <a:solidFill>
                  <a:srgbClr val="001D58"/>
                </a:solidFill>
                <a:latin typeface="Century Gothic" panose="020B0502020202020204" pitchFamily="34" charset="0"/>
              </a:rPr>
              <a:t>Specialized Recovery Services Program</a:t>
            </a:r>
          </a:p>
        </p:txBody>
      </p:sp>
      <p:sp>
        <p:nvSpPr>
          <p:cNvPr id="3" name="Subtitle 2"/>
          <p:cNvSpPr>
            <a:spLocks noGrp="1"/>
          </p:cNvSpPr>
          <p:nvPr>
            <p:ph idx="1"/>
          </p:nvPr>
        </p:nvSpPr>
        <p:spPr>
          <a:xfrm>
            <a:off x="614596" y="1368100"/>
            <a:ext cx="10083883" cy="4988249"/>
          </a:xfrm>
        </p:spPr>
        <p:txBody>
          <a:bodyPr>
            <a:normAutofit fontScale="92500" lnSpcReduction="10000"/>
          </a:bodyPr>
          <a:lstStyle/>
          <a:p>
            <a:pPr marL="0" indent="0">
              <a:buNone/>
            </a:pPr>
            <a:r>
              <a:rPr lang="en-US" b="1">
                <a:solidFill>
                  <a:srgbClr val="001D58"/>
                </a:solidFill>
                <a:latin typeface="Century Gothic" panose="020B0502020202020204" pitchFamily="34" charset="0"/>
              </a:rPr>
              <a:t>To be eligible for enrollment an individual must:</a:t>
            </a:r>
          </a:p>
          <a:p>
            <a:r>
              <a:rPr lang="en-US" sz="2400"/>
              <a:t>You have income below $2,829 per month ($33,948 per year);</a:t>
            </a:r>
          </a:p>
          <a:p>
            <a:r>
              <a:rPr lang="en-US" sz="2400"/>
              <a:t>You are 21 years of age or older;</a:t>
            </a:r>
          </a:p>
          <a:p>
            <a:r>
              <a:rPr lang="en-US" sz="2400"/>
              <a:t>You have been diagnosed with a severe and persistent mental illness, are actively on the solid or soft transplant waiting list or have a diagnosed chronic condition, which includes certain malignancies, HIV/AIDS or immune deficiencies, end stage renal disease (ESRD), sickle cell anemia, cystic fibrosis, hemophilia or if you have had a previous organ transplant;</a:t>
            </a:r>
          </a:p>
          <a:p>
            <a:r>
              <a:rPr lang="en-US" sz="2400"/>
              <a:t>You need help with medical appointments and/or activities of daily living;</a:t>
            </a:r>
          </a:p>
          <a:p>
            <a:r>
              <a:rPr lang="en-US" sz="2400"/>
              <a:t>You have been determined to meet the definition of disability used by the Social Security Administration for purposes of SSI or SSDI (this does not apply if you are under 65 with ESRD, or over 65 with certain diagnosed chronic conditions or actively on the solid or soft transplant waiting list); and</a:t>
            </a:r>
          </a:p>
          <a:p>
            <a:r>
              <a:rPr lang="en-US" sz="2400"/>
              <a:t>You do not live in a nursing facility, hospital or similar setting.</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50</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3873157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1577403" cy="1019443"/>
          </a:xfrm>
        </p:spPr>
        <p:txBody>
          <a:bodyPr>
            <a:noAutofit/>
          </a:bodyPr>
          <a:lstStyle/>
          <a:p>
            <a:pPr algn="l"/>
            <a:r>
              <a:rPr lang="en-US" b="1">
                <a:solidFill>
                  <a:srgbClr val="001D58"/>
                </a:solidFill>
                <a:latin typeface="Century Gothic" panose="020B0502020202020204" pitchFamily="34" charset="0"/>
              </a:rPr>
              <a:t>Specialized Recovery Services Program</a:t>
            </a:r>
          </a:p>
        </p:txBody>
      </p:sp>
      <p:sp>
        <p:nvSpPr>
          <p:cNvPr id="3" name="Subtitle 2"/>
          <p:cNvSpPr>
            <a:spLocks noGrp="1"/>
          </p:cNvSpPr>
          <p:nvPr>
            <p:ph idx="1"/>
          </p:nvPr>
        </p:nvSpPr>
        <p:spPr>
          <a:xfrm>
            <a:off x="614596" y="1368100"/>
            <a:ext cx="10083883" cy="4988249"/>
          </a:xfrm>
        </p:spPr>
        <p:txBody>
          <a:bodyPr>
            <a:normAutofit/>
          </a:bodyPr>
          <a:lstStyle/>
          <a:p>
            <a:pPr marL="0" indent="0">
              <a:buNone/>
            </a:pPr>
            <a:r>
              <a:rPr lang="en-US" b="1">
                <a:solidFill>
                  <a:srgbClr val="001D58"/>
                </a:solidFill>
                <a:latin typeface="Century Gothic" panose="020B0502020202020204" pitchFamily="34" charset="0"/>
              </a:rPr>
              <a:t>Benefits to SRS: </a:t>
            </a:r>
          </a:p>
          <a:p>
            <a:pPr marL="0" indent="0">
              <a:buNone/>
            </a:pPr>
            <a:endParaRPr lang="en-US" b="1">
              <a:solidFill>
                <a:srgbClr val="001D58"/>
              </a:solidFill>
              <a:latin typeface="Century Gothic" panose="020B0502020202020204" pitchFamily="34" charset="0"/>
            </a:endParaRPr>
          </a:p>
          <a:p>
            <a:r>
              <a:rPr lang="en-US"/>
              <a:t>Recovery Management - Assistance developing a plan of care specific to your needs</a:t>
            </a:r>
          </a:p>
          <a:p>
            <a:r>
              <a:rPr lang="en-US"/>
              <a:t>Individual Placement and Support (IPS) - Supported Employment - Help finding and keeping a job</a:t>
            </a:r>
          </a:p>
          <a:p>
            <a:r>
              <a:rPr lang="en-US"/>
              <a:t>Peer Support - Support from others with similar life experiences</a:t>
            </a:r>
          </a:p>
          <a:p>
            <a:r>
              <a:rPr lang="en-US"/>
              <a:t>Medicaid eligibility does not look at resources; no resource limit. </a:t>
            </a:r>
          </a:p>
          <a:p>
            <a:pPr marL="0" indent="0">
              <a:buNone/>
            </a:pPr>
            <a:endParaRPr lang="en-US" b="1">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51</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8095977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596742" cy="1019443"/>
          </a:xfrm>
        </p:spPr>
        <p:txBody>
          <a:bodyPr>
            <a:normAutofit/>
          </a:bodyPr>
          <a:lstStyle/>
          <a:p>
            <a:pPr algn="l"/>
            <a:r>
              <a:rPr lang="en-US" sz="4600" b="1">
                <a:solidFill>
                  <a:srgbClr val="001D58"/>
                </a:solidFill>
                <a:latin typeface="Century Gothic" panose="020B0502020202020204" pitchFamily="34" charset="0"/>
              </a:rPr>
              <a:t>Supporting Individuals to Enroll</a:t>
            </a:r>
          </a:p>
        </p:txBody>
      </p:sp>
      <p:sp>
        <p:nvSpPr>
          <p:cNvPr id="3" name="Subtitle 2"/>
          <p:cNvSpPr>
            <a:spLocks noGrp="1"/>
          </p:cNvSpPr>
          <p:nvPr>
            <p:ph idx="1"/>
          </p:nvPr>
        </p:nvSpPr>
        <p:spPr>
          <a:xfrm>
            <a:off x="614596" y="1368101"/>
            <a:ext cx="10083883" cy="4866330"/>
          </a:xfrm>
        </p:spPr>
        <p:txBody>
          <a:bodyPr>
            <a:normAutofit/>
          </a:bodyPr>
          <a:lstStyle/>
          <a:p>
            <a:pPr marL="0" indent="0">
              <a:buNone/>
            </a:pPr>
            <a:r>
              <a:rPr lang="en-US" sz="2000">
                <a:solidFill>
                  <a:srgbClr val="001D58"/>
                </a:solidFill>
                <a:latin typeface="Century Gothic" panose="020B0502020202020204" pitchFamily="34" charset="0"/>
              </a:rPr>
              <a:t>During the week of May 9th, the Ohio Department of Medicaid began contacting potentially eligible individuals to provide information on the SRS program and their assigned recovery management agency. </a:t>
            </a:r>
          </a:p>
          <a:p>
            <a:pPr marL="0" indent="0">
              <a:buNone/>
            </a:pPr>
            <a:r>
              <a:rPr lang="en-US" sz="2000" b="1">
                <a:solidFill>
                  <a:srgbClr val="001D58"/>
                </a:solidFill>
                <a:latin typeface="Century Gothic" panose="020B0502020202020204" pitchFamily="34" charset="0"/>
              </a:rPr>
              <a:t>Be prepared to assist with the enrollment process by </a:t>
            </a:r>
            <a:r>
              <a:rPr lang="en-US" sz="2000">
                <a:solidFill>
                  <a:srgbClr val="001D58"/>
                </a:solidFill>
                <a:latin typeface="Century Gothic" panose="020B0502020202020204" pitchFamily="34" charset="0"/>
              </a:rPr>
              <a:t>identifying individuals likely to be eligible for SRS and ensuring that they are connected to a recovery manager. </a:t>
            </a:r>
          </a:p>
          <a:p>
            <a:pPr marL="0" indent="0">
              <a:buNone/>
            </a:pPr>
            <a:r>
              <a:rPr lang="en-US" sz="2000">
                <a:solidFill>
                  <a:srgbClr val="001D58"/>
                </a:solidFill>
                <a:latin typeface="Century Gothic" panose="020B0502020202020204" pitchFamily="34" charset="0"/>
              </a:rPr>
              <a:t>If you believe an individual may be eligible for the SRS program, but that person has not been contacted, contact the Ohio Department of Medicaid via secure email at </a:t>
            </a:r>
            <a:r>
              <a:rPr lang="en-US" sz="2000">
                <a:solidFill>
                  <a:srgbClr val="001D58"/>
                </a:solidFill>
                <a:latin typeface="Century Gothic" panose="020B0502020202020204" pitchFamily="34" charset="0"/>
                <a:hlinkClick r:id="rId3"/>
              </a:rPr>
              <a:t>BHCP@Medicaid.ohio.gov</a:t>
            </a:r>
            <a:r>
              <a:rPr lang="en-US" sz="2000">
                <a:solidFill>
                  <a:srgbClr val="001D58"/>
                </a:solidFill>
                <a:latin typeface="Century Gothic" panose="020B0502020202020204" pitchFamily="34" charset="0"/>
              </a:rPr>
              <a:t>, subject line: </a:t>
            </a:r>
            <a:r>
              <a:rPr lang="en-US" sz="2000" i="1">
                <a:solidFill>
                  <a:srgbClr val="001D58"/>
                </a:solidFill>
                <a:latin typeface="Century Gothic" panose="020B0502020202020204" pitchFamily="34" charset="0"/>
              </a:rPr>
              <a:t>SRS PROGRAM REFERRALS</a:t>
            </a:r>
          </a:p>
          <a:p>
            <a:pPr marL="514350"/>
            <a:r>
              <a:rPr lang="en-US" sz="2000">
                <a:solidFill>
                  <a:srgbClr val="001D58"/>
                </a:solidFill>
                <a:latin typeface="Century Gothic" panose="020B0502020202020204" pitchFamily="34" charset="0"/>
              </a:rPr>
              <a:t>the individual’s Medicaid ID (if on Medicaid)</a:t>
            </a:r>
          </a:p>
          <a:p>
            <a:pPr marL="514350"/>
            <a:r>
              <a:rPr lang="en-US" sz="2000">
                <a:solidFill>
                  <a:srgbClr val="001D58"/>
                </a:solidFill>
                <a:latin typeface="Century Gothic" panose="020B0502020202020204" pitchFamily="34" charset="0"/>
              </a:rPr>
              <a:t>name</a:t>
            </a:r>
          </a:p>
          <a:p>
            <a:pPr marL="514350"/>
            <a:r>
              <a:rPr lang="en-US" sz="2000">
                <a:solidFill>
                  <a:srgbClr val="001D58"/>
                </a:solidFill>
                <a:latin typeface="Century Gothic" panose="020B0502020202020204" pitchFamily="34" charset="0"/>
              </a:rPr>
              <a:t>address</a:t>
            </a:r>
          </a:p>
          <a:p>
            <a:pPr marL="514350"/>
            <a:r>
              <a:rPr lang="en-US" sz="2000">
                <a:solidFill>
                  <a:srgbClr val="001D58"/>
                </a:solidFill>
                <a:latin typeface="Century Gothic" panose="020B0502020202020204" pitchFamily="34" charset="0"/>
              </a:rPr>
              <a:t>telephone number</a:t>
            </a:r>
          </a:p>
          <a:p>
            <a:pPr marL="514350"/>
            <a:r>
              <a:rPr lang="en-US" sz="2000">
                <a:solidFill>
                  <a:srgbClr val="001D58"/>
                </a:solidFill>
                <a:latin typeface="Century Gothic" panose="020B0502020202020204" pitchFamily="34" charset="0"/>
              </a:rPr>
              <a:t>and email address</a:t>
            </a:r>
          </a:p>
          <a:p>
            <a:pPr marL="0" indent="0">
              <a:buNone/>
            </a:pPr>
            <a:endParaRPr lang="en-US" sz="1800" i="1">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52</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240052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0083883" cy="1019443"/>
          </a:xfrm>
        </p:spPr>
        <p:txBody>
          <a:bodyPr>
            <a:normAutofit/>
          </a:bodyPr>
          <a:lstStyle/>
          <a:p>
            <a:pPr algn="l"/>
            <a:r>
              <a:rPr lang="en-US" sz="4600" b="1">
                <a:solidFill>
                  <a:srgbClr val="001D58"/>
                </a:solidFill>
                <a:latin typeface="Century Gothic" panose="020B0502020202020204" pitchFamily="34" charset="0"/>
              </a:rPr>
              <a:t>Medicaid &amp; Medicare</a:t>
            </a:r>
          </a:p>
        </p:txBody>
      </p:sp>
      <p:sp>
        <p:nvSpPr>
          <p:cNvPr id="3" name="Subtitle 2"/>
          <p:cNvSpPr>
            <a:spLocks noGrp="1"/>
          </p:cNvSpPr>
          <p:nvPr>
            <p:ph idx="1"/>
          </p:nvPr>
        </p:nvSpPr>
        <p:spPr>
          <a:xfrm>
            <a:off x="614596" y="1368100"/>
            <a:ext cx="10083883" cy="4988249"/>
          </a:xfrm>
        </p:spPr>
        <p:txBody>
          <a:bodyPr>
            <a:normAutofit lnSpcReduction="10000"/>
          </a:bodyPr>
          <a:lstStyle/>
          <a:p>
            <a:pPr marL="49213" indent="0">
              <a:buNone/>
            </a:pPr>
            <a:r>
              <a:rPr lang="en-US">
                <a:solidFill>
                  <a:srgbClr val="001D58"/>
                </a:solidFill>
                <a:latin typeface="Century Gothic" panose="020B0502020202020204" pitchFamily="34" charset="0"/>
              </a:rPr>
              <a:t>In the past when someone applied for Medicaid and they qualified for Medicare, that individual had to accept Medicare, unless they had to pay the part A premium. </a:t>
            </a:r>
          </a:p>
          <a:p>
            <a:pPr marL="49213" indent="0">
              <a:buNone/>
            </a:pPr>
            <a:endParaRPr lang="en-US">
              <a:solidFill>
                <a:srgbClr val="001D58"/>
              </a:solidFill>
              <a:latin typeface="Century Gothic" panose="020B0502020202020204" pitchFamily="34" charset="0"/>
            </a:endParaRPr>
          </a:p>
          <a:p>
            <a:pPr marL="49213" indent="0">
              <a:buNone/>
            </a:pPr>
            <a:r>
              <a:rPr lang="en-US">
                <a:solidFill>
                  <a:srgbClr val="001D58"/>
                </a:solidFill>
                <a:latin typeface="Century Gothic" panose="020B0502020202020204" pitchFamily="34" charset="0"/>
              </a:rPr>
              <a:t>The new policy states an individual no longer needs to accept Medicare and can just apply for Medicaid regardless if they have to pay the part A premium or not.</a:t>
            </a:r>
          </a:p>
          <a:p>
            <a:pPr marL="49213" indent="0">
              <a:buNone/>
            </a:pPr>
            <a:endParaRPr lang="en-US">
              <a:solidFill>
                <a:srgbClr val="001D58"/>
              </a:solidFill>
              <a:latin typeface="Century Gothic" panose="020B0502020202020204" pitchFamily="34" charset="0"/>
            </a:endParaRPr>
          </a:p>
          <a:p>
            <a:pPr marL="49213" indent="0">
              <a:buNone/>
            </a:pPr>
            <a:r>
              <a:rPr lang="en-US">
                <a:solidFill>
                  <a:srgbClr val="001D58"/>
                </a:solidFill>
                <a:latin typeface="Century Gothic" panose="020B0502020202020204" pitchFamily="34" charset="0"/>
              </a:rPr>
              <a:t>However, if they qualify for Medicare part D, but declined to enroll then Medicaid will NOT pay for that individual’s prescriptions. </a:t>
            </a:r>
            <a:endParaRPr lang="en-US" sz="2600">
              <a:solidFill>
                <a:srgbClr val="001D58"/>
              </a:solidFill>
              <a:latin typeface="Century Gothic" panose="020B0502020202020204" pitchFamily="34" charset="0"/>
            </a:endParaRP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p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pPr/>
              <a:t>53</a:t>
            </a:fld>
            <a:endParaRPr lang="en-US">
              <a:solidFill>
                <a:srgbClr val="031C38"/>
              </a:solidFill>
              <a:latin typeface="Century Gothic" panose="020B0502020202020204" pitchFamily="34" charset="0"/>
            </a:endParaRPr>
          </a:p>
        </p:txBody>
      </p:sp>
      <p:cxnSp>
        <p:nvCxnSpPr>
          <p:cNvPr id="5" name="Straight Connector 4"/>
          <p:cNvCxnSpPr/>
          <p:nvPr/>
        </p:nvCxnSpPr>
        <p:spPr>
          <a:xfrm>
            <a:off x="614597" y="1262648"/>
            <a:ext cx="10083883"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Tree>
    <p:extLst>
      <p:ext uri="{BB962C8B-B14F-4D97-AF65-F5344CB8AC3E}">
        <p14:creationId xmlns:p14="http://schemas.microsoft.com/office/powerpoint/2010/main" val="19133127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597" y="365125"/>
            <a:ext cx="11017770" cy="1019443"/>
          </a:xfrm>
        </p:spPr>
        <p:txBody>
          <a:bodyPr>
            <a:normAutofit/>
          </a:bodyPr>
          <a:lstStyle/>
          <a:p>
            <a:r>
              <a:rPr lang="en-US" sz="4000" b="1">
                <a:solidFill>
                  <a:srgbClr val="001D58"/>
                </a:solidFill>
                <a:latin typeface="Century Gothic" panose="020B0502020202020204" pitchFamily="34" charset="0"/>
              </a:rPr>
              <a:t>Conclusion</a:t>
            </a:r>
          </a:p>
        </p:txBody>
      </p:sp>
      <p:sp>
        <p:nvSpPr>
          <p:cNvPr id="4" name="Date Placeholder 3"/>
          <p:cNvSpPr>
            <a:spLocks noGrp="1"/>
          </p:cNvSpPr>
          <p:nvPr>
            <p:ph type="dt" sz="half" idx="10"/>
          </p:nvPr>
        </p:nvSpPr>
        <p:spPr/>
        <p:txBody>
          <a:bodyPr/>
          <a:lstStyle/>
          <a:p>
            <a:fld id="{DE2D5926-DF37-43CC-8817-FC21CB07D35B}" type="datetime1">
              <a:rPr lang="en-US" smtClean="0">
                <a:solidFill>
                  <a:srgbClr val="031C38"/>
                </a:solidFill>
                <a:latin typeface="Century Gothic" panose="020B0502020202020204" pitchFamily="34" charset="0"/>
              </a:rPr>
              <a:t>12/18/2024</a:t>
            </a:fld>
            <a:endParaRPr lang="en-US">
              <a:solidFill>
                <a:srgbClr val="031C38"/>
              </a:solidFill>
              <a:latin typeface="Century Gothic" panose="020B0502020202020204" pitchFamily="34" charset="0"/>
            </a:endParaRPr>
          </a:p>
        </p:txBody>
      </p:sp>
      <p:sp>
        <p:nvSpPr>
          <p:cNvPr id="7" name="Slide Number Placeholder 6"/>
          <p:cNvSpPr>
            <a:spLocks noGrp="1"/>
          </p:cNvSpPr>
          <p:nvPr>
            <p:ph type="sldNum" sz="quarter" idx="12"/>
          </p:nvPr>
        </p:nvSpPr>
        <p:spPr/>
        <p:txBody>
          <a:bodyPr/>
          <a:lstStyle/>
          <a:p>
            <a:fld id="{A01D6932-AE6E-48BC-A33D-E7A0C5A0D487}" type="slidenum">
              <a:rPr lang="en-US" smtClean="0">
                <a:solidFill>
                  <a:srgbClr val="031C38"/>
                </a:solidFill>
                <a:latin typeface="Century Gothic" panose="020B0502020202020204" pitchFamily="34" charset="0"/>
              </a:rPr>
              <a:t>54</a:t>
            </a:fld>
            <a:endParaRPr lang="en-US">
              <a:solidFill>
                <a:srgbClr val="031C38"/>
              </a:solidFill>
              <a:latin typeface="Century Gothic" panose="020B0502020202020204" pitchFamily="34" charset="0"/>
            </a:endParaRPr>
          </a:p>
        </p:txBody>
      </p:sp>
      <p:sp>
        <p:nvSpPr>
          <p:cNvPr id="14" name="Footer Placeholder 5"/>
          <p:cNvSpPr>
            <a:spLocks noGrp="1"/>
          </p:cNvSpPr>
          <p:nvPr>
            <p:ph type="ftr" sz="quarter" idx="11"/>
          </p:nvPr>
        </p:nvSpPr>
        <p:spPr>
          <a:xfrm>
            <a:off x="3357796" y="6356350"/>
            <a:ext cx="5501391" cy="365125"/>
          </a:xfrm>
        </p:spPr>
        <p:txBody>
          <a:bodyPr/>
          <a:lstStyle/>
          <a:p>
            <a:r>
              <a:rPr lang="en-US" i="1">
                <a:solidFill>
                  <a:srgbClr val="031C38"/>
                </a:solidFill>
                <a:latin typeface="Century Gothic" panose="020B0502020202020204" pitchFamily="34" charset="0"/>
              </a:rPr>
              <a:t>ADVOCACY. ASSISTANCE. ANSWERS ON AGING AND DISABILITI</a:t>
            </a:r>
            <a:r>
              <a:rPr lang="en-US" i="1">
                <a:solidFill>
                  <a:srgbClr val="002060"/>
                </a:solidFill>
                <a:latin typeface="Century Gothic" panose="020B0502020202020204" pitchFamily="34" charset="0"/>
              </a:rPr>
              <a:t>ES.</a:t>
            </a:r>
          </a:p>
        </p:txBody>
      </p:sp>
      <p:sp>
        <p:nvSpPr>
          <p:cNvPr id="10" name="Title 1">
            <a:extLst>
              <a:ext uri="{FF2B5EF4-FFF2-40B4-BE49-F238E27FC236}">
                <a16:creationId xmlns:a16="http://schemas.microsoft.com/office/drawing/2014/main" id="{85872178-06C9-BBC7-AA02-AF79839D32A3}"/>
              </a:ext>
            </a:extLst>
          </p:cNvPr>
          <p:cNvSpPr txBox="1">
            <a:spLocks/>
          </p:cNvSpPr>
          <p:nvPr/>
        </p:nvSpPr>
        <p:spPr>
          <a:xfrm>
            <a:off x="587115" y="3249478"/>
            <a:ext cx="11017770" cy="101944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solidFill>
                  <a:srgbClr val="001D58"/>
                </a:solidFill>
                <a:latin typeface="Century Gothic" panose="020B0502020202020204" pitchFamily="34" charset="0"/>
              </a:rPr>
              <a:t>Questions?</a:t>
            </a:r>
          </a:p>
        </p:txBody>
      </p:sp>
      <p:cxnSp>
        <p:nvCxnSpPr>
          <p:cNvPr id="11" name="Straight Connector 10">
            <a:extLst>
              <a:ext uri="{FF2B5EF4-FFF2-40B4-BE49-F238E27FC236}">
                <a16:creationId xmlns:a16="http://schemas.microsoft.com/office/drawing/2014/main" id="{7D802F11-753A-9314-1E08-30AAC3A0412C}"/>
              </a:ext>
            </a:extLst>
          </p:cNvPr>
          <p:cNvCxnSpPr>
            <a:cxnSpLocks/>
          </p:cNvCxnSpPr>
          <p:nvPr/>
        </p:nvCxnSpPr>
        <p:spPr>
          <a:xfrm>
            <a:off x="614597" y="1288215"/>
            <a:ext cx="10559371" cy="0"/>
          </a:xfrm>
          <a:prstGeom prst="line">
            <a:avLst/>
          </a:prstGeom>
          <a:ln w="19050">
            <a:solidFill>
              <a:srgbClr val="001D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486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500" fill="hold"/>
                                        <p:tgtEl>
                                          <p:spTgt spid="10"/>
                                        </p:tgtEl>
                                        <p:attrNameLst>
                                          <p:attrName>ppt_w</p:attrName>
                                        </p:attrNameLst>
                                      </p:cBhvr>
                                      <p:tavLst>
                                        <p:tav tm="0">
                                          <p:val>
                                            <p:fltVal val="0"/>
                                          </p:val>
                                        </p:tav>
                                        <p:tav tm="100000">
                                          <p:val>
                                            <p:strVal val="#ppt_w"/>
                                          </p:val>
                                        </p:tav>
                                      </p:tavLst>
                                    </p:anim>
                                    <p:anim calcmode="lin" valueType="num">
                                      <p:cBhvr>
                                        <p:cTn id="8" dur="1500" fill="hold"/>
                                        <p:tgtEl>
                                          <p:spTgt spid="10"/>
                                        </p:tgtEl>
                                        <p:attrNameLst>
                                          <p:attrName>ppt_h</p:attrName>
                                        </p:attrNameLst>
                                      </p:cBhvr>
                                      <p:tavLst>
                                        <p:tav tm="0">
                                          <p:val>
                                            <p:fltVal val="0"/>
                                          </p:val>
                                        </p:tav>
                                        <p:tav tm="100000">
                                          <p:val>
                                            <p:strVal val="#ppt_h"/>
                                          </p:val>
                                        </p:tav>
                                      </p:tavLst>
                                    </p:anim>
                                    <p:anim calcmode="lin" valueType="num">
                                      <p:cBhvr>
                                        <p:cTn id="9" dur="1500" fill="hold"/>
                                        <p:tgtEl>
                                          <p:spTgt spid="10"/>
                                        </p:tgtEl>
                                        <p:attrNameLst>
                                          <p:attrName>style.rotation</p:attrName>
                                        </p:attrNameLst>
                                      </p:cBhvr>
                                      <p:tavLst>
                                        <p:tav tm="0">
                                          <p:val>
                                            <p:fltVal val="90"/>
                                          </p:val>
                                        </p:tav>
                                        <p:tav tm="100000">
                                          <p:val>
                                            <p:fltVal val="0"/>
                                          </p:val>
                                        </p:tav>
                                      </p:tavLst>
                                    </p:anim>
                                    <p:animEffect transition="in" filter="fade">
                                      <p:cBhvr>
                                        <p:cTn id="10" dur="1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B17095F-D628-4EC3-8A84-A11F1DBA371C}" vid="{D4340540-032D-46B1-B8F7-84CD0322F3B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CC61B7C902044795282554F1E7E509" ma:contentTypeVersion="18" ma:contentTypeDescription="Create a new document." ma:contentTypeScope="" ma:versionID="4c9096feec16613d1d3888518ce987d9">
  <xsd:schema xmlns:xsd="http://www.w3.org/2001/XMLSchema" xmlns:xs="http://www.w3.org/2001/XMLSchema" xmlns:p="http://schemas.microsoft.com/office/2006/metadata/properties" xmlns:ns2="ecf60a8c-fa79-413d-9395-1742ec994f20" xmlns:ns3="65ff018e-9ee0-44de-bdf9-d9fa1984bf02" targetNamespace="http://schemas.microsoft.com/office/2006/metadata/properties" ma:root="true" ma:fieldsID="3d792ddd487e929bcce63c16174b722d" ns2:_="" ns3:_="">
    <xsd:import namespace="ecf60a8c-fa79-413d-9395-1742ec994f20"/>
    <xsd:import namespace="65ff018e-9ee0-44de-bdf9-d9fa1984bf0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f60a8c-fa79-413d-9395-1742ec994f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99fcbcd-2836-414f-b430-83af1c8cd119"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ff018e-9ee0-44de-bdf9-d9fa1984bf0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adf5b97-92eb-4ce2-9c2a-b0cb4520fa38}" ma:internalName="TaxCatchAll" ma:showField="CatchAllData" ma:web="65ff018e-9ee0-44de-bdf9-d9fa1984bf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cf60a8c-fa79-413d-9395-1742ec994f20">
      <Terms xmlns="http://schemas.microsoft.com/office/infopath/2007/PartnerControls"/>
    </lcf76f155ced4ddcb4097134ff3c332f>
    <TaxCatchAll xmlns="65ff018e-9ee0-44de-bdf9-d9fa1984bf0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C085B9-65CC-404F-A42C-DAE331535D58}">
  <ds:schemaRefs>
    <ds:schemaRef ds:uri="65ff018e-9ee0-44de-bdf9-d9fa1984bf02"/>
    <ds:schemaRef ds:uri="ecf60a8c-fa79-413d-9395-1742ec994f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51D64B5-78A8-4B9F-B20C-0E5B0C2538B0}">
  <ds:schemaRefs>
    <ds:schemaRef ds:uri="http://www.w3.org/XML/1998/namespace"/>
    <ds:schemaRef ds:uri="http://purl.org/dc/elements/1.1/"/>
    <ds:schemaRef ds:uri="http://schemas.microsoft.com/office/2006/documentManagement/types"/>
    <ds:schemaRef ds:uri="http://purl.org/dc/dcmitype/"/>
    <ds:schemaRef ds:uri="http://purl.org/dc/terms/"/>
    <ds:schemaRef ds:uri="http://schemas.openxmlformats.org/package/2006/metadata/core-properties"/>
    <ds:schemaRef ds:uri="http://schemas.microsoft.com/office/infopath/2007/PartnerControls"/>
    <ds:schemaRef ds:uri="65ff018e-9ee0-44de-bdf9-d9fa1984bf02"/>
    <ds:schemaRef ds:uri="ecf60a8c-fa79-413d-9395-1742ec994f20"/>
    <ds:schemaRef ds:uri="http://schemas.microsoft.com/office/2006/metadata/properties"/>
  </ds:schemaRefs>
</ds:datastoreItem>
</file>

<file path=customXml/itemProps3.xml><?xml version="1.0" encoding="utf-8"?>
<ds:datastoreItem xmlns:ds="http://schemas.openxmlformats.org/officeDocument/2006/customXml" ds:itemID="{468F513F-E947-45B4-9775-A13B18441F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9.6.2017 PowerPoint Template</Template>
  <TotalTime>524</TotalTime>
  <Words>7975</Words>
  <Application>Microsoft Office PowerPoint</Application>
  <PresentationFormat>Widescreen</PresentationFormat>
  <Paragraphs>786</Paragraphs>
  <Slides>54</Slides>
  <Notes>54</Notes>
  <HiddenSlides>9</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Aptos</vt:lpstr>
      <vt:lpstr>Arial</vt:lpstr>
      <vt:lpstr>Calibri</vt:lpstr>
      <vt:lpstr>Calibri Light</vt:lpstr>
      <vt:lpstr>Century Gothic</vt:lpstr>
      <vt:lpstr>Google Sans</vt:lpstr>
      <vt:lpstr>Rubik</vt:lpstr>
      <vt:lpstr>Source Sans Pro</vt:lpstr>
      <vt:lpstr>Symbol</vt:lpstr>
      <vt:lpstr>Office Theme</vt:lpstr>
      <vt:lpstr>PowerPoint Presentation</vt:lpstr>
      <vt:lpstr>What is Medicare?</vt:lpstr>
      <vt:lpstr>Types of Medicare</vt:lpstr>
      <vt:lpstr>Medicare-Health Coverage Options</vt:lpstr>
      <vt:lpstr>Traditional Medicare – Part A</vt:lpstr>
      <vt:lpstr>Traditional Medicare – Part A Cont.</vt:lpstr>
      <vt:lpstr>Out-of-Pocket Part A Costs</vt:lpstr>
      <vt:lpstr>Traditional Medicare – Part B</vt:lpstr>
      <vt:lpstr>Out-of-Pocket Part B Costs</vt:lpstr>
      <vt:lpstr>Medicare Part A+B: Open Enrollment Periods</vt:lpstr>
      <vt:lpstr>Medicare Part A+B: Special Enrollment Period</vt:lpstr>
      <vt:lpstr>Verification of Medicare Enrollment</vt:lpstr>
      <vt:lpstr>Medicare Savings Program (MSP)</vt:lpstr>
      <vt:lpstr>Who qualifies for MSP?</vt:lpstr>
      <vt:lpstr>Medicare Part D</vt:lpstr>
      <vt:lpstr>Medicare Part D cont.</vt:lpstr>
      <vt:lpstr>Medicare Part D Coverage cont.</vt:lpstr>
      <vt:lpstr>Medicare Part D Costs</vt:lpstr>
      <vt:lpstr>Medicare Part D: Special Enrollment</vt:lpstr>
      <vt:lpstr>Medicare Part D: Extra Help</vt:lpstr>
      <vt:lpstr>What Traditional Medicare        Does Not Cover</vt:lpstr>
      <vt:lpstr>Medicare Part C: Advantage Plans</vt:lpstr>
      <vt:lpstr>Medicare Part C: Advantage Plans</vt:lpstr>
      <vt:lpstr>Medicare-Annual Open Enrollment (Parts C+D)</vt:lpstr>
      <vt:lpstr>PowerPoint Presentation</vt:lpstr>
      <vt:lpstr>Purpose of Medicaid</vt:lpstr>
      <vt:lpstr>Basic Federal Medicaid Principles</vt:lpstr>
      <vt:lpstr>Types of Medicaid Coverage Typically Offered</vt:lpstr>
      <vt:lpstr>Medicaid Benefits: Federally Mandated Services</vt:lpstr>
      <vt:lpstr>Medicaid Benefits: Ohio’s Optional Services</vt:lpstr>
      <vt:lpstr>Medicaid in Ohio</vt:lpstr>
      <vt:lpstr>Medicaid Expansion in Ohio (2014)</vt:lpstr>
      <vt:lpstr>Pathway to Coverage: Modified Adjusted Gross Income (MAGI)</vt:lpstr>
      <vt:lpstr>SSI vs. SSDI</vt:lpstr>
      <vt:lpstr>SSI</vt:lpstr>
      <vt:lpstr>Pathway to Coverage: Individuals receiving SSI</vt:lpstr>
      <vt:lpstr>SSDI</vt:lpstr>
      <vt:lpstr>Pathway to Coverage for the ABD- Categorically Needy</vt:lpstr>
      <vt:lpstr>Pathway to Coverage</vt:lpstr>
      <vt:lpstr>Pathway to Coverage</vt:lpstr>
      <vt:lpstr>Pathway to Coverage for Special Income Limit (SIL)</vt:lpstr>
      <vt:lpstr>What is a Qualified Income Trust (QIT)?</vt:lpstr>
      <vt:lpstr>Characteristics of a QIT</vt:lpstr>
      <vt:lpstr>What can QIT money be used for?</vt:lpstr>
      <vt:lpstr>Ohio Estate Recovery</vt:lpstr>
      <vt:lpstr>Ohio Estate Recovery cont.</vt:lpstr>
      <vt:lpstr>Ohio Estate Recovery cont.</vt:lpstr>
      <vt:lpstr>The Homested Exemption</vt:lpstr>
      <vt:lpstr>Specialized Recovery Services (SRS) Program</vt:lpstr>
      <vt:lpstr>Specialized Recovery Services Program</vt:lpstr>
      <vt:lpstr>Specialized Recovery Services Program</vt:lpstr>
      <vt:lpstr>Supporting Individuals to Enroll</vt:lpstr>
      <vt:lpstr>Medicaid &amp; Medicare</vt:lpstr>
      <vt:lpstr>Conclusion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Green, Georgina</dc:creator>
  <cp:lastModifiedBy>White, Matthew</cp:lastModifiedBy>
  <cp:revision>1</cp:revision>
  <dcterms:created xsi:type="dcterms:W3CDTF">2017-09-06T15:33:48Z</dcterms:created>
  <dcterms:modified xsi:type="dcterms:W3CDTF">2024-12-18T14:47:40Z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0x01010049CC61B7C902044795282554F1E7E509</vt:lpwstr>
  </property>
  <property fmtid="{D5CDD505-2E9C-101B-9397-08002B2CF9AE}" pid="3" name="MediaServiceImageTags">
    <vt:lpwstr/>
  </property>
</Properties>
</file>